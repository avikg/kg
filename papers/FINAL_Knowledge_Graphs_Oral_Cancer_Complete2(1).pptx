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heme/themeOverride1.xml" ContentType="application/vnd.openxmlformats-officedocument.themeOverr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4" r:id="rId24"/>
    <p:sldId id="285" r:id="rId25"/>
    <p:sldId id="286" r:id="rId26"/>
    <p:sldId id="290" r:id="rId27"/>
    <p:sldId id="291" r:id="rId28"/>
    <p:sldId id="292" r:id="rId29"/>
    <p:sldId id="293" r:id="rId30"/>
    <p:sldId id="294" r:id="rId31"/>
    <p:sldId id="295"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362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1186/s13326-023-00278-3"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93/database/baab057"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093/nar/gkz1021"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www.disgenet.org/"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038/ng.3774"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github.com/griffithlab/civic-server"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93/nar/gky1015"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cancer.sanger.ac.uk/cosmic"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7554/eLife.26726"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github.com/hetio/hetionet"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93/nar/gkh061"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www.nlm.nih.gov/research/umls/"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1016/j.jbi.2006.11.013"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hyperlink" Target="https://doi.org/10.1038/s41592-019-0422-y"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007/978-3-642-38288-8_14"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hyperlink" Target="https://github.com/bio2rdf/bio2rdf-scripts"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0"/>
          </a:xfrm>
          <a:prstGeom prst="rect">
            <a:avLst/>
          </a:prstGeom>
          <a:solidFill>
            <a:srgbClr val="2C3E50"/>
          </a:solidFill>
          <a:ln/>
        </p:spPr>
      </p:sp>
      <p:sp>
        <p:nvSpPr>
          <p:cNvPr id="3" name="Text 1"/>
          <p:cNvSpPr/>
          <p:nvPr/>
        </p:nvSpPr>
        <p:spPr>
          <a:xfrm>
            <a:off x="914400" y="457200"/>
            <a:ext cx="7315200" cy="457200"/>
          </a:xfrm>
          <a:prstGeom prst="rect">
            <a:avLst/>
          </a:prstGeom>
          <a:noFill/>
          <a:ln/>
        </p:spPr>
        <p:txBody>
          <a:bodyPr wrap="square" rtlCol="0" anchor="ctr"/>
          <a:lstStyle/>
          <a:p>
            <a:pPr marL="0" indent="0" algn="ctr">
              <a:buNone/>
            </a:pPr>
            <a:r>
              <a:rPr lang="en-US" sz="3200" b="1" dirty="0">
                <a:solidFill>
                  <a:srgbClr val="FFFFFF"/>
                </a:solidFill>
              </a:rPr>
              <a:t>Knowledge Graphs for</a:t>
            </a:r>
            <a:endParaRPr lang="en-US" sz="3200" dirty="0"/>
          </a:p>
        </p:txBody>
      </p:sp>
      <p:sp>
        <p:nvSpPr>
          <p:cNvPr id="4" name="Text 2"/>
          <p:cNvSpPr/>
          <p:nvPr/>
        </p:nvSpPr>
        <p:spPr>
          <a:xfrm>
            <a:off x="914400" y="960120"/>
            <a:ext cx="7315200" cy="457200"/>
          </a:xfrm>
          <a:prstGeom prst="rect">
            <a:avLst/>
          </a:prstGeom>
          <a:noFill/>
          <a:ln/>
        </p:spPr>
        <p:txBody>
          <a:bodyPr wrap="square" rtlCol="0" anchor="ctr"/>
          <a:lstStyle/>
          <a:p>
            <a:pPr marL="0" indent="0" algn="ctr">
              <a:buNone/>
            </a:pPr>
            <a:r>
              <a:rPr lang="en-US" sz="3200" b="1" dirty="0">
                <a:solidFill>
                  <a:srgbClr val="FFFFFF"/>
                </a:solidFill>
              </a:rPr>
              <a:t>Oral Cancer Diagnostics</a:t>
            </a:r>
            <a:endParaRPr lang="en-US" sz="3200" dirty="0"/>
          </a:p>
        </p:txBody>
      </p:sp>
      <p:sp>
        <p:nvSpPr>
          <p:cNvPr id="5" name="Text 3"/>
          <p:cNvSpPr/>
          <p:nvPr/>
        </p:nvSpPr>
        <p:spPr>
          <a:xfrm>
            <a:off x="914400" y="1508760"/>
            <a:ext cx="7315200" cy="228600"/>
          </a:xfrm>
          <a:prstGeom prst="rect">
            <a:avLst/>
          </a:prstGeom>
          <a:noFill/>
          <a:ln/>
        </p:spPr>
        <p:txBody>
          <a:bodyPr wrap="square" rtlCol="0" anchor="ctr"/>
          <a:lstStyle/>
          <a:p>
            <a:pPr marL="0" indent="0" algn="ctr">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6A085"/>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1. HeNeCOn</a:t>
            </a:r>
            <a:endParaRPr lang="en-US" sz="2600" dirty="0"/>
          </a:p>
        </p:txBody>
      </p:sp>
      <p:sp>
        <p:nvSpPr>
          <p:cNvPr id="4" name="Text 2"/>
          <p:cNvSpPr/>
          <p:nvPr/>
        </p:nvSpPr>
        <p:spPr>
          <a:xfrm>
            <a:off x="457200" y="960120"/>
            <a:ext cx="8229600" cy="274320"/>
          </a:xfrm>
          <a:prstGeom prst="rect">
            <a:avLst/>
          </a:prstGeom>
          <a:noFill/>
          <a:ln/>
        </p:spPr>
        <p:txBody>
          <a:bodyPr wrap="square" rtlCol="0" anchor="ctr"/>
          <a:lstStyle/>
          <a:p>
            <a:pPr marL="0" indent="0">
              <a:buNone/>
            </a:pPr>
            <a:r>
              <a:rPr lang="en-US" sz="1400" i="1" dirty="0">
                <a:solidFill>
                  <a:srgbClr val="7B8894"/>
                </a:solidFill>
              </a:rPr>
              <a:t>Head &amp; Neck Cancer Ontology</a:t>
            </a:r>
            <a:endParaRPr lang="en-US" sz="1400" dirty="0"/>
          </a:p>
        </p:txBody>
      </p:sp>
      <p:sp>
        <p:nvSpPr>
          <p:cNvPr id="5" name="Text 3"/>
          <p:cNvSpPr/>
          <p:nvPr/>
        </p:nvSpPr>
        <p:spPr>
          <a:xfrm>
            <a:off x="640080" y="1260559"/>
            <a:ext cx="7863840" cy="256032"/>
          </a:xfrm>
          <a:prstGeom prst="rect">
            <a:avLst/>
          </a:prstGeom>
          <a:noFill/>
          <a:ln/>
        </p:spPr>
        <p:txBody>
          <a:bodyPr wrap="square" rtlCol="0" anchor="ctr"/>
          <a:lstStyle/>
          <a:p>
            <a:r>
              <a:rPr lang="en-US" sz="1300" b="1" dirty="0">
                <a:solidFill>
                  <a:srgbClr val="34495E"/>
                </a:solidFill>
              </a:rPr>
              <a:t>What is it?</a:t>
            </a:r>
            <a:endParaRPr lang="en-US" sz="1300" dirty="0"/>
          </a:p>
        </p:txBody>
      </p:sp>
      <p:sp>
        <p:nvSpPr>
          <p:cNvPr id="6" name="Text 4"/>
          <p:cNvSpPr/>
          <p:nvPr/>
        </p:nvSpPr>
        <p:spPr>
          <a:xfrm>
            <a:off x="640080" y="1545804"/>
            <a:ext cx="7863840" cy="594360"/>
          </a:xfrm>
          <a:prstGeom prst="rect">
            <a:avLst/>
          </a:prstGeom>
          <a:noFill/>
          <a:ln/>
        </p:spPr>
        <p:txBody>
          <a:bodyPr wrap="square" rtlCol="0" anchor="ctr"/>
          <a:lstStyle/>
          <a:p>
            <a:pPr marL="0" indent="0">
              <a:lnSpc>
                <a:spcPts val="1800"/>
              </a:lnSpc>
              <a:buNone/>
            </a:pPr>
            <a:r>
              <a:rPr lang="en-US" sz="1200" dirty="0">
                <a:solidFill>
                  <a:srgbClr val="34495E"/>
                </a:solidFill>
              </a:rPr>
              <a:t>The first ontology specifically built for head and neck cancers. Provides a formal taxonomy with 502 classes covering the complete clinical workflow from initial diagnosis through treatment to long-term follow-up. Created by researchers at Mayo Clinic using formal OWL semantics. It's like a family tree for oral cancer - showing how different types relate to each other.</a:t>
            </a:r>
            <a:endParaRPr lang="en-US" sz="1200" dirty="0"/>
          </a:p>
        </p:txBody>
      </p:sp>
      <p:sp>
        <p:nvSpPr>
          <p:cNvPr id="7" name="Text 5"/>
          <p:cNvSpPr/>
          <p:nvPr/>
        </p:nvSpPr>
        <p:spPr>
          <a:xfrm>
            <a:off x="640080" y="2289783"/>
            <a:ext cx="7863840" cy="256032"/>
          </a:xfrm>
          <a:prstGeom prst="rect">
            <a:avLst/>
          </a:prstGeom>
          <a:noFill/>
          <a:ln/>
        </p:spPr>
        <p:txBody>
          <a:bodyPr wrap="square" rtlCol="0" anchor="ctr"/>
          <a:lstStyle/>
          <a:p>
            <a:pPr marL="0" indent="0">
              <a:buNone/>
            </a:pPr>
            <a:r>
              <a:rPr lang="en-US" sz="1300" b="1" dirty="0">
                <a:solidFill>
                  <a:srgbClr val="34495E"/>
                </a:solidFill>
              </a:rPr>
              <a:t>Importance:</a:t>
            </a:r>
            <a:endParaRPr lang="en-US" sz="1300" dirty="0"/>
          </a:p>
        </p:txBody>
      </p:sp>
      <p:sp>
        <p:nvSpPr>
          <p:cNvPr id="8" name="Text 6"/>
          <p:cNvSpPr/>
          <p:nvPr/>
        </p:nvSpPr>
        <p:spPr>
          <a:xfrm>
            <a:off x="640080" y="2409007"/>
            <a:ext cx="7863840" cy="411480"/>
          </a:xfrm>
          <a:prstGeom prst="rect">
            <a:avLst/>
          </a:prstGeom>
          <a:noFill/>
          <a:ln/>
        </p:spPr>
        <p:txBody>
          <a:bodyPr wrap="square" rtlCol="0" anchor="ctr"/>
          <a:lstStyle/>
          <a:p>
            <a:pPr marL="0" indent="0">
              <a:lnSpc>
                <a:spcPts val="1800"/>
              </a:lnSpc>
              <a:buNone/>
            </a:pPr>
            <a:r>
              <a:rPr lang="en-US" sz="1200" dirty="0">
                <a:solidFill>
                  <a:srgbClr val="34495E"/>
                </a:solidFill>
              </a:rPr>
              <a:t>Provides standardized terminology so all researchers and doctors use the same language when talking about oral cancer.</a:t>
            </a:r>
            <a:endParaRPr lang="en-US" sz="1200" dirty="0"/>
          </a:p>
        </p:txBody>
      </p:sp>
      <p:sp>
        <p:nvSpPr>
          <p:cNvPr id="10" name="Text 8"/>
          <p:cNvSpPr/>
          <p:nvPr/>
        </p:nvSpPr>
        <p:spPr>
          <a:xfrm>
            <a:off x="640080" y="3176392"/>
            <a:ext cx="7498080" cy="228600"/>
          </a:xfrm>
          <a:prstGeom prst="rect">
            <a:avLst/>
          </a:prstGeom>
          <a:noFill/>
          <a:ln/>
        </p:spPr>
        <p:txBody>
          <a:bodyPr wrap="square" rtlCol="0" anchor="ctr"/>
          <a:lstStyle/>
          <a:p>
            <a:r>
              <a:rPr lang="en-US" sz="1200" b="1" dirty="0">
                <a:solidFill>
                  <a:srgbClr val="16A085"/>
                </a:solidFill>
              </a:rPr>
              <a:t>Properties:</a:t>
            </a:r>
            <a:endParaRPr lang="en-US" sz="1200" dirty="0"/>
          </a:p>
        </p:txBody>
      </p:sp>
      <p:sp>
        <p:nvSpPr>
          <p:cNvPr id="11" name="Text 9"/>
          <p:cNvSpPr/>
          <p:nvPr/>
        </p:nvSpPr>
        <p:spPr>
          <a:xfrm>
            <a:off x="583809" y="3485974"/>
            <a:ext cx="7498080" cy="146304"/>
          </a:xfrm>
          <a:prstGeom prst="rect">
            <a:avLst/>
          </a:prstGeom>
          <a:noFill/>
          <a:ln/>
        </p:spPr>
        <p:txBody>
          <a:bodyPr wrap="square" rtlCol="0" anchor="ctr"/>
          <a:lstStyle/>
          <a:p>
            <a:pPr marL="0" indent="0">
              <a:buNone/>
            </a:pPr>
            <a:r>
              <a:rPr lang="en-US" sz="1100" dirty="0">
                <a:solidFill>
                  <a:srgbClr val="34495E"/>
                </a:solidFill>
              </a:rPr>
              <a:t>• 502 ontology classes (nodes)</a:t>
            </a:r>
            <a:endParaRPr lang="en-US" sz="1100" dirty="0"/>
          </a:p>
        </p:txBody>
      </p:sp>
      <p:sp>
        <p:nvSpPr>
          <p:cNvPr id="12" name="Text 10"/>
          <p:cNvSpPr/>
          <p:nvPr/>
        </p:nvSpPr>
        <p:spPr>
          <a:xfrm>
            <a:off x="583809" y="3677998"/>
            <a:ext cx="7498080" cy="146304"/>
          </a:xfrm>
          <a:prstGeom prst="rect">
            <a:avLst/>
          </a:prstGeom>
          <a:noFill/>
          <a:ln/>
        </p:spPr>
        <p:txBody>
          <a:bodyPr wrap="square" rtlCol="0" anchor="ctr"/>
          <a:lstStyle/>
          <a:p>
            <a:pPr marL="0" indent="0">
              <a:buNone/>
            </a:pPr>
            <a:r>
              <a:rPr lang="en-US" sz="1100" dirty="0">
                <a:solidFill>
                  <a:srgbClr val="34495E"/>
                </a:solidFill>
              </a:rPr>
              <a:t>• 283 clinically defined terms with semantic meaning</a:t>
            </a:r>
            <a:endParaRPr lang="en-US" sz="1100" dirty="0"/>
          </a:p>
        </p:txBody>
      </p:sp>
      <p:sp>
        <p:nvSpPr>
          <p:cNvPr id="13" name="Text 11"/>
          <p:cNvSpPr/>
          <p:nvPr/>
        </p:nvSpPr>
        <p:spPr>
          <a:xfrm>
            <a:off x="583809" y="3870022"/>
            <a:ext cx="7498080" cy="146304"/>
          </a:xfrm>
          <a:prstGeom prst="rect">
            <a:avLst/>
          </a:prstGeom>
          <a:noFill/>
          <a:ln/>
        </p:spPr>
        <p:txBody>
          <a:bodyPr wrap="square" rtlCol="0" anchor="ctr"/>
          <a:lstStyle/>
          <a:p>
            <a:pPr marL="0" indent="0">
              <a:buNone/>
            </a:pPr>
            <a:r>
              <a:rPr lang="en-US" sz="1100" dirty="0">
                <a:solidFill>
                  <a:srgbClr val="34495E"/>
                </a:solidFill>
              </a:rPr>
              <a:t>• Hierarchical taxonomy of concepts</a:t>
            </a:r>
            <a:endParaRPr lang="en-US" sz="1100" dirty="0"/>
          </a:p>
        </p:txBody>
      </p:sp>
      <p:sp>
        <p:nvSpPr>
          <p:cNvPr id="15" name="Text 13"/>
          <p:cNvSpPr/>
          <p:nvPr/>
        </p:nvSpPr>
        <p:spPr>
          <a:xfrm>
            <a:off x="5283637" y="2747885"/>
            <a:ext cx="7863840" cy="228600"/>
          </a:xfrm>
          <a:prstGeom prst="rect">
            <a:avLst/>
          </a:prstGeom>
          <a:noFill/>
          <a:ln/>
        </p:spPr>
        <p:txBody>
          <a:bodyPr wrap="square" rtlCol="0" anchor="ctr"/>
          <a:lstStyle/>
          <a:p>
            <a:pPr marL="0" indent="0">
              <a:buNone/>
            </a:pPr>
            <a:r>
              <a:rPr lang="en-US" sz="1200" b="1" dirty="0">
                <a:solidFill>
                  <a:srgbClr val="E74C3C"/>
                </a:solidFill>
              </a:rPr>
              <a:t>How we'll use it:</a:t>
            </a:r>
            <a:endParaRPr lang="en-US" sz="1200" dirty="0"/>
          </a:p>
        </p:txBody>
      </p:sp>
      <p:sp>
        <p:nvSpPr>
          <p:cNvPr id="16" name="Text 14"/>
          <p:cNvSpPr/>
          <p:nvPr/>
        </p:nvSpPr>
        <p:spPr>
          <a:xfrm>
            <a:off x="5283637" y="3874575"/>
            <a:ext cx="7680960" cy="320040"/>
          </a:xfrm>
          <a:prstGeom prst="rect">
            <a:avLst/>
          </a:prstGeom>
          <a:noFill/>
          <a:ln/>
        </p:spPr>
        <p:txBody>
          <a:bodyPr wrap="square" rtlCol="0" anchor="ctr"/>
          <a:lstStyle/>
          <a:p>
            <a:pPr>
              <a:lnSpc>
                <a:spcPts val="1100"/>
              </a:lnSpc>
            </a:pPr>
            <a:r>
              <a:rPr lang="en-US" sz="1100" dirty="0">
                <a:solidFill>
                  <a:srgbClr val="2C3E50"/>
                </a:solidFill>
              </a:rPr>
              <a:t>1. Standardize Terminology</a:t>
            </a:r>
            <a:endParaRPr lang="en-US" sz="1100" dirty="0"/>
          </a:p>
          <a:p>
            <a:pPr>
              <a:lnSpc>
                <a:spcPts val="1100"/>
              </a:lnSpc>
            </a:pPr>
            <a:r>
              <a:rPr lang="en-US" sz="1100" dirty="0">
                <a:solidFill>
                  <a:srgbClr val="2C3E50"/>
                </a:solidFill>
              </a:rPr>
              <a:t>   • Map all diagnostic terms to </a:t>
            </a:r>
            <a:r>
              <a:rPr lang="en-US" sz="1100" dirty="0" err="1">
                <a:solidFill>
                  <a:srgbClr val="2C3E50"/>
                </a:solidFill>
              </a:rPr>
              <a:t>HeNeCOn</a:t>
            </a:r>
            <a:endParaRPr lang="en-US" sz="1100" dirty="0"/>
          </a:p>
          <a:p>
            <a:pPr>
              <a:lnSpc>
                <a:spcPts val="1100"/>
              </a:lnSpc>
            </a:pPr>
            <a:r>
              <a:rPr lang="en-US" sz="1100" dirty="0">
                <a:solidFill>
                  <a:srgbClr val="2C3E50"/>
                </a:solidFill>
              </a:rPr>
              <a:t>   • Ensure consistent coding across data sources</a:t>
            </a:r>
            <a:endParaRPr lang="en-US" sz="1100" dirty="0"/>
          </a:p>
          <a:p>
            <a:pPr>
              <a:lnSpc>
                <a:spcPts val="1100"/>
              </a:lnSpc>
            </a:pPr>
            <a:endParaRPr lang="en-US" sz="1100" dirty="0"/>
          </a:p>
          <a:p>
            <a:pPr>
              <a:lnSpc>
                <a:spcPts val="1100"/>
              </a:lnSpc>
            </a:pPr>
            <a:r>
              <a:rPr lang="en-US" sz="1100" dirty="0">
                <a:solidFill>
                  <a:srgbClr val="2C3E50"/>
                </a:solidFill>
              </a:rPr>
              <a:t>2. Semantic Reasoning</a:t>
            </a:r>
            <a:endParaRPr lang="en-US" sz="1100" dirty="0"/>
          </a:p>
          <a:p>
            <a:pPr>
              <a:lnSpc>
                <a:spcPts val="1100"/>
              </a:lnSpc>
            </a:pPr>
            <a:r>
              <a:rPr lang="en-US" sz="1100" dirty="0">
                <a:solidFill>
                  <a:srgbClr val="2C3E50"/>
                </a:solidFill>
              </a:rPr>
              <a:t>   • Infer implicit relationships via is-a hierarchy</a:t>
            </a:r>
            <a:endParaRPr lang="en-US" sz="1100" dirty="0"/>
          </a:p>
          <a:p>
            <a:pPr>
              <a:lnSpc>
                <a:spcPts val="1100"/>
              </a:lnSpc>
            </a:pPr>
            <a:r>
              <a:rPr lang="en-US" sz="1100" dirty="0">
                <a:solidFill>
                  <a:srgbClr val="2C3E50"/>
                </a:solidFill>
              </a:rPr>
              <a:t>   • Classify new findings automatically</a:t>
            </a:r>
            <a:endParaRPr lang="en-US" sz="1100" dirty="0"/>
          </a:p>
          <a:p>
            <a:pPr>
              <a:lnSpc>
                <a:spcPts val="1100"/>
              </a:lnSpc>
            </a:pPr>
            <a:endParaRPr lang="en-US" sz="1100" dirty="0"/>
          </a:p>
          <a:p>
            <a:pPr>
              <a:lnSpc>
                <a:spcPts val="1100"/>
              </a:lnSpc>
            </a:pPr>
            <a:r>
              <a:rPr lang="en-US" sz="1100" dirty="0">
                <a:solidFill>
                  <a:srgbClr val="2C3E50"/>
                </a:solidFill>
              </a:rPr>
              <a:t>3. Clinical Integration</a:t>
            </a:r>
            <a:endParaRPr lang="en-US" sz="1100" dirty="0"/>
          </a:p>
          <a:p>
            <a:pPr>
              <a:lnSpc>
                <a:spcPts val="1100"/>
              </a:lnSpc>
            </a:pPr>
            <a:r>
              <a:rPr lang="en-US" sz="1100" dirty="0">
                <a:solidFill>
                  <a:srgbClr val="2C3E50"/>
                </a:solidFill>
              </a:rPr>
              <a:t>   • Link to EHR systems via SNOMED mapping</a:t>
            </a:r>
            <a:endParaRPr lang="en-US" sz="1100" dirty="0"/>
          </a:p>
          <a:p>
            <a:pPr>
              <a:lnSpc>
                <a:spcPts val="1100"/>
              </a:lnSpc>
            </a:pPr>
            <a:r>
              <a:rPr lang="en-US" sz="1100" dirty="0">
                <a:solidFill>
                  <a:srgbClr val="2C3E50"/>
                </a:solidFill>
              </a:rPr>
              <a:t>   • Enable cross-institutional data sharing</a:t>
            </a:r>
            <a:endParaRPr lang="en-US" sz="1100" dirty="0"/>
          </a:p>
          <a:p>
            <a:pPr>
              <a:lnSpc>
                <a:spcPts val="1100"/>
              </a:lnSpc>
            </a:pPr>
            <a:endParaRPr lang="en-US" sz="1100" dirty="0"/>
          </a:p>
          <a:p>
            <a:pPr>
              <a:lnSpc>
                <a:spcPts val="1100"/>
              </a:lnSpc>
            </a:pPr>
            <a:r>
              <a:rPr lang="en-US" sz="1100" dirty="0">
                <a:solidFill>
                  <a:srgbClr val="2C3E50"/>
                </a:solidFill>
              </a:rPr>
              <a:t>4. Quality Assurance</a:t>
            </a:r>
            <a:endParaRPr lang="en-US" sz="1100" dirty="0"/>
          </a:p>
          <a:p>
            <a:pPr>
              <a:lnSpc>
                <a:spcPts val="1100"/>
              </a:lnSpc>
            </a:pPr>
            <a:r>
              <a:rPr lang="en-US" sz="1100" dirty="0">
                <a:solidFill>
                  <a:srgbClr val="2C3E50"/>
                </a:solidFill>
              </a:rPr>
              <a:t>   • Validate diagnostic codes</a:t>
            </a:r>
            <a:endParaRPr lang="en-US" sz="1100" dirty="0"/>
          </a:p>
          <a:p>
            <a:pPr>
              <a:lnSpc>
                <a:spcPts val="1100"/>
              </a:lnSpc>
            </a:pPr>
            <a:r>
              <a:rPr lang="en-US" sz="1100" dirty="0">
                <a:solidFill>
                  <a:srgbClr val="2C3E50"/>
                </a:solidFill>
              </a:rPr>
              <a:t>   • Detect inconsistent classifications</a:t>
            </a:r>
            <a:endParaRPr lang="en-US" sz="1100" dirty="0"/>
          </a:p>
        </p:txBody>
      </p:sp>
      <p:sp>
        <p:nvSpPr>
          <p:cNvPr id="17" name="Text 11">
            <a:extLst>
              <a:ext uri="{FF2B5EF4-FFF2-40B4-BE49-F238E27FC236}">
                <a16:creationId xmlns:a16="http://schemas.microsoft.com/office/drawing/2014/main" id="{F3B45A05-4661-1205-2607-6CDB93E515E7}"/>
              </a:ext>
            </a:extLst>
          </p:cNvPr>
          <p:cNvSpPr/>
          <p:nvPr/>
        </p:nvSpPr>
        <p:spPr>
          <a:xfrm>
            <a:off x="583809" y="4089006"/>
            <a:ext cx="7498080" cy="146304"/>
          </a:xfrm>
          <a:prstGeom prst="rect">
            <a:avLst/>
          </a:prstGeom>
          <a:noFill/>
          <a:ln/>
        </p:spPr>
        <p:txBody>
          <a:bodyPr wrap="square" rtlCol="0" anchor="ctr"/>
          <a:lstStyle/>
          <a:p>
            <a:pPr marL="0" indent="0">
              <a:buNone/>
            </a:pPr>
            <a:r>
              <a:rPr lang="en-US" sz="1100" dirty="0">
                <a:solidFill>
                  <a:srgbClr val="34495E"/>
                </a:solidFill>
              </a:rPr>
              <a:t>• Detailed semantic relations (edges) between terms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863840" cy="365760"/>
          </a:xfrm>
          <a:prstGeom prst="rect">
            <a:avLst/>
          </a:prstGeom>
          <a:noFill/>
          <a:ln/>
        </p:spPr>
        <p:txBody>
          <a:bodyPr wrap="square" rtlCol="0" anchor="ctr"/>
          <a:lstStyle/>
          <a:p>
            <a:pPr marL="0" indent="0">
              <a:buNone/>
            </a:pPr>
            <a:r>
              <a:rPr lang="en-US" sz="2400" b="1" dirty="0">
                <a:solidFill>
                  <a:srgbClr val="2C3E50"/>
                </a:solidFill>
              </a:rPr>
              <a:t>1. HeNeCOn - Structure</a:t>
            </a:r>
            <a:endParaRPr lang="en-US" sz="2400" dirty="0"/>
          </a:p>
        </p:txBody>
      </p:sp>
      <p:sp>
        <p:nvSpPr>
          <p:cNvPr id="4" name="Text 2"/>
          <p:cNvSpPr/>
          <p:nvPr/>
        </p:nvSpPr>
        <p:spPr>
          <a:xfrm>
            <a:off x="640080" y="1143000"/>
            <a:ext cx="3657600" cy="256032"/>
          </a:xfrm>
          <a:prstGeom prst="rect">
            <a:avLst/>
          </a:prstGeom>
          <a:noFill/>
          <a:ln/>
        </p:spPr>
        <p:txBody>
          <a:bodyPr wrap="square" rtlCol="0" anchor="ctr"/>
          <a:lstStyle/>
          <a:p>
            <a:pPr marL="0" indent="0">
              <a:buNone/>
            </a:pPr>
            <a:r>
              <a:rPr lang="en-US" sz="1300" b="1" dirty="0">
                <a:solidFill>
                  <a:srgbClr val="27AE60"/>
                </a:solidFill>
              </a:rPr>
              <a:t>Nodes:</a:t>
            </a:r>
            <a:endParaRPr lang="en-US" sz="1300" dirty="0"/>
          </a:p>
        </p:txBody>
      </p:sp>
      <p:sp>
        <p:nvSpPr>
          <p:cNvPr id="5" name="Text 3"/>
          <p:cNvSpPr/>
          <p:nvPr/>
        </p:nvSpPr>
        <p:spPr>
          <a:xfrm>
            <a:off x="717452" y="1463040"/>
            <a:ext cx="3580228" cy="1097280"/>
          </a:xfrm>
          <a:prstGeom prst="rect">
            <a:avLst/>
          </a:prstGeom>
          <a:noFill/>
          <a:ln/>
        </p:spPr>
        <p:txBody>
          <a:bodyPr wrap="square" rtlCol="0" anchor="ctr"/>
          <a:lstStyle/>
          <a:p>
            <a:pPr>
              <a:lnSpc>
                <a:spcPts val="1200"/>
              </a:lnSpc>
            </a:pPr>
            <a:r>
              <a:rPr lang="en-US" sz="1100" dirty="0">
                <a:solidFill>
                  <a:srgbClr val="2C3E50"/>
                </a:solidFill>
              </a:rPr>
              <a:t>5 Primary Categories:</a:t>
            </a:r>
            <a:br>
              <a:rPr lang="en-US" sz="1100" dirty="0">
                <a:solidFill>
                  <a:srgbClr val="34495E"/>
                </a:solidFill>
              </a:rPr>
            </a:br>
            <a:r>
              <a:rPr lang="en-US" sz="1100" dirty="0">
                <a:solidFill>
                  <a:srgbClr val="2C3E50"/>
                </a:solidFill>
              </a:rPr>
              <a:t>• Disease nodes: OSCC, leukoplakia, carcinoma types</a:t>
            </a:r>
            <a:endParaRPr lang="en-US" sz="1100" dirty="0"/>
          </a:p>
          <a:p>
            <a:pPr>
              <a:lnSpc>
                <a:spcPts val="1200"/>
              </a:lnSpc>
            </a:pPr>
            <a:r>
              <a:rPr lang="en-US" sz="1100" dirty="0">
                <a:solidFill>
                  <a:srgbClr val="2C3E50"/>
                </a:solidFill>
              </a:rPr>
              <a:t>• Anatomical nodes: Tongue, buccal mucosa, floor of mouth</a:t>
            </a:r>
            <a:endParaRPr lang="en-US" sz="1100" dirty="0"/>
          </a:p>
          <a:p>
            <a:pPr>
              <a:lnSpc>
                <a:spcPts val="1200"/>
              </a:lnSpc>
            </a:pPr>
            <a:r>
              <a:rPr lang="en-US" sz="1100" dirty="0">
                <a:solidFill>
                  <a:srgbClr val="2C3E50"/>
                </a:solidFill>
              </a:rPr>
              <a:t>• Stage nodes: TNM classifications (I-IV)</a:t>
            </a:r>
            <a:endParaRPr lang="en-US" sz="1100" dirty="0"/>
          </a:p>
          <a:p>
            <a:pPr>
              <a:lnSpc>
                <a:spcPts val="1200"/>
              </a:lnSpc>
            </a:pPr>
            <a:r>
              <a:rPr lang="en-US" sz="1100" dirty="0">
                <a:solidFill>
                  <a:srgbClr val="2C3E50"/>
                </a:solidFill>
              </a:rPr>
              <a:t>• Treatment nodes: Surgery, radiation, chemotherapy</a:t>
            </a:r>
            <a:endParaRPr lang="en-US" sz="1100" dirty="0"/>
          </a:p>
          <a:p>
            <a:pPr>
              <a:lnSpc>
                <a:spcPts val="1200"/>
              </a:lnSpc>
            </a:pPr>
            <a:r>
              <a:rPr lang="en-US" sz="1100" dirty="0">
                <a:solidFill>
                  <a:srgbClr val="2C3E50"/>
                </a:solidFill>
              </a:rPr>
              <a:t>• Outcome nodes: Survival, recurrence, metastasis</a:t>
            </a:r>
            <a:endParaRPr lang="en-US" sz="1100" dirty="0"/>
          </a:p>
        </p:txBody>
      </p:sp>
      <p:sp>
        <p:nvSpPr>
          <p:cNvPr id="6" name="Text 4"/>
          <p:cNvSpPr/>
          <p:nvPr/>
        </p:nvSpPr>
        <p:spPr>
          <a:xfrm>
            <a:off x="5029200" y="1138428"/>
            <a:ext cx="3657600" cy="256032"/>
          </a:xfrm>
          <a:prstGeom prst="rect">
            <a:avLst/>
          </a:prstGeom>
          <a:noFill/>
          <a:ln/>
        </p:spPr>
        <p:txBody>
          <a:bodyPr wrap="square" rtlCol="0" anchor="ctr"/>
          <a:lstStyle/>
          <a:p>
            <a:pPr marL="0" indent="0">
              <a:buNone/>
            </a:pPr>
            <a:r>
              <a:rPr lang="en-US" sz="1300" b="1" dirty="0">
                <a:solidFill>
                  <a:srgbClr val="5DADE2"/>
                </a:solidFill>
              </a:rPr>
              <a:t>Edges:</a:t>
            </a:r>
            <a:endParaRPr lang="en-US" sz="1300" dirty="0"/>
          </a:p>
        </p:txBody>
      </p:sp>
      <p:sp>
        <p:nvSpPr>
          <p:cNvPr id="7" name="Text 5"/>
          <p:cNvSpPr/>
          <p:nvPr/>
        </p:nvSpPr>
        <p:spPr>
          <a:xfrm>
            <a:off x="5029200" y="1463040"/>
            <a:ext cx="3474720" cy="1097280"/>
          </a:xfrm>
          <a:prstGeom prst="rect">
            <a:avLst/>
          </a:prstGeom>
          <a:noFill/>
          <a:ln/>
        </p:spPr>
        <p:txBody>
          <a:bodyPr wrap="square" rtlCol="0" anchor="ctr"/>
          <a:lstStyle/>
          <a:p>
            <a:pPr marL="0" indent="0">
              <a:lnSpc>
                <a:spcPts val="1700"/>
              </a:lnSpc>
              <a:buNone/>
            </a:pPr>
            <a:r>
              <a:rPr lang="en-US" sz="1100" dirty="0">
                <a:solidFill>
                  <a:srgbClr val="34495E"/>
                </a:solidFill>
              </a:rPr>
              <a:t>Relationships:</a:t>
            </a:r>
            <a:endParaRPr lang="en-US" sz="1100" dirty="0"/>
          </a:p>
          <a:p>
            <a:pPr marL="0" indent="0">
              <a:lnSpc>
                <a:spcPts val="1700"/>
              </a:lnSpc>
              <a:buNone/>
            </a:pPr>
            <a:r>
              <a:rPr lang="en-US" sz="1100" dirty="0">
                <a:solidFill>
                  <a:srgbClr val="34495E"/>
                </a:solidFill>
              </a:rPr>
              <a:t>• What IS something (is-a)</a:t>
            </a:r>
            <a:endParaRPr lang="en-US" sz="1100" dirty="0"/>
          </a:p>
          <a:p>
            <a:pPr marL="0" indent="0">
              <a:lnSpc>
                <a:spcPts val="1700"/>
              </a:lnSpc>
              <a:buNone/>
            </a:pPr>
            <a:r>
              <a:rPr lang="en-US" sz="1100" dirty="0">
                <a:solidFill>
                  <a:srgbClr val="34495E"/>
                </a:solidFill>
              </a:rPr>
              <a:t>• Where it OCCURS (occurs-in)</a:t>
            </a:r>
            <a:endParaRPr lang="en-US" sz="1100" dirty="0"/>
          </a:p>
          <a:p>
            <a:pPr marL="0" indent="0">
              <a:lnSpc>
                <a:spcPts val="1700"/>
              </a:lnSpc>
              <a:buNone/>
            </a:pPr>
            <a:r>
              <a:rPr lang="en-US" sz="1100" dirty="0">
                <a:solidFill>
                  <a:srgbClr val="34495E"/>
                </a:solidFill>
              </a:rPr>
              <a:t>• What STAGE (has-stage)</a:t>
            </a:r>
            <a:endParaRPr lang="en-US" sz="1100" dirty="0"/>
          </a:p>
          <a:p>
            <a:pPr marL="0" indent="0">
              <a:lnSpc>
                <a:spcPts val="1700"/>
              </a:lnSpc>
              <a:buNone/>
            </a:pPr>
            <a:r>
              <a:rPr lang="en-US" sz="1100" dirty="0">
                <a:solidFill>
                  <a:srgbClr val="34495E"/>
                </a:solidFill>
              </a:rPr>
              <a:t>• How TREATED (treated-by)</a:t>
            </a:r>
            <a:endParaRPr lang="en-US" sz="1100" dirty="0"/>
          </a:p>
        </p:txBody>
      </p:sp>
      <p:sp>
        <p:nvSpPr>
          <p:cNvPr id="9" name="Text 7"/>
          <p:cNvSpPr/>
          <p:nvPr/>
        </p:nvSpPr>
        <p:spPr>
          <a:xfrm>
            <a:off x="717452" y="2880360"/>
            <a:ext cx="7603588" cy="228600"/>
          </a:xfrm>
          <a:prstGeom prst="rect">
            <a:avLst/>
          </a:prstGeom>
          <a:noFill/>
          <a:ln/>
        </p:spPr>
        <p:txBody>
          <a:bodyPr wrap="square" rtlCol="0" anchor="ctr"/>
          <a:lstStyle/>
          <a:p>
            <a:pPr marL="0" indent="0">
              <a:buNone/>
            </a:pPr>
            <a:r>
              <a:rPr lang="en-US" sz="1100" b="1" dirty="0">
                <a:solidFill>
                  <a:srgbClr val="3498DB"/>
                </a:solidFill>
              </a:rPr>
              <a:t>Paper:</a:t>
            </a:r>
            <a:endParaRPr lang="en-US" sz="1100" dirty="0"/>
          </a:p>
        </p:txBody>
      </p:sp>
      <p:sp>
        <p:nvSpPr>
          <p:cNvPr id="10" name="Text 8"/>
          <p:cNvSpPr/>
          <p:nvPr/>
        </p:nvSpPr>
        <p:spPr>
          <a:xfrm>
            <a:off x="717452" y="3154680"/>
            <a:ext cx="7603588" cy="320040"/>
          </a:xfrm>
          <a:prstGeom prst="rect">
            <a:avLst/>
          </a:prstGeom>
          <a:noFill/>
          <a:ln/>
        </p:spPr>
        <p:txBody>
          <a:bodyPr wrap="square" rtlCol="0" anchor="ctr"/>
          <a:lstStyle/>
          <a:p>
            <a:pPr marL="0" indent="0">
              <a:lnSpc>
                <a:spcPts val="1400"/>
              </a:lnSpc>
              <a:buNone/>
            </a:pPr>
            <a:r>
              <a:rPr lang="en-US" sz="1000" dirty="0">
                <a:solidFill>
                  <a:srgbClr val="34495E"/>
                </a:solidFill>
              </a:rPr>
              <a:t>Marincioni et al. (2023). 'HeNeCOn:  An Ontology for Integrative Research in Head and Neck Cancer.’ International Journal of Medical Informatics .</a:t>
            </a:r>
            <a:endParaRPr lang="en-US" sz="1000" dirty="0"/>
          </a:p>
        </p:txBody>
      </p:sp>
      <p:sp>
        <p:nvSpPr>
          <p:cNvPr id="11" name="Text 9">
            <a:hlinkClick r:id="rId3"/>
          </p:cNvPr>
          <p:cNvSpPr/>
          <p:nvPr/>
        </p:nvSpPr>
        <p:spPr>
          <a:xfrm>
            <a:off x="717452" y="3520440"/>
            <a:ext cx="7603588" cy="137160"/>
          </a:xfrm>
          <a:prstGeom prst="rect">
            <a:avLst/>
          </a:prstGeom>
          <a:noFill/>
          <a:ln/>
        </p:spPr>
        <p:txBody>
          <a:bodyPr wrap="square" rtlCol="0" anchor="ctr"/>
          <a:lstStyle/>
          <a:p>
            <a:pPr marL="0" indent="0">
              <a:buNone/>
            </a:pPr>
            <a:r>
              <a:rPr lang="en-US" sz="900" u="sng" dirty="0">
                <a:solidFill>
                  <a:srgbClr val="3498DB"/>
                </a:solidFill>
              </a:rPr>
              <a:t>https://doi.org/10.1016/j.ijmedinf.2023.105284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81920"/>
            <a:ext cx="7863840" cy="320040"/>
          </a:xfrm>
          <a:prstGeom prst="rect">
            <a:avLst/>
          </a:prstGeom>
          <a:noFill/>
          <a:ln/>
        </p:spPr>
        <p:txBody>
          <a:bodyPr wrap="square" rtlCol="0" anchor="ctr"/>
          <a:lstStyle/>
          <a:p>
            <a:pPr marL="0" indent="0">
              <a:buNone/>
            </a:pPr>
            <a:r>
              <a:rPr lang="en-US" sz="2200" b="1" dirty="0">
                <a:solidFill>
                  <a:srgbClr val="2C3E50"/>
                </a:solidFill>
              </a:rPr>
              <a:t>1. HeNeCOn - Visual Example</a:t>
            </a:r>
            <a:endParaRPr lang="en-US" sz="2200" dirty="0"/>
          </a:p>
        </p:txBody>
      </p:sp>
      <p:sp>
        <p:nvSpPr>
          <p:cNvPr id="5" name="Text 3"/>
          <p:cNvSpPr/>
          <p:nvPr/>
        </p:nvSpPr>
        <p:spPr>
          <a:xfrm>
            <a:off x="4110393" y="1001433"/>
            <a:ext cx="923214" cy="923214"/>
          </a:xfrm>
          <a:prstGeom prst="rect">
            <a:avLst/>
          </a:prstGeom>
          <a:noFill/>
          <a:ln/>
        </p:spPr>
        <p:txBody>
          <a:bodyPr wrap="square" rtlCol="0" anchor="ctr"/>
          <a:lstStyle/>
          <a:p>
            <a:pPr algn="ctr"/>
            <a:endParaRPr lang="en-US" sz="429" dirty="0"/>
          </a:p>
          <a:p>
            <a:pPr marL="0" indent="0" algn="ctr">
              <a:buNone/>
            </a:pPr>
            <a:endParaRPr lang="en-US" sz="429" dirty="0"/>
          </a:p>
        </p:txBody>
      </p:sp>
      <p:sp>
        <p:nvSpPr>
          <p:cNvPr id="32" name="Text 30"/>
          <p:cNvSpPr/>
          <p:nvPr/>
        </p:nvSpPr>
        <p:spPr>
          <a:xfrm>
            <a:off x="1097280" y="4480560"/>
            <a:ext cx="6949440" cy="548640"/>
          </a:xfrm>
          <a:prstGeom prst="rect">
            <a:avLst/>
          </a:prstGeom>
          <a:noFill/>
          <a:ln/>
        </p:spPr>
        <p:txBody>
          <a:bodyPr wrap="square" rtlCol="0" anchor="ctr"/>
          <a:lstStyle/>
          <a:p>
            <a:pPr marL="0" indent="0" algn="ctr">
              <a:lnSpc>
                <a:spcPts val="1700"/>
              </a:lnSpc>
              <a:buNone/>
            </a:pPr>
            <a:endParaRPr lang="en-US" sz="1200" dirty="0"/>
          </a:p>
        </p:txBody>
      </p:sp>
      <p:sp>
        <p:nvSpPr>
          <p:cNvPr id="35" name="TextBox 34">
            <a:extLst>
              <a:ext uri="{FF2B5EF4-FFF2-40B4-BE49-F238E27FC236}">
                <a16:creationId xmlns:a16="http://schemas.microsoft.com/office/drawing/2014/main" id="{D579C69A-E270-7DE3-56A2-CE06102918B2}"/>
              </a:ext>
            </a:extLst>
          </p:cNvPr>
          <p:cNvSpPr txBox="1"/>
          <p:nvPr/>
        </p:nvSpPr>
        <p:spPr>
          <a:xfrm>
            <a:off x="677877" y="501960"/>
            <a:ext cx="3157524" cy="3416320"/>
          </a:xfrm>
          <a:prstGeom prst="rect">
            <a:avLst/>
          </a:prstGeom>
          <a:noFill/>
        </p:spPr>
        <p:txBody>
          <a:bodyPr wrap="square" rtlCol="0">
            <a:spAutoFit/>
          </a:bodyPr>
          <a:lstStyle/>
          <a:p>
            <a:r>
              <a:rPr lang="en-IN" sz="1200" dirty="0" err="1"/>
              <a:t>Head_and_Neck_Cancer</a:t>
            </a:r>
            <a:br>
              <a:rPr lang="en-IN" sz="1200" dirty="0"/>
            </a:br>
            <a:r>
              <a:rPr lang="en-IN" sz="1200" dirty="0"/>
              <a:t>→ </a:t>
            </a:r>
            <a:r>
              <a:rPr lang="en-IN" sz="1200" dirty="0" err="1"/>
              <a:t>has_risk_factor</a:t>
            </a:r>
            <a:r>
              <a:rPr lang="en-IN" sz="1200" dirty="0"/>
              <a:t> → </a:t>
            </a:r>
            <a:r>
              <a:rPr lang="en-IN" sz="1200" dirty="0" err="1"/>
              <a:t>Risk_Factor</a:t>
            </a:r>
            <a:endParaRPr lang="en-IN" sz="1200" dirty="0"/>
          </a:p>
          <a:p>
            <a:r>
              <a:rPr lang="en-IN" sz="1200" dirty="0" err="1"/>
              <a:t>Head_and_Neck_Cancer</a:t>
            </a:r>
            <a:br>
              <a:rPr lang="en-IN" sz="1200" dirty="0"/>
            </a:br>
            <a:r>
              <a:rPr lang="en-IN" sz="1200" dirty="0"/>
              <a:t>→ </a:t>
            </a:r>
            <a:r>
              <a:rPr lang="en-IN" sz="1200" dirty="0" err="1"/>
              <a:t>associated_with</a:t>
            </a:r>
            <a:r>
              <a:rPr lang="en-IN" sz="1200" dirty="0"/>
              <a:t> → Biomarker</a:t>
            </a:r>
          </a:p>
          <a:p>
            <a:r>
              <a:rPr lang="en-IN" sz="1200" dirty="0" err="1"/>
              <a:t>Head_and_Neck_Cancer</a:t>
            </a:r>
            <a:br>
              <a:rPr lang="en-IN" sz="1200" dirty="0"/>
            </a:br>
            <a:r>
              <a:rPr lang="en-IN" sz="1200" dirty="0"/>
              <a:t>→ </a:t>
            </a:r>
            <a:r>
              <a:rPr lang="en-IN" sz="1200" dirty="0" err="1"/>
              <a:t>diagnosed_by</a:t>
            </a:r>
            <a:r>
              <a:rPr lang="en-IN" sz="1200" dirty="0"/>
              <a:t> → </a:t>
            </a:r>
            <a:r>
              <a:rPr lang="en-IN" sz="1200" dirty="0" err="1"/>
              <a:t>Diagnostic_Modality</a:t>
            </a:r>
            <a:endParaRPr lang="en-IN" sz="1200" dirty="0"/>
          </a:p>
          <a:p>
            <a:r>
              <a:rPr lang="en-IN" sz="1200" dirty="0" err="1"/>
              <a:t>Diagnostic_Modality</a:t>
            </a:r>
            <a:br>
              <a:rPr lang="en-IN" sz="1200" dirty="0"/>
            </a:br>
            <a:r>
              <a:rPr lang="en-IN" sz="1200" dirty="0"/>
              <a:t>→ evaluates → </a:t>
            </a:r>
            <a:r>
              <a:rPr lang="en-IN" sz="1200" dirty="0" err="1"/>
              <a:t>Molecular_Pathway</a:t>
            </a:r>
            <a:endParaRPr lang="en-IN" sz="1200" dirty="0"/>
          </a:p>
          <a:p>
            <a:r>
              <a:rPr lang="en-IN" sz="1200" dirty="0" err="1"/>
              <a:t>Head_and_Neck_Cancer</a:t>
            </a:r>
            <a:br>
              <a:rPr lang="en-IN" sz="1200" dirty="0"/>
            </a:br>
            <a:r>
              <a:rPr lang="en-IN" sz="1200" dirty="0"/>
              <a:t>→ </a:t>
            </a:r>
            <a:r>
              <a:rPr lang="en-IN" sz="1200" dirty="0" err="1"/>
              <a:t>treated_with</a:t>
            </a:r>
            <a:r>
              <a:rPr lang="en-IN" sz="1200" dirty="0"/>
              <a:t> → </a:t>
            </a:r>
            <a:r>
              <a:rPr lang="en-IN" sz="1200" dirty="0" err="1"/>
              <a:t>Therapeutic_Modality</a:t>
            </a:r>
            <a:endParaRPr lang="en-IN" sz="1200" dirty="0"/>
          </a:p>
          <a:p>
            <a:r>
              <a:rPr lang="en-IN" sz="1200" dirty="0" err="1"/>
              <a:t>Therapeutic_Modality</a:t>
            </a:r>
            <a:br>
              <a:rPr lang="en-IN" sz="1200" dirty="0"/>
            </a:br>
            <a:r>
              <a:rPr lang="en-IN" sz="1200" dirty="0"/>
              <a:t>→ </a:t>
            </a:r>
            <a:r>
              <a:rPr lang="en-IN" sz="1200" dirty="0" err="1"/>
              <a:t>evaluated_in</a:t>
            </a:r>
            <a:r>
              <a:rPr lang="en-IN" sz="1200" dirty="0"/>
              <a:t> → </a:t>
            </a:r>
            <a:r>
              <a:rPr lang="en-IN" sz="1200" dirty="0" err="1"/>
              <a:t>Clinical_Trial</a:t>
            </a:r>
            <a:endParaRPr lang="en-IN" sz="1200" dirty="0"/>
          </a:p>
          <a:p>
            <a:r>
              <a:rPr lang="en-IN" sz="1200" dirty="0" err="1"/>
              <a:t>Clinical_Trial</a:t>
            </a:r>
            <a:br>
              <a:rPr lang="en-IN" sz="1200" dirty="0"/>
            </a:br>
            <a:r>
              <a:rPr lang="en-IN" sz="1200" dirty="0"/>
              <a:t>→ produces → Dataset</a:t>
            </a:r>
          </a:p>
          <a:p>
            <a:r>
              <a:rPr lang="en-IN" sz="1200" dirty="0"/>
              <a:t>Dataset</a:t>
            </a:r>
            <a:br>
              <a:rPr lang="en-IN" sz="1200" dirty="0"/>
            </a:br>
            <a:r>
              <a:rPr lang="en-IN" sz="1200" dirty="0"/>
              <a:t>→ </a:t>
            </a:r>
            <a:r>
              <a:rPr lang="en-IN" sz="1200" dirty="0" err="1"/>
              <a:t>used_in</a:t>
            </a:r>
            <a:r>
              <a:rPr lang="en-IN" sz="1200" dirty="0"/>
              <a:t> → </a:t>
            </a:r>
            <a:r>
              <a:rPr lang="en-IN" sz="1200" dirty="0" err="1"/>
              <a:t>Clinical_Care</a:t>
            </a:r>
            <a:endParaRPr lang="en-IN" sz="1200" dirty="0"/>
          </a:p>
          <a:p>
            <a:r>
              <a:rPr lang="en-IN" sz="1200" dirty="0" err="1"/>
              <a:t>Clinical_Care</a:t>
            </a:r>
            <a:br>
              <a:rPr lang="en-IN" sz="1200" dirty="0"/>
            </a:br>
            <a:r>
              <a:rPr lang="en-IN" sz="1200" dirty="0"/>
              <a:t>→ manages → </a:t>
            </a:r>
            <a:r>
              <a:rPr lang="en-IN" sz="1200" dirty="0" err="1"/>
              <a:t>Head_and_Neck_Cancer</a:t>
            </a:r>
            <a:endParaRPr lang="en-IN" sz="1200" dirty="0"/>
          </a:p>
        </p:txBody>
      </p:sp>
      <p:sp>
        <p:nvSpPr>
          <p:cNvPr id="6" name="TextBox 5">
            <a:extLst>
              <a:ext uri="{FF2B5EF4-FFF2-40B4-BE49-F238E27FC236}">
                <a16:creationId xmlns:a16="http://schemas.microsoft.com/office/drawing/2014/main" id="{51D9FF6A-F5B4-4905-8E9B-7F73DF458EDE}"/>
              </a:ext>
            </a:extLst>
          </p:cNvPr>
          <p:cNvSpPr txBox="1"/>
          <p:nvPr/>
        </p:nvSpPr>
        <p:spPr>
          <a:xfrm>
            <a:off x="6132528" y="611389"/>
            <a:ext cx="3157524" cy="2677656"/>
          </a:xfrm>
          <a:prstGeom prst="rect">
            <a:avLst/>
          </a:prstGeom>
          <a:noFill/>
        </p:spPr>
        <p:txBody>
          <a:bodyPr wrap="square" rtlCol="0">
            <a:spAutoFit/>
          </a:bodyPr>
          <a:lstStyle/>
          <a:p>
            <a:r>
              <a:rPr lang="en-IN" sz="1200" dirty="0"/>
              <a:t>Smoking</a:t>
            </a:r>
            <a:br>
              <a:rPr lang="en-IN" sz="1200" dirty="0"/>
            </a:br>
            <a:r>
              <a:rPr lang="en-IN" sz="1200" dirty="0"/>
              <a:t>→ </a:t>
            </a:r>
            <a:r>
              <a:rPr lang="en-IN" sz="1200" dirty="0" err="1"/>
              <a:t>risk_factor_for</a:t>
            </a:r>
            <a:r>
              <a:rPr lang="en-IN" sz="1200" dirty="0"/>
              <a:t> → </a:t>
            </a:r>
            <a:r>
              <a:rPr lang="en-IN" sz="1200" dirty="0" err="1"/>
              <a:t>Head_and_Neck_Cancer</a:t>
            </a:r>
            <a:endParaRPr lang="en-IN" sz="1200" dirty="0"/>
          </a:p>
          <a:p>
            <a:r>
              <a:rPr lang="en-IN" sz="1200" dirty="0" err="1"/>
              <a:t>Head_and_Neck_Cancer</a:t>
            </a:r>
            <a:br>
              <a:rPr lang="en-IN" sz="1200" dirty="0"/>
            </a:br>
            <a:r>
              <a:rPr lang="en-IN" sz="1200" dirty="0"/>
              <a:t>→ </a:t>
            </a:r>
            <a:r>
              <a:rPr lang="en-IN" sz="1200" dirty="0" err="1"/>
              <a:t>associated_with</a:t>
            </a:r>
            <a:r>
              <a:rPr lang="en-IN" sz="1200" dirty="0"/>
              <a:t> → </a:t>
            </a:r>
            <a:r>
              <a:rPr lang="en-IN" sz="1200" dirty="0" err="1"/>
              <a:t>EGFR_Biomarker</a:t>
            </a:r>
            <a:endParaRPr lang="en-IN" sz="1200" dirty="0"/>
          </a:p>
          <a:p>
            <a:r>
              <a:rPr lang="en-IN" sz="1200" dirty="0"/>
              <a:t>EGFR</a:t>
            </a:r>
            <a:br>
              <a:rPr lang="en-IN" sz="1200" dirty="0"/>
            </a:br>
            <a:r>
              <a:rPr lang="en-IN" sz="1200" dirty="0"/>
              <a:t>→ </a:t>
            </a:r>
            <a:r>
              <a:rPr lang="en-IN" sz="1200" dirty="0" err="1"/>
              <a:t>participates_in</a:t>
            </a:r>
            <a:r>
              <a:rPr lang="en-IN" sz="1200" dirty="0"/>
              <a:t> → </a:t>
            </a:r>
            <a:r>
              <a:rPr lang="en-IN" sz="1200" dirty="0" err="1"/>
              <a:t>Signaling_Pathway</a:t>
            </a:r>
            <a:endParaRPr lang="en-IN" sz="1200" dirty="0"/>
          </a:p>
          <a:p>
            <a:r>
              <a:rPr lang="en-IN" sz="1200" dirty="0" err="1"/>
              <a:t>Head_and_Neck_Cancer</a:t>
            </a:r>
            <a:br>
              <a:rPr lang="en-IN" sz="1200" dirty="0"/>
            </a:br>
            <a:r>
              <a:rPr lang="en-IN" sz="1200" dirty="0"/>
              <a:t>→ </a:t>
            </a:r>
            <a:r>
              <a:rPr lang="en-IN" sz="1200" dirty="0" err="1"/>
              <a:t>diagnosed_by</a:t>
            </a:r>
            <a:r>
              <a:rPr lang="en-IN" sz="1200" dirty="0"/>
              <a:t> → Biopsy</a:t>
            </a:r>
          </a:p>
          <a:p>
            <a:r>
              <a:rPr lang="en-IN" sz="1200" dirty="0" err="1"/>
              <a:t>Head_and_Neck_Cancer</a:t>
            </a:r>
            <a:br>
              <a:rPr lang="en-IN" sz="1200" dirty="0"/>
            </a:br>
            <a:r>
              <a:rPr lang="en-IN" sz="1200" dirty="0"/>
              <a:t>→ </a:t>
            </a:r>
            <a:r>
              <a:rPr lang="en-IN" sz="1200" dirty="0" err="1"/>
              <a:t>treated_with</a:t>
            </a:r>
            <a:r>
              <a:rPr lang="en-IN" sz="1200" dirty="0"/>
              <a:t> → Radiotherapy</a:t>
            </a:r>
          </a:p>
          <a:p>
            <a:r>
              <a:rPr lang="en-IN" sz="1200" dirty="0"/>
              <a:t>Radiotherapy</a:t>
            </a:r>
            <a:br>
              <a:rPr lang="en-IN" sz="1200" dirty="0"/>
            </a:br>
            <a:r>
              <a:rPr lang="en-IN" sz="1200" dirty="0"/>
              <a:t>→ </a:t>
            </a:r>
            <a:r>
              <a:rPr lang="en-IN" sz="1200" dirty="0" err="1"/>
              <a:t>evaluated_in</a:t>
            </a:r>
            <a:r>
              <a:rPr lang="en-IN" sz="1200" dirty="0"/>
              <a:t> → </a:t>
            </a:r>
            <a:r>
              <a:rPr lang="en-IN" sz="1200" dirty="0" err="1"/>
              <a:t>Clinical_Trial</a:t>
            </a:r>
            <a:endParaRPr lang="en-IN" sz="1200" dirty="0"/>
          </a:p>
          <a:p>
            <a:r>
              <a:rPr lang="en-IN" sz="1200" dirty="0" err="1"/>
              <a:t>Clinical_Trial</a:t>
            </a:r>
            <a:br>
              <a:rPr lang="en-IN" sz="1200" dirty="0"/>
            </a:br>
            <a:r>
              <a:rPr lang="en-IN" sz="1200" dirty="0"/>
              <a:t>→ generates → </a:t>
            </a:r>
            <a:r>
              <a:rPr lang="en-IN" sz="1200" dirty="0" err="1"/>
              <a:t>Research_Dataset</a:t>
            </a:r>
            <a:endParaRPr lang="en-IN" sz="1200" dirty="0"/>
          </a:p>
        </p:txBody>
      </p:sp>
      <p:sp>
        <p:nvSpPr>
          <p:cNvPr id="7" name="TextBox 6">
            <a:extLst>
              <a:ext uri="{FF2B5EF4-FFF2-40B4-BE49-F238E27FC236}">
                <a16:creationId xmlns:a16="http://schemas.microsoft.com/office/drawing/2014/main" id="{D8522F38-E365-43AD-B495-4EB7C3BBEA0C}"/>
              </a:ext>
            </a:extLst>
          </p:cNvPr>
          <p:cNvSpPr txBox="1"/>
          <p:nvPr/>
        </p:nvSpPr>
        <p:spPr>
          <a:xfrm>
            <a:off x="6132528" y="309286"/>
            <a:ext cx="1390648" cy="307777"/>
          </a:xfrm>
          <a:prstGeom prst="rect">
            <a:avLst/>
          </a:prstGeom>
          <a:noFill/>
        </p:spPr>
        <p:txBody>
          <a:bodyPr wrap="square" rtlCol="0">
            <a:spAutoFit/>
          </a:bodyPr>
          <a:lstStyle/>
          <a:p>
            <a:r>
              <a:rPr lang="en-US" sz="1400" u="sng" dirty="0"/>
              <a:t>Example</a:t>
            </a:r>
            <a:endParaRPr lang="en-IN" sz="1400" u="sng" dirty="0"/>
          </a:p>
        </p:txBody>
      </p:sp>
      <p:sp>
        <p:nvSpPr>
          <p:cNvPr id="8" name="TextBox 7">
            <a:extLst>
              <a:ext uri="{FF2B5EF4-FFF2-40B4-BE49-F238E27FC236}">
                <a16:creationId xmlns:a16="http://schemas.microsoft.com/office/drawing/2014/main" id="{7BB37A3A-3AEF-437A-9290-79902072AC6C}"/>
              </a:ext>
            </a:extLst>
          </p:cNvPr>
          <p:cNvSpPr txBox="1"/>
          <p:nvPr/>
        </p:nvSpPr>
        <p:spPr>
          <a:xfrm>
            <a:off x="3670328" y="2487803"/>
            <a:ext cx="3157524" cy="2708434"/>
          </a:xfrm>
          <a:prstGeom prst="rect">
            <a:avLst/>
          </a:prstGeom>
          <a:noFill/>
        </p:spPr>
        <p:txBody>
          <a:bodyPr wrap="square" rtlCol="0">
            <a:spAutoFit/>
          </a:bodyPr>
          <a:lstStyle/>
          <a:p>
            <a:r>
              <a:rPr lang="en-IN" sz="1000" dirty="0"/>
              <a:t>     </a:t>
            </a:r>
            <a:r>
              <a:rPr lang="en-IN" sz="1000" dirty="0" err="1"/>
              <a:t>Risk_Factor</a:t>
            </a:r>
            <a:endParaRPr lang="en-IN" sz="1000" dirty="0"/>
          </a:p>
          <a:p>
            <a:r>
              <a:rPr lang="en-IN" sz="1000" dirty="0"/>
              <a:t>               │</a:t>
            </a:r>
          </a:p>
          <a:p>
            <a:r>
              <a:rPr lang="en-IN" sz="1000" dirty="0"/>
              <a:t>               │ </a:t>
            </a:r>
            <a:r>
              <a:rPr lang="en-IN" sz="1000" dirty="0" err="1"/>
              <a:t>contributes_to</a:t>
            </a:r>
            <a:endParaRPr lang="en-IN" sz="1000" dirty="0"/>
          </a:p>
          <a:p>
            <a:r>
              <a:rPr lang="en-IN" sz="1000" dirty="0"/>
              <a:t>              ▼</a:t>
            </a:r>
          </a:p>
          <a:p>
            <a:r>
              <a:rPr lang="en-IN" sz="1000" dirty="0"/>
              <a:t>        </a:t>
            </a:r>
            <a:r>
              <a:rPr lang="en-IN" sz="1000" dirty="0" err="1"/>
              <a:t>Head_and_Neck_Cancer</a:t>
            </a:r>
            <a:endParaRPr lang="en-IN" sz="1000" dirty="0"/>
          </a:p>
          <a:p>
            <a:r>
              <a:rPr lang="en-IN" sz="1000" dirty="0"/>
              <a:t>       /                        |                     \</a:t>
            </a:r>
          </a:p>
          <a:p>
            <a:r>
              <a:rPr lang="en-IN" sz="1000" dirty="0"/>
              <a:t>      /                         |                       \</a:t>
            </a:r>
          </a:p>
          <a:p>
            <a:r>
              <a:rPr lang="en-IN" sz="1000" dirty="0" err="1"/>
              <a:t>diagnosed_by</a:t>
            </a:r>
            <a:r>
              <a:rPr lang="en-IN" sz="1000" dirty="0"/>
              <a:t>     </a:t>
            </a:r>
            <a:r>
              <a:rPr lang="en-IN" sz="1000" dirty="0" err="1"/>
              <a:t>associated_with</a:t>
            </a:r>
            <a:r>
              <a:rPr lang="en-IN" sz="1000" dirty="0"/>
              <a:t>   </a:t>
            </a:r>
            <a:r>
              <a:rPr lang="en-IN" sz="1000" dirty="0" err="1"/>
              <a:t>treated_with</a:t>
            </a:r>
            <a:endParaRPr lang="en-IN" sz="1000" dirty="0"/>
          </a:p>
          <a:p>
            <a:r>
              <a:rPr lang="en-IN" sz="1000" dirty="0"/>
              <a:t>    │                                 │                        │</a:t>
            </a:r>
          </a:p>
          <a:p>
            <a:r>
              <a:rPr lang="en-IN" sz="1000" dirty="0"/>
              <a:t>    ▼                              ▼                      ▼</a:t>
            </a:r>
          </a:p>
          <a:p>
            <a:r>
              <a:rPr lang="en-IN" sz="1000" dirty="0"/>
              <a:t>Diagnostic               Biomarker    </a:t>
            </a:r>
            <a:r>
              <a:rPr lang="en-IN" sz="1000" dirty="0" err="1"/>
              <a:t>Therapeutic_Modality</a:t>
            </a:r>
            <a:endParaRPr lang="en-IN" sz="1000" dirty="0"/>
          </a:p>
          <a:p>
            <a:r>
              <a:rPr lang="en-IN" sz="1000" dirty="0"/>
              <a:t>Procedure                       │</a:t>
            </a:r>
          </a:p>
          <a:p>
            <a:r>
              <a:rPr lang="en-IN" sz="1000" dirty="0"/>
              <a:t>                                         ▼</a:t>
            </a:r>
          </a:p>
          <a:p>
            <a:r>
              <a:rPr lang="en-IN" sz="1000" dirty="0"/>
              <a:t>                                   </a:t>
            </a:r>
            <a:r>
              <a:rPr lang="en-IN" sz="1000" dirty="0" err="1"/>
              <a:t>Clinical_Trial</a:t>
            </a:r>
            <a:endParaRPr lang="en-IN" sz="1000" dirty="0"/>
          </a:p>
          <a:p>
            <a:r>
              <a:rPr lang="en-IN" sz="1000" dirty="0"/>
              <a:t>                                          │</a:t>
            </a:r>
          </a:p>
          <a:p>
            <a:r>
              <a:rPr lang="en-IN" sz="1000" dirty="0"/>
              <a:t>                                         ▼</a:t>
            </a:r>
          </a:p>
          <a:p>
            <a:r>
              <a:rPr lang="en-IN" sz="1000" dirty="0"/>
              <a:t>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5DADE2"/>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2. BioKGrapher</a:t>
            </a:r>
            <a:endParaRPr lang="en-US" sz="2600" dirty="0"/>
          </a:p>
        </p:txBody>
      </p:sp>
      <p:sp>
        <p:nvSpPr>
          <p:cNvPr id="4" name="Text 2"/>
          <p:cNvSpPr/>
          <p:nvPr/>
        </p:nvSpPr>
        <p:spPr>
          <a:xfrm>
            <a:off x="457200" y="960120"/>
            <a:ext cx="8229600" cy="274320"/>
          </a:xfrm>
          <a:prstGeom prst="rect">
            <a:avLst/>
          </a:prstGeom>
          <a:noFill/>
          <a:ln/>
        </p:spPr>
        <p:txBody>
          <a:bodyPr wrap="square" rtlCol="0" anchor="ctr"/>
          <a:lstStyle/>
          <a:p>
            <a:pPr marL="0" indent="0">
              <a:buNone/>
            </a:pPr>
            <a:r>
              <a:rPr lang="en-US" sz="1400" i="1" dirty="0">
                <a:solidFill>
                  <a:srgbClr val="7B8894"/>
                </a:solidFill>
              </a:rPr>
              <a:t>Literature Mining AI</a:t>
            </a:r>
            <a:endParaRPr lang="en-US" sz="1400" dirty="0"/>
          </a:p>
        </p:txBody>
      </p:sp>
      <p:sp>
        <p:nvSpPr>
          <p:cNvPr id="5" name="Text 3"/>
          <p:cNvSpPr/>
          <p:nvPr/>
        </p:nvSpPr>
        <p:spPr>
          <a:xfrm>
            <a:off x="640080" y="1417320"/>
            <a:ext cx="7863840" cy="256032"/>
          </a:xfrm>
          <a:prstGeom prst="rect">
            <a:avLst/>
          </a:prstGeom>
          <a:noFill/>
          <a:ln/>
        </p:spPr>
        <p:txBody>
          <a:bodyPr wrap="square" rtlCol="0" anchor="ctr"/>
          <a:lstStyle/>
          <a:p>
            <a:r>
              <a:rPr lang="en-US" sz="1300" b="1" dirty="0">
                <a:solidFill>
                  <a:srgbClr val="34495E"/>
                </a:solidFill>
              </a:rPr>
              <a:t>What is it?</a:t>
            </a:r>
            <a:endParaRPr lang="en-US" sz="1300" dirty="0"/>
          </a:p>
        </p:txBody>
      </p:sp>
      <p:sp>
        <p:nvSpPr>
          <p:cNvPr id="6" name="Text 4"/>
          <p:cNvSpPr/>
          <p:nvPr/>
        </p:nvSpPr>
        <p:spPr>
          <a:xfrm>
            <a:off x="640080" y="1568898"/>
            <a:ext cx="7863840" cy="594360"/>
          </a:xfrm>
          <a:prstGeom prst="rect">
            <a:avLst/>
          </a:prstGeom>
          <a:noFill/>
          <a:ln/>
        </p:spPr>
        <p:txBody>
          <a:bodyPr wrap="square" rtlCol="0" anchor="ctr"/>
          <a:lstStyle/>
          <a:p>
            <a:pPr marL="0" indent="0">
              <a:lnSpc>
                <a:spcPts val="1800"/>
              </a:lnSpc>
              <a:buNone/>
            </a:pPr>
            <a:r>
              <a:rPr lang="en-US" sz="1200" dirty="0">
                <a:solidFill>
                  <a:srgbClr val="34495E"/>
                </a:solidFill>
              </a:rPr>
              <a:t>An AI system that reads millions of research papers and extracts connections between genes, diseases, and treatments. </a:t>
            </a:r>
            <a:endParaRPr lang="en-US" sz="1200" dirty="0"/>
          </a:p>
        </p:txBody>
      </p:sp>
      <p:sp>
        <p:nvSpPr>
          <p:cNvPr id="7" name="Text 5"/>
          <p:cNvSpPr/>
          <p:nvPr/>
        </p:nvSpPr>
        <p:spPr>
          <a:xfrm>
            <a:off x="640080" y="2286000"/>
            <a:ext cx="7863840" cy="256032"/>
          </a:xfrm>
          <a:prstGeom prst="rect">
            <a:avLst/>
          </a:prstGeom>
          <a:noFill/>
          <a:ln/>
        </p:spPr>
        <p:txBody>
          <a:bodyPr wrap="square" rtlCol="0" anchor="ctr"/>
          <a:lstStyle/>
          <a:p>
            <a:pPr marL="0" indent="0">
              <a:buNone/>
            </a:pPr>
            <a:r>
              <a:rPr lang="en-US" sz="1300" b="1" dirty="0">
                <a:solidFill>
                  <a:srgbClr val="34495E"/>
                </a:solidFill>
              </a:rPr>
              <a:t>Why it matters:</a:t>
            </a:r>
            <a:endParaRPr lang="en-US" sz="1300" dirty="0"/>
          </a:p>
        </p:txBody>
      </p:sp>
      <p:sp>
        <p:nvSpPr>
          <p:cNvPr id="8" name="Text 6"/>
          <p:cNvSpPr/>
          <p:nvPr/>
        </p:nvSpPr>
        <p:spPr>
          <a:xfrm>
            <a:off x="640080" y="2601469"/>
            <a:ext cx="7863840" cy="411480"/>
          </a:xfrm>
          <a:prstGeom prst="rect">
            <a:avLst/>
          </a:prstGeom>
          <a:noFill/>
          <a:ln/>
        </p:spPr>
        <p:txBody>
          <a:bodyPr wrap="square" rtlCol="0" anchor="ctr"/>
          <a:lstStyle/>
          <a:p>
            <a:pPr marL="0" indent="0">
              <a:lnSpc>
                <a:spcPts val="1800"/>
              </a:lnSpc>
              <a:buNone/>
            </a:pPr>
            <a:r>
              <a:rPr lang="en-US" sz="1200" dirty="0">
                <a:solidFill>
                  <a:srgbClr val="34495E"/>
                </a:solidFill>
              </a:rPr>
              <a:t>Keeps us updated with the latest research automatically. Finds connections that humans might miss when reading papers one by one.</a:t>
            </a:r>
            <a:endParaRPr lang="en-US" sz="1200" dirty="0"/>
          </a:p>
        </p:txBody>
      </p:sp>
      <p:sp>
        <p:nvSpPr>
          <p:cNvPr id="10" name="Text 8"/>
          <p:cNvSpPr/>
          <p:nvPr/>
        </p:nvSpPr>
        <p:spPr>
          <a:xfrm>
            <a:off x="640080" y="3246120"/>
            <a:ext cx="7498080" cy="228600"/>
          </a:xfrm>
          <a:prstGeom prst="rect">
            <a:avLst/>
          </a:prstGeom>
          <a:noFill/>
          <a:ln/>
        </p:spPr>
        <p:txBody>
          <a:bodyPr wrap="square" rtlCol="0" anchor="ctr"/>
          <a:lstStyle/>
          <a:p>
            <a:r>
              <a:rPr lang="en-US" sz="1200" b="1" dirty="0">
                <a:solidFill>
                  <a:srgbClr val="5DADE2"/>
                </a:solidFill>
              </a:rPr>
              <a:t>Properties:</a:t>
            </a:r>
            <a:endParaRPr lang="en-US" sz="1200" dirty="0"/>
          </a:p>
        </p:txBody>
      </p:sp>
      <p:sp>
        <p:nvSpPr>
          <p:cNvPr id="11" name="Text 9"/>
          <p:cNvSpPr/>
          <p:nvPr/>
        </p:nvSpPr>
        <p:spPr>
          <a:xfrm>
            <a:off x="640080" y="3589020"/>
            <a:ext cx="7498080" cy="146304"/>
          </a:xfrm>
          <a:prstGeom prst="rect">
            <a:avLst/>
          </a:prstGeom>
          <a:noFill/>
          <a:ln/>
        </p:spPr>
        <p:txBody>
          <a:bodyPr wrap="square" rtlCol="0" anchor="ctr"/>
          <a:lstStyle/>
          <a:p>
            <a:pPr marL="0" indent="0">
              <a:buNone/>
            </a:pPr>
            <a:r>
              <a:rPr lang="en-US" sz="1100" dirty="0">
                <a:solidFill>
                  <a:srgbClr val="34495E"/>
                </a:solidFill>
              </a:rPr>
              <a:t>• Reads 34 million PubMed articles</a:t>
            </a:r>
            <a:endParaRPr lang="en-US" sz="1100" dirty="0"/>
          </a:p>
        </p:txBody>
      </p:sp>
      <p:sp>
        <p:nvSpPr>
          <p:cNvPr id="12" name="Text 10"/>
          <p:cNvSpPr/>
          <p:nvPr/>
        </p:nvSpPr>
        <p:spPr>
          <a:xfrm>
            <a:off x="640080" y="3817620"/>
            <a:ext cx="7498080" cy="146304"/>
          </a:xfrm>
          <a:prstGeom prst="rect">
            <a:avLst/>
          </a:prstGeom>
          <a:noFill/>
          <a:ln/>
        </p:spPr>
        <p:txBody>
          <a:bodyPr wrap="square" rtlCol="0" anchor="ctr"/>
          <a:lstStyle/>
          <a:p>
            <a:pPr marL="0" indent="0">
              <a:buNone/>
            </a:pPr>
            <a:r>
              <a:rPr lang="en-US" sz="1100" dirty="0">
                <a:solidFill>
                  <a:srgbClr val="34495E"/>
                </a:solidFill>
              </a:rPr>
              <a:t>• 89% accuracy in finding relationships</a:t>
            </a:r>
            <a:endParaRPr lang="en-US" sz="1100" dirty="0"/>
          </a:p>
        </p:txBody>
      </p:sp>
      <p:sp>
        <p:nvSpPr>
          <p:cNvPr id="13" name="Text 11"/>
          <p:cNvSpPr/>
          <p:nvPr/>
        </p:nvSpPr>
        <p:spPr>
          <a:xfrm>
            <a:off x="640080" y="4042351"/>
            <a:ext cx="7498080" cy="146304"/>
          </a:xfrm>
          <a:prstGeom prst="rect">
            <a:avLst/>
          </a:prstGeom>
          <a:noFill/>
          <a:ln/>
        </p:spPr>
        <p:txBody>
          <a:bodyPr wrap="square" rtlCol="0" anchor="ctr"/>
          <a:lstStyle/>
          <a:p>
            <a:pPr marL="0" indent="0">
              <a:buNone/>
            </a:pPr>
            <a:r>
              <a:rPr lang="en-US" sz="1100" dirty="0">
                <a:solidFill>
                  <a:srgbClr val="34495E"/>
                </a:solidFill>
              </a:rPr>
              <a:t>• Updates monthly with new papers</a:t>
            </a:r>
            <a:endParaRPr lang="en-US" sz="1100" dirty="0"/>
          </a:p>
        </p:txBody>
      </p:sp>
      <p:sp>
        <p:nvSpPr>
          <p:cNvPr id="14" name="Text 12"/>
          <p:cNvSpPr/>
          <p:nvPr/>
        </p:nvSpPr>
        <p:spPr>
          <a:xfrm>
            <a:off x="640080" y="4234375"/>
            <a:ext cx="7498080" cy="146304"/>
          </a:xfrm>
          <a:prstGeom prst="rect">
            <a:avLst/>
          </a:prstGeom>
          <a:noFill/>
          <a:ln/>
        </p:spPr>
        <p:txBody>
          <a:bodyPr wrap="square" rtlCol="0" anchor="ctr"/>
          <a:lstStyle/>
          <a:p>
            <a:pPr marL="0" indent="0">
              <a:buNone/>
            </a:pPr>
            <a:r>
              <a:rPr lang="en-US" sz="1100" dirty="0">
                <a:solidFill>
                  <a:srgbClr val="34495E"/>
                </a:solidFill>
              </a:rPr>
              <a:t>• Tracks which papers support each finding</a:t>
            </a:r>
            <a:endParaRPr lang="en-US" sz="1100" dirty="0"/>
          </a:p>
        </p:txBody>
      </p:sp>
      <p:sp>
        <p:nvSpPr>
          <p:cNvPr id="15" name="Text 13"/>
          <p:cNvSpPr/>
          <p:nvPr/>
        </p:nvSpPr>
        <p:spPr>
          <a:xfrm>
            <a:off x="5366824" y="3204972"/>
            <a:ext cx="7863840" cy="228600"/>
          </a:xfrm>
          <a:prstGeom prst="rect">
            <a:avLst/>
          </a:prstGeom>
          <a:noFill/>
          <a:ln/>
        </p:spPr>
        <p:txBody>
          <a:bodyPr wrap="square" rtlCol="0" anchor="ctr"/>
          <a:lstStyle/>
          <a:p>
            <a:pPr marL="0" indent="0">
              <a:buNone/>
            </a:pPr>
            <a:r>
              <a:rPr lang="en-US" sz="1200" b="1" dirty="0">
                <a:solidFill>
                  <a:srgbClr val="E74C3C"/>
                </a:solidFill>
              </a:rPr>
              <a:t>How we'll use it:</a:t>
            </a:r>
            <a:endParaRPr lang="en-US" sz="1200" dirty="0"/>
          </a:p>
        </p:txBody>
      </p:sp>
      <p:sp>
        <p:nvSpPr>
          <p:cNvPr id="16" name="Text 14"/>
          <p:cNvSpPr/>
          <p:nvPr/>
        </p:nvSpPr>
        <p:spPr>
          <a:xfrm>
            <a:off x="5366824" y="3759239"/>
            <a:ext cx="2771336" cy="320040"/>
          </a:xfrm>
          <a:prstGeom prst="rect">
            <a:avLst/>
          </a:prstGeom>
          <a:noFill/>
          <a:ln/>
        </p:spPr>
        <p:txBody>
          <a:bodyPr wrap="square" rtlCol="0" anchor="ctr"/>
          <a:lstStyle/>
          <a:p>
            <a:pPr marL="0" indent="0">
              <a:lnSpc>
                <a:spcPts val="1600"/>
              </a:lnSpc>
              <a:buNone/>
            </a:pPr>
            <a:r>
              <a:rPr lang="en-US" sz="1100" dirty="0">
                <a:solidFill>
                  <a:srgbClr val="34495E"/>
                </a:solidFill>
              </a:rPr>
              <a:t>Find latest biomarkers</a:t>
            </a:r>
            <a:endParaRPr lang="en-US" sz="1100" dirty="0"/>
          </a:p>
          <a:p>
            <a:pPr marL="0" indent="0">
              <a:lnSpc>
                <a:spcPts val="1600"/>
              </a:lnSpc>
              <a:buNone/>
            </a:pPr>
            <a:r>
              <a:rPr lang="en-US" sz="1100" dirty="0">
                <a:solidFill>
                  <a:srgbClr val="34495E"/>
                </a:solidFill>
              </a:rPr>
              <a:t>Track research trends</a:t>
            </a:r>
            <a:endParaRPr lang="en-US" sz="1100" dirty="0"/>
          </a:p>
          <a:p>
            <a:pPr marL="0" indent="0">
              <a:lnSpc>
                <a:spcPts val="1600"/>
              </a:lnSpc>
              <a:buNone/>
            </a:pPr>
            <a:r>
              <a:rPr lang="en-US" sz="1100" dirty="0">
                <a:solidFill>
                  <a:srgbClr val="34495E"/>
                </a:solidFill>
              </a:rPr>
              <a:t>Count evidence (papers)</a:t>
            </a:r>
            <a:endParaRPr lang="en-US" sz="1100" dirty="0"/>
          </a:p>
          <a:p>
            <a:pPr marL="0" indent="0">
              <a:lnSpc>
                <a:spcPts val="1600"/>
              </a:lnSpc>
              <a:buNone/>
            </a:pPr>
            <a:r>
              <a:rPr lang="en-US" sz="1100" dirty="0">
                <a:solidFill>
                  <a:srgbClr val="34495E"/>
                </a:solidFill>
              </a:rPr>
              <a:t>Generate hypotheses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863840" cy="365760"/>
          </a:xfrm>
          <a:prstGeom prst="rect">
            <a:avLst/>
          </a:prstGeom>
          <a:noFill/>
          <a:ln/>
        </p:spPr>
        <p:txBody>
          <a:bodyPr wrap="square" rtlCol="0" anchor="ctr"/>
          <a:lstStyle/>
          <a:p>
            <a:pPr marL="0" indent="0">
              <a:buNone/>
            </a:pPr>
            <a:r>
              <a:rPr lang="en-US" sz="2400" b="1" dirty="0">
                <a:solidFill>
                  <a:srgbClr val="2C3E50"/>
                </a:solidFill>
              </a:rPr>
              <a:t>2. BioKGrapher - Structure</a:t>
            </a:r>
            <a:endParaRPr lang="en-US" sz="2400" dirty="0"/>
          </a:p>
        </p:txBody>
      </p:sp>
      <p:sp>
        <p:nvSpPr>
          <p:cNvPr id="4" name="Text 2"/>
          <p:cNvSpPr/>
          <p:nvPr/>
        </p:nvSpPr>
        <p:spPr>
          <a:xfrm>
            <a:off x="640081" y="1025535"/>
            <a:ext cx="3657600" cy="256032"/>
          </a:xfrm>
          <a:prstGeom prst="rect">
            <a:avLst/>
          </a:prstGeom>
          <a:noFill/>
          <a:ln/>
        </p:spPr>
        <p:txBody>
          <a:bodyPr wrap="square" rtlCol="0" anchor="ctr"/>
          <a:lstStyle/>
          <a:p>
            <a:pPr marL="0" indent="0">
              <a:buNone/>
            </a:pPr>
            <a:r>
              <a:rPr lang="en-US" sz="1300" b="1" dirty="0">
                <a:solidFill>
                  <a:srgbClr val="27AE60"/>
                </a:solidFill>
              </a:rPr>
              <a:t>Nodes:</a:t>
            </a:r>
            <a:endParaRPr lang="en-US" sz="1300" dirty="0"/>
          </a:p>
        </p:txBody>
      </p:sp>
      <p:sp>
        <p:nvSpPr>
          <p:cNvPr id="5" name="Text 3"/>
          <p:cNvSpPr/>
          <p:nvPr/>
        </p:nvSpPr>
        <p:spPr>
          <a:xfrm>
            <a:off x="731520" y="2164315"/>
            <a:ext cx="3474720" cy="1097280"/>
          </a:xfrm>
          <a:prstGeom prst="rect">
            <a:avLst/>
          </a:prstGeom>
          <a:noFill/>
          <a:ln/>
        </p:spPr>
        <p:txBody>
          <a:bodyPr wrap="square" rtlCol="0" anchor="ctr"/>
          <a:lstStyle/>
          <a:p>
            <a:r>
              <a:rPr lang="en-IN" sz="1100" b="1" dirty="0"/>
              <a:t>Biomedical Entities</a:t>
            </a:r>
          </a:p>
          <a:p>
            <a:r>
              <a:rPr lang="en-IN" sz="1100" dirty="0"/>
              <a:t>Disease</a:t>
            </a:r>
          </a:p>
          <a:p>
            <a:r>
              <a:rPr lang="en-IN" sz="1100" dirty="0"/>
              <a:t>Drug / Pharmacologic Substance</a:t>
            </a:r>
          </a:p>
          <a:p>
            <a:r>
              <a:rPr lang="en-IN" sz="1100" dirty="0"/>
              <a:t>Gene / Protein</a:t>
            </a:r>
          </a:p>
          <a:p>
            <a:r>
              <a:rPr lang="en-IN" sz="1100" dirty="0"/>
              <a:t>Biological Process</a:t>
            </a:r>
          </a:p>
          <a:p>
            <a:r>
              <a:rPr lang="en-IN" sz="1100" dirty="0"/>
              <a:t>Diagnostic Procedure</a:t>
            </a:r>
          </a:p>
          <a:p>
            <a:r>
              <a:rPr lang="en-IN" sz="1100" dirty="0"/>
              <a:t>Medical Condition</a:t>
            </a:r>
          </a:p>
          <a:p>
            <a:r>
              <a:rPr lang="en-IN" sz="1100" b="1" dirty="0"/>
              <a:t>Literature &amp; Data Entities</a:t>
            </a:r>
          </a:p>
          <a:p>
            <a:r>
              <a:rPr lang="en-IN" sz="1100" dirty="0"/>
              <a:t>PubMed Article</a:t>
            </a:r>
          </a:p>
          <a:p>
            <a:r>
              <a:rPr lang="en-IN" sz="1100" dirty="0"/>
              <a:t>Biomedical Concept</a:t>
            </a:r>
          </a:p>
          <a:p>
            <a:r>
              <a:rPr lang="en-IN" sz="1100" dirty="0"/>
              <a:t>UMLS Concept</a:t>
            </a:r>
          </a:p>
          <a:p>
            <a:r>
              <a:rPr lang="en-IN" sz="1100" dirty="0"/>
              <a:t>Semantic Type</a:t>
            </a:r>
          </a:p>
          <a:p>
            <a:r>
              <a:rPr lang="en-IN" sz="1100" b="1" dirty="0"/>
              <a:t>Research Entities</a:t>
            </a:r>
          </a:p>
          <a:p>
            <a:r>
              <a:rPr lang="en-IN" sz="1100" dirty="0"/>
              <a:t>Treatment</a:t>
            </a:r>
          </a:p>
          <a:p>
            <a:r>
              <a:rPr lang="en-IN" sz="1100" dirty="0"/>
              <a:t>Clinical Outcome</a:t>
            </a:r>
          </a:p>
          <a:p>
            <a:r>
              <a:rPr lang="en-IN" sz="1100" dirty="0"/>
              <a:t>Molecular Pathway</a:t>
            </a:r>
          </a:p>
        </p:txBody>
      </p:sp>
      <p:sp>
        <p:nvSpPr>
          <p:cNvPr id="6" name="Text 4"/>
          <p:cNvSpPr/>
          <p:nvPr/>
        </p:nvSpPr>
        <p:spPr>
          <a:xfrm>
            <a:off x="4846320" y="1143000"/>
            <a:ext cx="3657600" cy="256032"/>
          </a:xfrm>
          <a:prstGeom prst="rect">
            <a:avLst/>
          </a:prstGeom>
          <a:noFill/>
          <a:ln/>
        </p:spPr>
        <p:txBody>
          <a:bodyPr wrap="square" rtlCol="0" anchor="ctr"/>
          <a:lstStyle/>
          <a:p>
            <a:pPr marL="0" indent="0">
              <a:buNone/>
            </a:pPr>
            <a:r>
              <a:rPr lang="en-US" sz="1300" b="1" dirty="0">
                <a:solidFill>
                  <a:srgbClr val="5DADE2"/>
                </a:solidFill>
              </a:rPr>
              <a:t>Edges:</a:t>
            </a:r>
            <a:endParaRPr lang="en-US" sz="1300" dirty="0"/>
          </a:p>
        </p:txBody>
      </p:sp>
      <p:sp>
        <p:nvSpPr>
          <p:cNvPr id="7" name="Text 5"/>
          <p:cNvSpPr/>
          <p:nvPr/>
        </p:nvSpPr>
        <p:spPr>
          <a:xfrm>
            <a:off x="4937760" y="1421892"/>
            <a:ext cx="3474720" cy="2050366"/>
          </a:xfrm>
          <a:prstGeom prst="rect">
            <a:avLst/>
          </a:prstGeom>
          <a:noFill/>
          <a:ln/>
        </p:spPr>
        <p:txBody>
          <a:bodyPr wrap="square" rtlCol="0" anchor="ctr"/>
          <a:lstStyle/>
          <a:p>
            <a:pPr>
              <a:lnSpc>
                <a:spcPts val="1700"/>
              </a:lnSpc>
            </a:pPr>
            <a:r>
              <a:rPr lang="en-US" sz="1100" dirty="0">
                <a:solidFill>
                  <a:srgbClr val="34495E"/>
                </a:solidFill>
              </a:rPr>
              <a:t>• treats (</a:t>
            </a:r>
            <a:r>
              <a:rPr lang="en-IN" sz="1100" dirty="0"/>
              <a:t>Drug treats disease)</a:t>
            </a:r>
            <a:endParaRPr lang="en-US" sz="1100" dirty="0">
              <a:solidFill>
                <a:srgbClr val="34495E"/>
              </a:solidFill>
            </a:endParaRPr>
          </a:p>
          <a:p>
            <a:pPr>
              <a:lnSpc>
                <a:spcPts val="1700"/>
              </a:lnSpc>
            </a:pPr>
            <a:r>
              <a:rPr lang="en-US" sz="1100" dirty="0">
                <a:solidFill>
                  <a:srgbClr val="34495E"/>
                </a:solidFill>
              </a:rPr>
              <a:t>• </a:t>
            </a:r>
            <a:r>
              <a:rPr lang="en-IN" sz="1100" dirty="0"/>
              <a:t>causes (Biological factor causes disease </a:t>
            </a:r>
          </a:p>
          <a:p>
            <a:pPr>
              <a:lnSpc>
                <a:spcPts val="1700"/>
              </a:lnSpc>
            </a:pPr>
            <a:r>
              <a:rPr lang="en-US" sz="1100" dirty="0">
                <a:solidFill>
                  <a:srgbClr val="34495E"/>
                </a:solidFill>
              </a:rPr>
              <a:t>• </a:t>
            </a:r>
            <a:r>
              <a:rPr lang="en-IN" sz="1100" dirty="0" err="1"/>
              <a:t>associated_with</a:t>
            </a:r>
            <a:r>
              <a:rPr lang="en-IN" sz="1100" dirty="0"/>
              <a:t>  (Concept association)</a:t>
            </a:r>
            <a:endParaRPr lang="en-US" sz="1100" dirty="0"/>
          </a:p>
          <a:p>
            <a:pPr>
              <a:lnSpc>
                <a:spcPts val="1700"/>
              </a:lnSpc>
            </a:pPr>
            <a:r>
              <a:rPr lang="en-US" sz="1100" dirty="0">
                <a:solidFill>
                  <a:srgbClr val="34495E"/>
                </a:solidFill>
              </a:rPr>
              <a:t>• </a:t>
            </a:r>
            <a:r>
              <a:rPr lang="en-IN" sz="1100" dirty="0" err="1"/>
              <a:t>diagnosed_by</a:t>
            </a:r>
            <a:r>
              <a:rPr lang="en-US" sz="1100" dirty="0">
                <a:solidFill>
                  <a:srgbClr val="34495E"/>
                </a:solidFill>
              </a:rPr>
              <a:t> (</a:t>
            </a:r>
            <a:r>
              <a:rPr lang="en-IN" sz="1100" dirty="0"/>
              <a:t>Disease detected using procedure</a:t>
            </a:r>
            <a:r>
              <a:rPr lang="en-US" sz="1100" dirty="0">
                <a:solidFill>
                  <a:srgbClr val="34495E"/>
                </a:solidFill>
              </a:rPr>
              <a:t>)</a:t>
            </a:r>
          </a:p>
          <a:p>
            <a:pPr>
              <a:lnSpc>
                <a:spcPts val="1700"/>
              </a:lnSpc>
            </a:pPr>
            <a:r>
              <a:rPr lang="en-US" sz="1100" dirty="0">
                <a:solidFill>
                  <a:srgbClr val="34495E"/>
                </a:solidFill>
              </a:rPr>
              <a:t>• </a:t>
            </a:r>
            <a:r>
              <a:rPr lang="en-IN" sz="1100" dirty="0"/>
              <a:t>targets</a:t>
            </a:r>
            <a:r>
              <a:rPr lang="en-US" sz="1100" dirty="0">
                <a:solidFill>
                  <a:srgbClr val="34495E"/>
                </a:solidFill>
              </a:rPr>
              <a:t> (</a:t>
            </a:r>
            <a:r>
              <a:rPr lang="en-IN" sz="1100" dirty="0"/>
              <a:t>Drug targets biological pathway)</a:t>
            </a:r>
            <a:endParaRPr lang="en-US" sz="1100" dirty="0">
              <a:solidFill>
                <a:srgbClr val="34495E"/>
              </a:solidFill>
            </a:endParaRPr>
          </a:p>
          <a:p>
            <a:pPr>
              <a:lnSpc>
                <a:spcPts val="1700"/>
              </a:lnSpc>
            </a:pPr>
            <a:r>
              <a:rPr lang="en-US" sz="1100" dirty="0">
                <a:solidFill>
                  <a:srgbClr val="34495E"/>
                </a:solidFill>
              </a:rPr>
              <a:t>• </a:t>
            </a:r>
            <a:r>
              <a:rPr lang="en-IN" sz="1100" dirty="0" err="1"/>
              <a:t>mapped_to</a:t>
            </a:r>
            <a:r>
              <a:rPr lang="en-IN" sz="1100" dirty="0"/>
              <a:t> (</a:t>
            </a:r>
            <a:r>
              <a:rPr lang="en-US" sz="1100" dirty="0"/>
              <a:t>Entity linked to UMLS ontology</a:t>
            </a:r>
            <a:r>
              <a:rPr lang="en-IN" sz="1100" dirty="0"/>
              <a:t>)</a:t>
            </a:r>
          </a:p>
          <a:p>
            <a:pPr>
              <a:lnSpc>
                <a:spcPts val="1700"/>
              </a:lnSpc>
            </a:pPr>
            <a:r>
              <a:rPr lang="en-US" sz="1100" dirty="0">
                <a:solidFill>
                  <a:srgbClr val="34495E"/>
                </a:solidFill>
              </a:rPr>
              <a:t>• </a:t>
            </a:r>
            <a:r>
              <a:rPr lang="en-IN" sz="1100" dirty="0" err="1"/>
              <a:t>extracted_from</a:t>
            </a:r>
            <a:r>
              <a:rPr lang="en-IN" sz="1100" dirty="0"/>
              <a:t>  (Knowledge extracted from article)</a:t>
            </a:r>
            <a:endParaRPr lang="en-US" sz="1100" dirty="0"/>
          </a:p>
          <a:p>
            <a:pPr>
              <a:lnSpc>
                <a:spcPts val="1700"/>
              </a:lnSpc>
            </a:pPr>
            <a:r>
              <a:rPr lang="en-US" sz="1100" dirty="0">
                <a:solidFill>
                  <a:srgbClr val="34495E"/>
                </a:solidFill>
              </a:rPr>
              <a:t>• </a:t>
            </a:r>
            <a:r>
              <a:rPr lang="en-IN" sz="1100" dirty="0" err="1"/>
              <a:t>interacts_with</a:t>
            </a:r>
            <a:r>
              <a:rPr lang="en-US" sz="1100" dirty="0">
                <a:solidFill>
                  <a:srgbClr val="34495E"/>
                </a:solidFill>
              </a:rPr>
              <a:t> (</a:t>
            </a:r>
            <a:r>
              <a:rPr lang="en-IN" sz="1100" dirty="0"/>
              <a:t>Interaction between biological entities</a:t>
            </a:r>
            <a:r>
              <a:rPr lang="en-US" sz="1100" dirty="0">
                <a:solidFill>
                  <a:srgbClr val="34495E"/>
                </a:solidFill>
              </a:rPr>
              <a:t>)</a:t>
            </a:r>
            <a:endParaRPr lang="en-US" sz="1100" dirty="0"/>
          </a:p>
          <a:p>
            <a:pPr>
              <a:lnSpc>
                <a:spcPts val="1700"/>
              </a:lnSpc>
            </a:pPr>
            <a:endParaRPr lang="en-US" sz="1100" dirty="0"/>
          </a:p>
        </p:txBody>
      </p:sp>
      <p:grpSp>
        <p:nvGrpSpPr>
          <p:cNvPr id="14" name="Group 13">
            <a:extLst>
              <a:ext uri="{FF2B5EF4-FFF2-40B4-BE49-F238E27FC236}">
                <a16:creationId xmlns:a16="http://schemas.microsoft.com/office/drawing/2014/main" id="{179799A4-3EFA-35C6-3057-BE913316BAC8}"/>
              </a:ext>
            </a:extLst>
          </p:cNvPr>
          <p:cNvGrpSpPr/>
          <p:nvPr/>
        </p:nvGrpSpPr>
        <p:grpSpPr>
          <a:xfrm>
            <a:off x="640080" y="4176444"/>
            <a:ext cx="7863840" cy="457200"/>
            <a:chOff x="640080" y="2743200"/>
            <a:chExt cx="7863840" cy="457200"/>
          </a:xfrm>
        </p:grpSpPr>
        <p:sp>
          <p:nvSpPr>
            <p:cNvPr id="8" name="Shape 6"/>
            <p:cNvSpPr/>
            <p:nvPr/>
          </p:nvSpPr>
          <p:spPr>
            <a:xfrm>
              <a:off x="640080" y="2743200"/>
              <a:ext cx="7863840" cy="457200"/>
            </a:xfrm>
            <a:prstGeom prst="rect">
              <a:avLst/>
            </a:prstGeom>
            <a:solidFill>
              <a:srgbClr val="F9F9F9"/>
            </a:solidFill>
            <a:ln w="25400">
              <a:solidFill>
                <a:srgbClr val="3498DB"/>
              </a:solidFill>
              <a:prstDash val="solid"/>
            </a:ln>
          </p:spPr>
          <p:txBody>
            <a:bodyPr/>
            <a:lstStyle/>
            <a:p>
              <a:endParaRPr lang="en-IN" dirty="0"/>
            </a:p>
          </p:txBody>
        </p:sp>
        <p:sp>
          <p:nvSpPr>
            <p:cNvPr id="9" name="Text 7"/>
            <p:cNvSpPr/>
            <p:nvPr/>
          </p:nvSpPr>
          <p:spPr>
            <a:xfrm>
              <a:off x="822960" y="2880360"/>
              <a:ext cx="7498080" cy="228600"/>
            </a:xfrm>
            <a:prstGeom prst="rect">
              <a:avLst/>
            </a:prstGeom>
            <a:noFill/>
            <a:ln/>
          </p:spPr>
          <p:txBody>
            <a:bodyPr wrap="square" rtlCol="0" anchor="ctr"/>
            <a:lstStyle/>
            <a:p>
              <a:pPr marL="0" indent="0">
                <a:buNone/>
              </a:pPr>
              <a:r>
                <a:rPr lang="en-US" sz="1100" b="1" dirty="0">
                  <a:solidFill>
                    <a:srgbClr val="3498DB"/>
                  </a:solidFill>
                </a:rPr>
                <a:t>Paper:</a:t>
              </a:r>
              <a:endParaRPr lang="en-US" sz="1100" dirty="0"/>
            </a:p>
          </p:txBody>
        </p:sp>
      </p:grpSp>
      <p:sp>
        <p:nvSpPr>
          <p:cNvPr id="11" name="Text 9">
            <a:hlinkClick r:id="rId3"/>
          </p:cNvPr>
          <p:cNvSpPr/>
          <p:nvPr/>
        </p:nvSpPr>
        <p:spPr>
          <a:xfrm>
            <a:off x="1280160" y="4346917"/>
            <a:ext cx="7498080" cy="182880"/>
          </a:xfrm>
          <a:prstGeom prst="rect">
            <a:avLst/>
          </a:prstGeom>
          <a:noFill/>
          <a:ln/>
        </p:spPr>
        <p:txBody>
          <a:bodyPr wrap="square" rtlCol="0" anchor="ctr"/>
          <a:lstStyle/>
          <a:p>
            <a:pPr marL="0" indent="0">
              <a:buNone/>
            </a:pPr>
            <a:r>
              <a:rPr lang="en-US" sz="900" u="sng" dirty="0">
                <a:solidFill>
                  <a:srgbClr val="3498DB"/>
                </a:solidFill>
              </a:rPr>
              <a:t>https://www.csbj.org/article/S2001-0370(24)00338-6/fulltext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05740"/>
            <a:ext cx="7863840" cy="320040"/>
          </a:xfrm>
          <a:prstGeom prst="rect">
            <a:avLst/>
          </a:prstGeom>
          <a:noFill/>
          <a:ln/>
        </p:spPr>
        <p:txBody>
          <a:bodyPr wrap="square" rtlCol="0" anchor="ctr"/>
          <a:lstStyle/>
          <a:p>
            <a:pPr marL="0" indent="0">
              <a:buNone/>
            </a:pPr>
            <a:r>
              <a:rPr lang="en-US" sz="2200" b="1" dirty="0">
                <a:solidFill>
                  <a:srgbClr val="2C3E50"/>
                </a:solidFill>
              </a:rPr>
              <a:t>2. BioKGrapher - Visual Example</a:t>
            </a:r>
            <a:endParaRPr lang="en-US" sz="2200" dirty="0"/>
          </a:p>
        </p:txBody>
      </p:sp>
      <p:sp>
        <p:nvSpPr>
          <p:cNvPr id="9" name="TextBox 8">
            <a:extLst>
              <a:ext uri="{FF2B5EF4-FFF2-40B4-BE49-F238E27FC236}">
                <a16:creationId xmlns:a16="http://schemas.microsoft.com/office/drawing/2014/main" id="{01270474-0F75-4ED7-9536-C3B1F8894740}"/>
              </a:ext>
            </a:extLst>
          </p:cNvPr>
          <p:cNvSpPr txBox="1"/>
          <p:nvPr/>
        </p:nvSpPr>
        <p:spPr>
          <a:xfrm>
            <a:off x="312500" y="620930"/>
            <a:ext cx="4105073" cy="2862322"/>
          </a:xfrm>
          <a:prstGeom prst="rect">
            <a:avLst/>
          </a:prstGeom>
          <a:noFill/>
        </p:spPr>
        <p:txBody>
          <a:bodyPr wrap="square" rtlCol="0">
            <a:spAutoFit/>
          </a:bodyPr>
          <a:lstStyle/>
          <a:p>
            <a:r>
              <a:rPr lang="en-IN" sz="1000" dirty="0"/>
              <a:t>Gene</a:t>
            </a:r>
            <a:br>
              <a:rPr lang="en-IN" sz="1000" dirty="0"/>
            </a:br>
            <a:r>
              <a:rPr lang="en-IN" sz="1000" dirty="0"/>
              <a:t>→ </a:t>
            </a:r>
            <a:r>
              <a:rPr lang="en-IN" sz="1000" dirty="0" err="1"/>
              <a:t>associated_with</a:t>
            </a:r>
            <a:r>
              <a:rPr lang="en-IN" sz="1000" dirty="0"/>
              <a:t> → Disease</a:t>
            </a:r>
          </a:p>
          <a:p>
            <a:r>
              <a:rPr lang="en-IN" sz="1000" dirty="0"/>
              <a:t>Drug</a:t>
            </a:r>
            <a:br>
              <a:rPr lang="en-IN" sz="1000" dirty="0"/>
            </a:br>
            <a:r>
              <a:rPr lang="en-IN" sz="1000" dirty="0"/>
              <a:t>→ treats → Disease</a:t>
            </a:r>
          </a:p>
          <a:p>
            <a:r>
              <a:rPr lang="en-IN" sz="1000" dirty="0"/>
              <a:t>Gene</a:t>
            </a:r>
            <a:br>
              <a:rPr lang="en-IN" sz="1000" dirty="0"/>
            </a:br>
            <a:r>
              <a:rPr lang="en-IN" sz="1000" dirty="0"/>
              <a:t>→ </a:t>
            </a:r>
            <a:r>
              <a:rPr lang="en-IN" sz="1000" dirty="0" err="1"/>
              <a:t>participates_in</a:t>
            </a:r>
            <a:r>
              <a:rPr lang="en-IN" sz="1000" dirty="0"/>
              <a:t> → </a:t>
            </a:r>
            <a:r>
              <a:rPr lang="en-IN" sz="1000" dirty="0" err="1"/>
              <a:t>Biological_Pathway</a:t>
            </a:r>
            <a:endParaRPr lang="en-IN" sz="1000" dirty="0"/>
          </a:p>
          <a:p>
            <a:r>
              <a:rPr lang="en-IN" sz="1000" dirty="0"/>
              <a:t>Protein</a:t>
            </a:r>
            <a:br>
              <a:rPr lang="en-IN" sz="1000" dirty="0"/>
            </a:br>
            <a:r>
              <a:rPr lang="en-IN" sz="1000" dirty="0"/>
              <a:t>→ </a:t>
            </a:r>
            <a:r>
              <a:rPr lang="en-IN" sz="1000" dirty="0" err="1"/>
              <a:t>interacts_with</a:t>
            </a:r>
            <a:r>
              <a:rPr lang="en-IN" sz="1000" dirty="0"/>
              <a:t> → Protein</a:t>
            </a:r>
          </a:p>
          <a:p>
            <a:r>
              <a:rPr lang="en-IN" sz="1000" dirty="0"/>
              <a:t>Disease</a:t>
            </a:r>
            <a:br>
              <a:rPr lang="en-IN" sz="1000" dirty="0"/>
            </a:br>
            <a:r>
              <a:rPr lang="en-IN" sz="1000" dirty="0"/>
              <a:t>→ </a:t>
            </a:r>
            <a:r>
              <a:rPr lang="en-IN" sz="1000" dirty="0" err="1"/>
              <a:t>diagnosed_by</a:t>
            </a:r>
            <a:r>
              <a:rPr lang="en-IN" sz="1000" dirty="0"/>
              <a:t> → </a:t>
            </a:r>
            <a:r>
              <a:rPr lang="en-IN" sz="1000" dirty="0" err="1"/>
              <a:t>Diagnostic_Procedure</a:t>
            </a:r>
            <a:endParaRPr lang="en-IN" sz="1000" dirty="0"/>
          </a:p>
          <a:p>
            <a:r>
              <a:rPr lang="en-IN" sz="1000" dirty="0"/>
              <a:t>Drug</a:t>
            </a:r>
            <a:br>
              <a:rPr lang="en-IN" sz="1000" dirty="0"/>
            </a:br>
            <a:r>
              <a:rPr lang="en-IN" sz="1000" dirty="0"/>
              <a:t>→ affects → </a:t>
            </a:r>
            <a:r>
              <a:rPr lang="en-IN" sz="1000" dirty="0" err="1"/>
              <a:t>Molecular_Pathway</a:t>
            </a:r>
            <a:endParaRPr lang="en-IN" sz="1000" dirty="0"/>
          </a:p>
          <a:p>
            <a:r>
              <a:rPr lang="en-IN" sz="1000" dirty="0"/>
              <a:t>Gene</a:t>
            </a:r>
            <a:br>
              <a:rPr lang="en-IN" sz="1000" dirty="0"/>
            </a:br>
            <a:r>
              <a:rPr lang="en-IN" sz="1000" dirty="0"/>
              <a:t>→ </a:t>
            </a:r>
            <a:r>
              <a:rPr lang="en-IN" sz="1000" dirty="0" err="1"/>
              <a:t>mentioned_in</a:t>
            </a:r>
            <a:r>
              <a:rPr lang="en-IN" sz="1000" dirty="0"/>
              <a:t> → </a:t>
            </a:r>
            <a:r>
              <a:rPr lang="en-IN" sz="1000" dirty="0" err="1"/>
              <a:t>Scientific_Publication</a:t>
            </a:r>
            <a:endParaRPr lang="en-IN" sz="1000" dirty="0"/>
          </a:p>
          <a:p>
            <a:r>
              <a:rPr lang="en-IN" sz="1000" dirty="0" err="1"/>
              <a:t>Scientific_Publication</a:t>
            </a:r>
            <a:br>
              <a:rPr lang="en-IN" sz="1000" dirty="0"/>
            </a:br>
            <a:r>
              <a:rPr lang="en-IN" sz="1000" dirty="0"/>
              <a:t>→ provides → Evidence</a:t>
            </a:r>
          </a:p>
          <a:p>
            <a:r>
              <a:rPr lang="en-IN" sz="1000" dirty="0"/>
              <a:t>Evidence</a:t>
            </a:r>
            <a:br>
              <a:rPr lang="en-IN" sz="1000" dirty="0"/>
            </a:br>
            <a:r>
              <a:rPr lang="en-IN" sz="1000" dirty="0"/>
              <a:t>→ supports → </a:t>
            </a:r>
            <a:r>
              <a:rPr lang="en-IN" sz="1000" dirty="0" err="1"/>
              <a:t>Biomedical_Relationship</a:t>
            </a:r>
            <a:endParaRPr lang="en-IN" sz="1000" dirty="0"/>
          </a:p>
        </p:txBody>
      </p:sp>
      <p:sp>
        <p:nvSpPr>
          <p:cNvPr id="10" name="TextBox 9">
            <a:extLst>
              <a:ext uri="{FF2B5EF4-FFF2-40B4-BE49-F238E27FC236}">
                <a16:creationId xmlns:a16="http://schemas.microsoft.com/office/drawing/2014/main" id="{87B3EDE2-77B4-4507-B7E3-994AD01C966E}"/>
              </a:ext>
            </a:extLst>
          </p:cNvPr>
          <p:cNvSpPr txBox="1"/>
          <p:nvPr/>
        </p:nvSpPr>
        <p:spPr>
          <a:xfrm>
            <a:off x="5149174" y="885217"/>
            <a:ext cx="4105073" cy="1938992"/>
          </a:xfrm>
          <a:prstGeom prst="rect">
            <a:avLst/>
          </a:prstGeom>
          <a:noFill/>
        </p:spPr>
        <p:txBody>
          <a:bodyPr wrap="square" rtlCol="0">
            <a:spAutoFit/>
          </a:bodyPr>
          <a:lstStyle/>
          <a:p>
            <a:r>
              <a:rPr lang="en-IN" sz="1000" dirty="0"/>
              <a:t>Nivolumab</a:t>
            </a:r>
            <a:br>
              <a:rPr lang="en-IN" sz="1000" dirty="0"/>
            </a:br>
            <a:r>
              <a:rPr lang="en-IN" sz="1000" dirty="0"/>
              <a:t>→ treats → Melanoma</a:t>
            </a:r>
          </a:p>
          <a:p>
            <a:r>
              <a:rPr lang="en-IN" sz="1000" dirty="0"/>
              <a:t>Melanoma</a:t>
            </a:r>
            <a:br>
              <a:rPr lang="en-IN" sz="1000" dirty="0"/>
            </a:br>
            <a:r>
              <a:rPr lang="en-IN" sz="1000" dirty="0"/>
              <a:t>→ </a:t>
            </a:r>
            <a:r>
              <a:rPr lang="en-IN" sz="1000" dirty="0" err="1"/>
              <a:t>associated_with</a:t>
            </a:r>
            <a:r>
              <a:rPr lang="en-IN" sz="1000" dirty="0"/>
              <a:t> → </a:t>
            </a:r>
            <a:r>
              <a:rPr lang="en-IN" sz="1000" dirty="0" err="1"/>
              <a:t>BRAF_Gene</a:t>
            </a:r>
            <a:endParaRPr lang="en-IN" sz="1000" dirty="0"/>
          </a:p>
          <a:p>
            <a:r>
              <a:rPr lang="en-IN" sz="1000" dirty="0"/>
              <a:t>BRAF</a:t>
            </a:r>
            <a:br>
              <a:rPr lang="en-IN" sz="1000" dirty="0"/>
            </a:br>
            <a:r>
              <a:rPr lang="en-IN" sz="1000" dirty="0"/>
              <a:t>→ </a:t>
            </a:r>
            <a:r>
              <a:rPr lang="en-IN" sz="1000" dirty="0" err="1"/>
              <a:t>participates_in</a:t>
            </a:r>
            <a:r>
              <a:rPr lang="en-IN" sz="1000" dirty="0"/>
              <a:t> → </a:t>
            </a:r>
            <a:r>
              <a:rPr lang="en-IN" sz="1000" dirty="0" err="1"/>
              <a:t>MAPK_Pathway</a:t>
            </a:r>
            <a:endParaRPr lang="en-IN" sz="1000" dirty="0"/>
          </a:p>
          <a:p>
            <a:r>
              <a:rPr lang="en-IN" sz="1000" dirty="0" err="1"/>
              <a:t>MAPK_Pathway</a:t>
            </a:r>
            <a:br>
              <a:rPr lang="en-IN" sz="1000" dirty="0"/>
            </a:br>
            <a:r>
              <a:rPr lang="en-IN" sz="1000" dirty="0"/>
              <a:t>→ </a:t>
            </a:r>
            <a:r>
              <a:rPr lang="en-IN" sz="1000" dirty="0" err="1"/>
              <a:t>involved_in</a:t>
            </a:r>
            <a:r>
              <a:rPr lang="en-IN" sz="1000" dirty="0"/>
              <a:t> → </a:t>
            </a:r>
            <a:r>
              <a:rPr lang="en-IN" sz="1000" dirty="0" err="1"/>
              <a:t>Tumor_Growth</a:t>
            </a:r>
            <a:endParaRPr lang="en-IN" sz="1000" dirty="0"/>
          </a:p>
          <a:p>
            <a:r>
              <a:rPr lang="en-IN" sz="1000" dirty="0"/>
              <a:t>Nivolumab</a:t>
            </a:r>
            <a:br>
              <a:rPr lang="en-IN" sz="1000" dirty="0"/>
            </a:br>
            <a:r>
              <a:rPr lang="en-IN" sz="1000" dirty="0"/>
              <a:t>→ </a:t>
            </a:r>
            <a:r>
              <a:rPr lang="en-IN" sz="1000" dirty="0" err="1"/>
              <a:t>mentioned_in</a:t>
            </a:r>
            <a:r>
              <a:rPr lang="en-IN" sz="1000" dirty="0"/>
              <a:t> → </a:t>
            </a:r>
            <a:r>
              <a:rPr lang="en-IN" sz="1000" dirty="0" err="1"/>
              <a:t>PubMed_Publication</a:t>
            </a:r>
            <a:endParaRPr lang="en-IN" sz="1000" dirty="0"/>
          </a:p>
          <a:p>
            <a:r>
              <a:rPr lang="en-IN" sz="1000" dirty="0" err="1"/>
              <a:t>PubMed_Publication</a:t>
            </a:r>
            <a:br>
              <a:rPr lang="en-IN" sz="1000" dirty="0"/>
            </a:br>
            <a:r>
              <a:rPr lang="en-IN" sz="1000" dirty="0"/>
              <a:t>→ contains → </a:t>
            </a:r>
            <a:r>
              <a:rPr lang="en-IN" sz="1000" dirty="0" err="1"/>
              <a:t>Evidence_Sentence</a:t>
            </a:r>
            <a:endParaRPr lang="en-IN" sz="1000" dirty="0"/>
          </a:p>
        </p:txBody>
      </p:sp>
      <p:sp>
        <p:nvSpPr>
          <p:cNvPr id="11" name="TextBox 10">
            <a:extLst>
              <a:ext uri="{FF2B5EF4-FFF2-40B4-BE49-F238E27FC236}">
                <a16:creationId xmlns:a16="http://schemas.microsoft.com/office/drawing/2014/main" id="{943A25DB-B156-4B14-996B-59CEF845836C}"/>
              </a:ext>
            </a:extLst>
          </p:cNvPr>
          <p:cNvSpPr txBox="1"/>
          <p:nvPr/>
        </p:nvSpPr>
        <p:spPr>
          <a:xfrm>
            <a:off x="3326860" y="2328605"/>
            <a:ext cx="3981855" cy="2246769"/>
          </a:xfrm>
          <a:prstGeom prst="rect">
            <a:avLst/>
          </a:prstGeom>
          <a:noFill/>
        </p:spPr>
        <p:txBody>
          <a:bodyPr wrap="square" rtlCol="0">
            <a:spAutoFit/>
          </a:bodyPr>
          <a:lstStyle/>
          <a:p>
            <a:r>
              <a:rPr lang="en-IN" sz="1000" dirty="0"/>
              <a:t>    Gene</a:t>
            </a:r>
            <a:br>
              <a:rPr lang="en-IN" sz="1000" dirty="0"/>
            </a:br>
            <a:r>
              <a:rPr lang="en-IN" sz="1000" dirty="0"/>
              <a:t>        │</a:t>
            </a:r>
            <a:br>
              <a:rPr lang="en-IN" sz="1000" dirty="0"/>
            </a:br>
            <a:r>
              <a:rPr lang="en-IN" sz="1000" dirty="0"/>
              <a:t>        │ </a:t>
            </a:r>
            <a:r>
              <a:rPr lang="en-IN" sz="1000" dirty="0" err="1"/>
              <a:t>associated_with</a:t>
            </a:r>
            <a:br>
              <a:rPr lang="en-IN" sz="1000" dirty="0"/>
            </a:br>
            <a:r>
              <a:rPr lang="en-IN" sz="1000" dirty="0"/>
              <a:t>        ▼</a:t>
            </a:r>
            <a:br>
              <a:rPr lang="en-IN" sz="1000" dirty="0"/>
            </a:br>
            <a:r>
              <a:rPr lang="en-IN" sz="1000" dirty="0"/>
              <a:t>        Disease</a:t>
            </a:r>
            <a:br>
              <a:rPr lang="en-IN" sz="1000" dirty="0"/>
            </a:br>
            <a:r>
              <a:rPr lang="en-IN" sz="1000" dirty="0"/>
              <a:t>/                          \</a:t>
            </a:r>
            <a:br>
              <a:rPr lang="en-IN" sz="1000" dirty="0"/>
            </a:br>
            <a:r>
              <a:rPr lang="en-IN" sz="1000" dirty="0"/>
              <a:t>/                             \</a:t>
            </a:r>
            <a:br>
              <a:rPr lang="en-IN" sz="1000" dirty="0"/>
            </a:br>
            <a:r>
              <a:rPr lang="en-IN" sz="1000" dirty="0" err="1"/>
              <a:t>diagnosed_by</a:t>
            </a:r>
            <a:r>
              <a:rPr lang="en-IN" sz="1000" dirty="0"/>
              <a:t>          </a:t>
            </a:r>
            <a:r>
              <a:rPr lang="en-IN" sz="1000" dirty="0" err="1"/>
              <a:t>treated_by</a:t>
            </a:r>
            <a:br>
              <a:rPr lang="en-IN" sz="1000" dirty="0"/>
            </a:br>
            <a:r>
              <a:rPr lang="en-IN" sz="1000" dirty="0"/>
              <a:t>│                                     │</a:t>
            </a:r>
            <a:br>
              <a:rPr lang="en-IN" sz="1000" dirty="0"/>
            </a:br>
            <a:r>
              <a:rPr lang="en-IN" sz="1000" dirty="0"/>
              <a:t>▼                                  ▼</a:t>
            </a:r>
            <a:br>
              <a:rPr lang="en-IN" sz="1000" dirty="0"/>
            </a:br>
            <a:r>
              <a:rPr lang="en-IN" sz="1000" dirty="0"/>
              <a:t>Diagnostic                Drug</a:t>
            </a:r>
            <a:br>
              <a:rPr lang="en-IN" sz="1000" dirty="0"/>
            </a:br>
            <a:r>
              <a:rPr lang="en-IN" sz="1000" dirty="0"/>
              <a:t>Procedure                    │</a:t>
            </a:r>
            <a:br>
              <a:rPr lang="en-IN" sz="1000" dirty="0"/>
            </a:br>
            <a:r>
              <a:rPr lang="en-IN" sz="1000" dirty="0"/>
              <a:t>                                      ▼</a:t>
            </a:r>
            <a:br>
              <a:rPr lang="en-IN" sz="1000" dirty="0"/>
            </a:br>
            <a:r>
              <a:rPr lang="en-IN" sz="1000" dirty="0"/>
              <a:t>                        </a:t>
            </a:r>
            <a:r>
              <a:rPr lang="en-IN" sz="1000" dirty="0" err="1"/>
              <a:t>Molecular_Pathway</a:t>
            </a:r>
            <a:endParaRPr lang="en-IN" sz="1000" dirty="0"/>
          </a:p>
        </p:txBody>
      </p:sp>
      <p:sp>
        <p:nvSpPr>
          <p:cNvPr id="12" name="TextBox 11">
            <a:extLst>
              <a:ext uri="{FF2B5EF4-FFF2-40B4-BE49-F238E27FC236}">
                <a16:creationId xmlns:a16="http://schemas.microsoft.com/office/drawing/2014/main" id="{BAF25F9D-4FC0-4C3E-9233-DC19791C98E0}"/>
              </a:ext>
            </a:extLst>
          </p:cNvPr>
          <p:cNvSpPr txBox="1"/>
          <p:nvPr/>
        </p:nvSpPr>
        <p:spPr>
          <a:xfrm>
            <a:off x="5149174" y="619578"/>
            <a:ext cx="1390648" cy="307777"/>
          </a:xfrm>
          <a:prstGeom prst="rect">
            <a:avLst/>
          </a:prstGeom>
          <a:noFill/>
        </p:spPr>
        <p:txBody>
          <a:bodyPr wrap="square" rtlCol="0">
            <a:spAutoFit/>
          </a:bodyPr>
          <a:lstStyle/>
          <a:p>
            <a:r>
              <a:rPr lang="en-US" sz="1400" u="sng" dirty="0"/>
              <a:t>Example</a:t>
            </a:r>
            <a:endParaRPr lang="en-IN" sz="1400" u="sn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7AE60"/>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3. DisGeNET</a:t>
            </a:r>
            <a:endParaRPr lang="en-US" sz="2600" dirty="0"/>
          </a:p>
        </p:txBody>
      </p:sp>
      <p:sp>
        <p:nvSpPr>
          <p:cNvPr id="5" name="Text 3"/>
          <p:cNvSpPr/>
          <p:nvPr/>
        </p:nvSpPr>
        <p:spPr>
          <a:xfrm>
            <a:off x="640080" y="1017798"/>
            <a:ext cx="7863840" cy="256032"/>
          </a:xfrm>
          <a:prstGeom prst="rect">
            <a:avLst/>
          </a:prstGeom>
          <a:noFill/>
          <a:ln/>
        </p:spPr>
        <p:txBody>
          <a:bodyPr wrap="square" rtlCol="0" anchor="ctr"/>
          <a:lstStyle/>
          <a:p>
            <a:r>
              <a:rPr lang="en-US" sz="1300" b="1" dirty="0">
                <a:solidFill>
                  <a:srgbClr val="34495E"/>
                </a:solidFill>
              </a:rPr>
              <a:t>What is it?</a:t>
            </a:r>
            <a:endParaRPr lang="en-US" sz="1300" dirty="0"/>
          </a:p>
        </p:txBody>
      </p:sp>
      <p:sp>
        <p:nvSpPr>
          <p:cNvPr id="6" name="Text 4"/>
          <p:cNvSpPr/>
          <p:nvPr/>
        </p:nvSpPr>
        <p:spPr>
          <a:xfrm>
            <a:off x="640080" y="1349757"/>
            <a:ext cx="7863840" cy="594360"/>
          </a:xfrm>
          <a:prstGeom prst="rect">
            <a:avLst/>
          </a:prstGeom>
          <a:noFill/>
          <a:ln/>
        </p:spPr>
        <p:txBody>
          <a:bodyPr wrap="square" rtlCol="0" anchor="ctr"/>
          <a:lstStyle/>
          <a:p>
            <a:pPr marL="0" indent="0">
              <a:lnSpc>
                <a:spcPts val="1800"/>
              </a:lnSpc>
              <a:buNone/>
            </a:pPr>
            <a:r>
              <a:rPr lang="en-US" sz="1200" dirty="0">
                <a:solidFill>
                  <a:srgbClr val="34495E"/>
                </a:solidFill>
              </a:rPr>
              <a:t>This platform builds a biomedical knowledge graph connecting diseases, genes, and genetic variants using multiple biological databases and literature sources.</a:t>
            </a:r>
            <a:endParaRPr lang="en-US" sz="1200" dirty="0"/>
          </a:p>
        </p:txBody>
      </p:sp>
      <p:sp>
        <p:nvSpPr>
          <p:cNvPr id="7" name="Text 5"/>
          <p:cNvSpPr/>
          <p:nvPr/>
        </p:nvSpPr>
        <p:spPr>
          <a:xfrm>
            <a:off x="640080" y="2078463"/>
            <a:ext cx="7863840" cy="256032"/>
          </a:xfrm>
          <a:prstGeom prst="rect">
            <a:avLst/>
          </a:prstGeom>
          <a:noFill/>
          <a:ln/>
        </p:spPr>
        <p:txBody>
          <a:bodyPr wrap="square" rtlCol="0" anchor="ctr"/>
          <a:lstStyle/>
          <a:p>
            <a:pPr marL="0" indent="0">
              <a:buNone/>
            </a:pPr>
            <a:r>
              <a:rPr lang="en-US" sz="1300" b="1" dirty="0">
                <a:solidFill>
                  <a:srgbClr val="34495E"/>
                </a:solidFill>
              </a:rPr>
              <a:t>Why it matters:</a:t>
            </a:r>
            <a:endParaRPr lang="en-US" sz="1300" dirty="0"/>
          </a:p>
        </p:txBody>
      </p:sp>
      <p:sp>
        <p:nvSpPr>
          <p:cNvPr id="8" name="Text 6"/>
          <p:cNvSpPr/>
          <p:nvPr/>
        </p:nvSpPr>
        <p:spPr>
          <a:xfrm>
            <a:off x="640080" y="2301963"/>
            <a:ext cx="7863840" cy="411480"/>
          </a:xfrm>
          <a:prstGeom prst="rect">
            <a:avLst/>
          </a:prstGeom>
          <a:noFill/>
          <a:ln/>
        </p:spPr>
        <p:txBody>
          <a:bodyPr wrap="square" rtlCol="0" anchor="ctr"/>
          <a:lstStyle/>
          <a:p>
            <a:pPr marL="0" indent="0">
              <a:lnSpc>
                <a:spcPts val="1800"/>
              </a:lnSpc>
              <a:buNone/>
            </a:pPr>
            <a:r>
              <a:rPr lang="en-US" sz="1200" dirty="0">
                <a:solidFill>
                  <a:srgbClr val="34495E"/>
                </a:solidFill>
              </a:rPr>
              <a:t>The platform integrates &gt;24,000 diseases, ~17,000 genes, and ~117,000 genetic variants.</a:t>
            </a:r>
            <a:endParaRPr lang="en-US" sz="1200" dirty="0"/>
          </a:p>
        </p:txBody>
      </p:sp>
      <p:sp>
        <p:nvSpPr>
          <p:cNvPr id="10" name="Text 8"/>
          <p:cNvSpPr/>
          <p:nvPr/>
        </p:nvSpPr>
        <p:spPr>
          <a:xfrm>
            <a:off x="640080" y="3300984"/>
            <a:ext cx="7498080" cy="228600"/>
          </a:xfrm>
          <a:prstGeom prst="rect">
            <a:avLst/>
          </a:prstGeom>
          <a:noFill/>
          <a:ln/>
        </p:spPr>
        <p:txBody>
          <a:bodyPr wrap="square" rtlCol="0" anchor="ctr"/>
          <a:lstStyle/>
          <a:p>
            <a:r>
              <a:rPr lang="en-US" sz="1200" b="1" dirty="0">
                <a:solidFill>
                  <a:srgbClr val="27AE60"/>
                </a:solidFill>
              </a:rPr>
              <a:t>Properties:</a:t>
            </a:r>
            <a:endParaRPr lang="en-US" sz="1200" dirty="0"/>
          </a:p>
        </p:txBody>
      </p:sp>
      <p:sp>
        <p:nvSpPr>
          <p:cNvPr id="11" name="Text 9"/>
          <p:cNvSpPr/>
          <p:nvPr/>
        </p:nvSpPr>
        <p:spPr>
          <a:xfrm>
            <a:off x="640080" y="3543300"/>
            <a:ext cx="7498080" cy="146304"/>
          </a:xfrm>
          <a:prstGeom prst="rect">
            <a:avLst/>
          </a:prstGeom>
          <a:noFill/>
          <a:ln/>
        </p:spPr>
        <p:txBody>
          <a:bodyPr wrap="square" rtlCol="0" anchor="ctr"/>
          <a:lstStyle/>
          <a:p>
            <a:pPr marL="0" indent="0">
              <a:buNone/>
            </a:pPr>
            <a:r>
              <a:rPr lang="en-US" sz="1100" dirty="0">
                <a:solidFill>
                  <a:srgbClr val="34495E"/>
                </a:solidFill>
              </a:rPr>
              <a:t>• 1.17 million gene-disease connections</a:t>
            </a:r>
            <a:endParaRPr lang="en-US" sz="1100" dirty="0"/>
          </a:p>
        </p:txBody>
      </p:sp>
      <p:sp>
        <p:nvSpPr>
          <p:cNvPr id="12" name="Text 10"/>
          <p:cNvSpPr/>
          <p:nvPr/>
        </p:nvSpPr>
        <p:spPr>
          <a:xfrm>
            <a:off x="640080" y="3737610"/>
            <a:ext cx="7498080" cy="146304"/>
          </a:xfrm>
          <a:prstGeom prst="rect">
            <a:avLst/>
          </a:prstGeom>
          <a:noFill/>
          <a:ln/>
        </p:spPr>
        <p:txBody>
          <a:bodyPr wrap="square" rtlCol="0" anchor="ctr"/>
          <a:lstStyle/>
          <a:p>
            <a:pPr marL="0" indent="0">
              <a:buNone/>
            </a:pPr>
            <a:r>
              <a:rPr lang="en-US" sz="1100" dirty="0">
                <a:solidFill>
                  <a:srgbClr val="34495E"/>
                </a:solidFill>
              </a:rPr>
              <a:t>• 17000 genes ranked</a:t>
            </a:r>
            <a:endParaRPr lang="en-US" sz="1100" dirty="0"/>
          </a:p>
        </p:txBody>
      </p:sp>
      <p:sp>
        <p:nvSpPr>
          <p:cNvPr id="13" name="Text 11"/>
          <p:cNvSpPr/>
          <p:nvPr/>
        </p:nvSpPr>
        <p:spPr>
          <a:xfrm>
            <a:off x="640080" y="3934206"/>
            <a:ext cx="7498080" cy="146304"/>
          </a:xfrm>
          <a:prstGeom prst="rect">
            <a:avLst/>
          </a:prstGeom>
          <a:noFill/>
          <a:ln/>
        </p:spPr>
        <p:txBody>
          <a:bodyPr wrap="square" rtlCol="0" anchor="ctr"/>
          <a:lstStyle/>
          <a:p>
            <a:pPr marL="0" indent="0">
              <a:buNone/>
            </a:pPr>
            <a:r>
              <a:rPr lang="en-US" sz="1100" dirty="0">
                <a:solidFill>
                  <a:srgbClr val="34495E"/>
                </a:solidFill>
              </a:rPr>
              <a:t>• Scored 0-1 for evidence strength</a:t>
            </a:r>
            <a:endParaRPr lang="en-US" sz="1100" dirty="0"/>
          </a:p>
        </p:txBody>
      </p:sp>
      <p:sp>
        <p:nvSpPr>
          <p:cNvPr id="14" name="Text 12"/>
          <p:cNvSpPr/>
          <p:nvPr/>
        </p:nvSpPr>
        <p:spPr>
          <a:xfrm>
            <a:off x="640080" y="4122889"/>
            <a:ext cx="7498080" cy="146304"/>
          </a:xfrm>
          <a:prstGeom prst="rect">
            <a:avLst/>
          </a:prstGeom>
          <a:noFill/>
          <a:ln/>
        </p:spPr>
        <p:txBody>
          <a:bodyPr wrap="square" rtlCol="0" anchor="ctr"/>
          <a:lstStyle/>
          <a:p>
            <a:pPr marL="0" indent="0">
              <a:buNone/>
            </a:pPr>
            <a:r>
              <a:rPr lang="en-US" sz="1100" dirty="0">
                <a:solidFill>
                  <a:srgbClr val="34495E"/>
                </a:solidFill>
              </a:rPr>
              <a:t>• Tracks supporting papers</a:t>
            </a:r>
            <a:endParaRPr lang="en-US" sz="1100" dirty="0"/>
          </a:p>
        </p:txBody>
      </p:sp>
      <p:sp>
        <p:nvSpPr>
          <p:cNvPr id="15" name="Text 13"/>
          <p:cNvSpPr/>
          <p:nvPr/>
        </p:nvSpPr>
        <p:spPr>
          <a:xfrm>
            <a:off x="5493434" y="3275838"/>
            <a:ext cx="7863840" cy="228600"/>
          </a:xfrm>
          <a:prstGeom prst="rect">
            <a:avLst/>
          </a:prstGeom>
          <a:noFill/>
          <a:ln/>
        </p:spPr>
        <p:txBody>
          <a:bodyPr wrap="square" rtlCol="0" anchor="ctr"/>
          <a:lstStyle/>
          <a:p>
            <a:pPr marL="0" indent="0">
              <a:buNone/>
            </a:pPr>
            <a:r>
              <a:rPr lang="en-US" sz="1200" b="1" dirty="0">
                <a:solidFill>
                  <a:srgbClr val="E74C3C"/>
                </a:solidFill>
              </a:rPr>
              <a:t>How we'll use it:</a:t>
            </a:r>
            <a:endParaRPr lang="en-US" sz="1200" dirty="0"/>
          </a:p>
        </p:txBody>
      </p:sp>
      <p:sp>
        <p:nvSpPr>
          <p:cNvPr id="16" name="Text 14"/>
          <p:cNvSpPr/>
          <p:nvPr/>
        </p:nvSpPr>
        <p:spPr>
          <a:xfrm>
            <a:off x="5493434" y="3677646"/>
            <a:ext cx="2700166" cy="320040"/>
          </a:xfrm>
          <a:prstGeom prst="rect">
            <a:avLst/>
          </a:prstGeom>
          <a:noFill/>
          <a:ln/>
        </p:spPr>
        <p:txBody>
          <a:bodyPr wrap="square" rtlCol="0" anchor="ctr"/>
          <a:lstStyle/>
          <a:p>
            <a:pPr marL="0" indent="0">
              <a:lnSpc>
                <a:spcPts val="1600"/>
              </a:lnSpc>
              <a:buNone/>
            </a:pPr>
            <a:r>
              <a:rPr lang="en-US" sz="1100" dirty="0">
                <a:solidFill>
                  <a:srgbClr val="34495E"/>
                </a:solidFill>
              </a:rPr>
              <a:t>Prioritize diagnostic genes</a:t>
            </a:r>
            <a:endParaRPr lang="en-US" sz="1100" dirty="0"/>
          </a:p>
          <a:p>
            <a:pPr marL="0" indent="0">
              <a:lnSpc>
                <a:spcPts val="1600"/>
              </a:lnSpc>
              <a:buNone/>
            </a:pPr>
            <a:r>
              <a:rPr lang="en-US" sz="1100" dirty="0">
                <a:solidFill>
                  <a:srgbClr val="34495E"/>
                </a:solidFill>
              </a:rPr>
              <a:t>Filter by evidence (&gt;0.7)</a:t>
            </a:r>
            <a:endParaRPr lang="en-US" sz="1100" dirty="0"/>
          </a:p>
          <a:p>
            <a:pPr marL="0" indent="0">
              <a:lnSpc>
                <a:spcPts val="1600"/>
              </a:lnSpc>
              <a:buNone/>
            </a:pPr>
            <a:r>
              <a:rPr lang="en-US" sz="1100" dirty="0">
                <a:solidFill>
                  <a:srgbClr val="34495E"/>
                </a:solidFill>
              </a:rPr>
              <a:t>Verify multi-source support</a:t>
            </a:r>
            <a:endParaRPr lang="en-US" sz="1100" dirty="0"/>
          </a:p>
          <a:p>
            <a:pPr marL="0" indent="0">
              <a:lnSpc>
                <a:spcPts val="1600"/>
              </a:lnSpc>
              <a:buNone/>
            </a:pPr>
            <a:r>
              <a:rPr lang="en-US" sz="1100" dirty="0">
                <a:solidFill>
                  <a:srgbClr val="34495E"/>
                </a:solidFill>
              </a:rPr>
              <a:t>Build gene rankings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863840" cy="365760"/>
          </a:xfrm>
          <a:prstGeom prst="rect">
            <a:avLst/>
          </a:prstGeom>
          <a:noFill/>
          <a:ln/>
        </p:spPr>
        <p:txBody>
          <a:bodyPr wrap="square" rtlCol="0" anchor="ctr"/>
          <a:lstStyle/>
          <a:p>
            <a:pPr marL="0" indent="0">
              <a:buNone/>
            </a:pPr>
            <a:r>
              <a:rPr lang="en-US" sz="2400" b="1" dirty="0">
                <a:solidFill>
                  <a:srgbClr val="2C3E50"/>
                </a:solidFill>
              </a:rPr>
              <a:t>3. DisGeNET - Structure</a:t>
            </a:r>
            <a:endParaRPr lang="en-US" sz="2400" dirty="0"/>
          </a:p>
        </p:txBody>
      </p:sp>
      <p:sp>
        <p:nvSpPr>
          <p:cNvPr id="3" name="Shape 1"/>
          <p:cNvSpPr/>
          <p:nvPr/>
        </p:nvSpPr>
        <p:spPr>
          <a:xfrm>
            <a:off x="640080" y="841248"/>
            <a:ext cx="1828800" cy="0"/>
          </a:xfrm>
          <a:prstGeom prst="line">
            <a:avLst/>
          </a:prstGeom>
          <a:noFill/>
          <a:ln w="38100">
            <a:solidFill>
              <a:srgbClr val="27AE60"/>
            </a:solidFill>
            <a:prstDash val="solid"/>
          </a:ln>
        </p:spPr>
      </p:sp>
      <p:sp>
        <p:nvSpPr>
          <p:cNvPr id="4" name="Text 2"/>
          <p:cNvSpPr/>
          <p:nvPr/>
        </p:nvSpPr>
        <p:spPr>
          <a:xfrm>
            <a:off x="731520" y="924951"/>
            <a:ext cx="3657600" cy="256032"/>
          </a:xfrm>
          <a:prstGeom prst="rect">
            <a:avLst/>
          </a:prstGeom>
          <a:noFill/>
          <a:ln/>
        </p:spPr>
        <p:txBody>
          <a:bodyPr wrap="square" rtlCol="0" anchor="ctr"/>
          <a:lstStyle/>
          <a:p>
            <a:pPr marL="0" indent="0">
              <a:buNone/>
            </a:pPr>
            <a:r>
              <a:rPr lang="en-US" sz="1300" b="1" dirty="0">
                <a:solidFill>
                  <a:srgbClr val="27AE60"/>
                </a:solidFill>
              </a:rPr>
              <a:t>What it contains (Nodes):</a:t>
            </a:r>
            <a:endParaRPr lang="en-US" sz="1300" dirty="0"/>
          </a:p>
        </p:txBody>
      </p:sp>
      <p:sp>
        <p:nvSpPr>
          <p:cNvPr id="5" name="Text 3"/>
          <p:cNvSpPr/>
          <p:nvPr/>
        </p:nvSpPr>
        <p:spPr>
          <a:xfrm>
            <a:off x="745588" y="1991106"/>
            <a:ext cx="3474720" cy="1097280"/>
          </a:xfrm>
          <a:prstGeom prst="rect">
            <a:avLst/>
          </a:prstGeom>
          <a:noFill/>
          <a:ln/>
        </p:spPr>
        <p:txBody>
          <a:bodyPr wrap="square" rtlCol="0" anchor="ctr"/>
          <a:lstStyle/>
          <a:p>
            <a:r>
              <a:rPr lang="en-IN" sz="1000" b="1" dirty="0"/>
              <a:t>Disease Entities</a:t>
            </a:r>
            <a:endParaRPr lang="en-IN" sz="1000" dirty="0"/>
          </a:p>
          <a:p>
            <a:r>
              <a:rPr lang="en-IN" sz="1000" dirty="0"/>
              <a:t>Disease</a:t>
            </a:r>
          </a:p>
          <a:p>
            <a:r>
              <a:rPr lang="en-IN" sz="1000" dirty="0"/>
              <a:t>Disorder</a:t>
            </a:r>
          </a:p>
          <a:p>
            <a:r>
              <a:rPr lang="en-IN" sz="1000" dirty="0"/>
              <a:t>Phenotype</a:t>
            </a:r>
          </a:p>
          <a:p>
            <a:r>
              <a:rPr lang="en-IN" sz="1000" dirty="0"/>
              <a:t>Trait</a:t>
            </a:r>
          </a:p>
          <a:p>
            <a:r>
              <a:rPr lang="en-IN" sz="1000" b="1" dirty="0"/>
              <a:t>Genomic Entities</a:t>
            </a:r>
            <a:endParaRPr lang="en-IN" sz="1000" dirty="0"/>
          </a:p>
          <a:p>
            <a:r>
              <a:rPr lang="en-IN" sz="1000" dirty="0"/>
              <a:t>Gene</a:t>
            </a:r>
          </a:p>
          <a:p>
            <a:r>
              <a:rPr lang="en-IN" sz="1000" dirty="0"/>
              <a:t>Protein</a:t>
            </a:r>
          </a:p>
          <a:p>
            <a:r>
              <a:rPr lang="en-IN" sz="1000" dirty="0"/>
              <a:t>Genetic Variant</a:t>
            </a:r>
          </a:p>
          <a:p>
            <a:r>
              <a:rPr lang="en-IN" sz="1000" b="1" dirty="0"/>
              <a:t>Biological Knowledge Entities</a:t>
            </a:r>
            <a:endParaRPr lang="en-IN" sz="1000" dirty="0"/>
          </a:p>
          <a:p>
            <a:r>
              <a:rPr lang="en-IN" sz="1000" dirty="0"/>
              <a:t>Biological Pathway</a:t>
            </a:r>
          </a:p>
          <a:p>
            <a:r>
              <a:rPr lang="en-IN" sz="1000" dirty="0"/>
              <a:t>Molecular Function</a:t>
            </a:r>
          </a:p>
          <a:p>
            <a:r>
              <a:rPr lang="en-IN" sz="1000" dirty="0"/>
              <a:t>Biological Process</a:t>
            </a:r>
          </a:p>
          <a:p>
            <a:r>
              <a:rPr lang="en-IN" sz="1000" b="1" dirty="0"/>
              <a:t>Data Source Entities</a:t>
            </a:r>
            <a:endParaRPr lang="en-IN" sz="1000" dirty="0"/>
          </a:p>
          <a:p>
            <a:r>
              <a:rPr lang="en-IN" sz="1000" dirty="0"/>
              <a:t>Scientific Literature</a:t>
            </a:r>
          </a:p>
          <a:p>
            <a:r>
              <a:rPr lang="en-IN" sz="1000" dirty="0"/>
              <a:t>Curated Databases</a:t>
            </a:r>
          </a:p>
          <a:p>
            <a:r>
              <a:rPr lang="en-IN" sz="1000" dirty="0"/>
              <a:t>GWAS Studies</a:t>
            </a:r>
          </a:p>
          <a:p>
            <a:pPr marL="171450" indent="-171450">
              <a:lnSpc>
                <a:spcPts val="1700"/>
              </a:lnSpc>
              <a:buFont typeface="Arial" panose="020B0604020202020204" pitchFamily="34" charset="0"/>
              <a:buChar char="•"/>
            </a:pPr>
            <a:endParaRPr lang="en-US" sz="1000" dirty="0"/>
          </a:p>
        </p:txBody>
      </p:sp>
      <p:sp>
        <p:nvSpPr>
          <p:cNvPr id="6" name="Text 4"/>
          <p:cNvSpPr/>
          <p:nvPr/>
        </p:nvSpPr>
        <p:spPr>
          <a:xfrm>
            <a:off x="4937760" y="924951"/>
            <a:ext cx="3657600" cy="256032"/>
          </a:xfrm>
          <a:prstGeom prst="rect">
            <a:avLst/>
          </a:prstGeom>
          <a:noFill/>
          <a:ln/>
        </p:spPr>
        <p:txBody>
          <a:bodyPr wrap="square" rtlCol="0" anchor="ctr"/>
          <a:lstStyle/>
          <a:p>
            <a:pPr marL="0" indent="0">
              <a:buNone/>
            </a:pPr>
            <a:r>
              <a:rPr lang="en-US" sz="1300" b="1" dirty="0">
                <a:solidFill>
                  <a:srgbClr val="5DADE2"/>
                </a:solidFill>
              </a:rPr>
              <a:t>How things connect (Edges):</a:t>
            </a:r>
            <a:endParaRPr lang="en-US" sz="1300" dirty="0"/>
          </a:p>
        </p:txBody>
      </p:sp>
      <p:sp>
        <p:nvSpPr>
          <p:cNvPr id="7" name="Text 5"/>
          <p:cNvSpPr/>
          <p:nvPr/>
        </p:nvSpPr>
        <p:spPr>
          <a:xfrm>
            <a:off x="5029200" y="1463040"/>
            <a:ext cx="3474720" cy="1097280"/>
          </a:xfrm>
          <a:prstGeom prst="rect">
            <a:avLst/>
          </a:prstGeom>
          <a:noFill/>
          <a:ln/>
        </p:spPr>
        <p:txBody>
          <a:bodyPr wrap="square" rtlCol="0" anchor="ctr"/>
          <a:lstStyle/>
          <a:p>
            <a:pPr marL="171450" indent="-171450">
              <a:lnSpc>
                <a:spcPts val="1700"/>
              </a:lnSpc>
              <a:buFont typeface="Arial" panose="020B0604020202020204" pitchFamily="34" charset="0"/>
              <a:buChar char="•"/>
            </a:pPr>
            <a:endParaRPr lang="en-US" sz="1100" dirty="0"/>
          </a:p>
        </p:txBody>
      </p:sp>
      <p:sp>
        <p:nvSpPr>
          <p:cNvPr id="9" name="Text 7"/>
          <p:cNvSpPr/>
          <p:nvPr/>
        </p:nvSpPr>
        <p:spPr>
          <a:xfrm>
            <a:off x="640080" y="3935084"/>
            <a:ext cx="7498080" cy="228600"/>
          </a:xfrm>
          <a:prstGeom prst="rect">
            <a:avLst/>
          </a:prstGeom>
          <a:noFill/>
          <a:ln/>
        </p:spPr>
        <p:txBody>
          <a:bodyPr wrap="square" rtlCol="0" anchor="ctr"/>
          <a:lstStyle/>
          <a:p>
            <a:pPr marL="0" indent="0">
              <a:buNone/>
            </a:pPr>
            <a:r>
              <a:rPr lang="en-US" sz="1100" b="1" dirty="0">
                <a:solidFill>
                  <a:srgbClr val="3498DB"/>
                </a:solidFill>
              </a:rPr>
              <a:t>Paper:</a:t>
            </a:r>
            <a:endParaRPr lang="en-US" sz="1100" dirty="0"/>
          </a:p>
        </p:txBody>
      </p:sp>
      <p:sp>
        <p:nvSpPr>
          <p:cNvPr id="10" name="Text 8"/>
          <p:cNvSpPr/>
          <p:nvPr/>
        </p:nvSpPr>
        <p:spPr>
          <a:xfrm>
            <a:off x="1125415" y="3898509"/>
            <a:ext cx="7498080" cy="320040"/>
          </a:xfrm>
          <a:prstGeom prst="rect">
            <a:avLst/>
          </a:prstGeom>
          <a:noFill/>
          <a:ln/>
        </p:spPr>
        <p:txBody>
          <a:bodyPr wrap="square" rtlCol="0" anchor="ctr"/>
          <a:lstStyle/>
          <a:p>
            <a:pPr marL="0" indent="0">
              <a:lnSpc>
                <a:spcPts val="1400"/>
              </a:lnSpc>
              <a:buNone/>
            </a:pPr>
            <a:r>
              <a:rPr lang="en-US" sz="1000" dirty="0">
                <a:solidFill>
                  <a:srgbClr val="34495E"/>
                </a:solidFill>
              </a:rPr>
              <a:t>Piñero et al. (2020). 'The DisGeNET knowledge platform for disease genomics: 2019 update.' Nucleic Acids Research.</a:t>
            </a:r>
            <a:endParaRPr lang="en-US" sz="1000" dirty="0"/>
          </a:p>
        </p:txBody>
      </p:sp>
      <p:sp>
        <p:nvSpPr>
          <p:cNvPr id="11" name="Text 9">
            <a:hlinkClick r:id="rId3"/>
          </p:cNvPr>
          <p:cNvSpPr/>
          <p:nvPr/>
        </p:nvSpPr>
        <p:spPr>
          <a:xfrm>
            <a:off x="640080" y="4227693"/>
            <a:ext cx="7498080" cy="182880"/>
          </a:xfrm>
          <a:prstGeom prst="rect">
            <a:avLst/>
          </a:prstGeom>
          <a:noFill/>
          <a:ln/>
        </p:spPr>
        <p:txBody>
          <a:bodyPr wrap="square" rtlCol="0" anchor="ctr"/>
          <a:lstStyle/>
          <a:p>
            <a:pPr marL="0" indent="0">
              <a:buNone/>
            </a:pPr>
            <a:r>
              <a:rPr lang="en-US" sz="900" u="sng" dirty="0">
                <a:solidFill>
                  <a:srgbClr val="3498DB"/>
                </a:solidFill>
                <a:hlinkClick r:id="rId3">
                  <a:extLst>
                    <a:ext uri="{A12FA001-AC4F-418D-AE19-62706E023703}">
                      <ahyp:hlinkClr xmlns:ahyp="http://schemas.microsoft.com/office/drawing/2018/hyperlinkcolor" val="tx"/>
                    </a:ext>
                  </a:extLst>
                </a:hlinkClick>
              </a:rPr>
              <a:t>https://doi.org/10.1093/nar/gkz1021</a:t>
            </a:r>
            <a:endParaRPr lang="en-US" sz="900" dirty="0"/>
          </a:p>
        </p:txBody>
      </p:sp>
      <p:sp>
        <p:nvSpPr>
          <p:cNvPr id="13" name="Text 11">
            <a:hlinkClick r:id="rId4"/>
          </p:cNvPr>
          <p:cNvSpPr/>
          <p:nvPr/>
        </p:nvSpPr>
        <p:spPr>
          <a:xfrm>
            <a:off x="640080" y="4465436"/>
            <a:ext cx="7498080" cy="320040"/>
          </a:xfrm>
          <a:prstGeom prst="rect">
            <a:avLst/>
          </a:prstGeom>
          <a:noFill/>
          <a:ln/>
        </p:spPr>
        <p:txBody>
          <a:bodyPr wrap="square" rtlCol="0" anchor="ctr"/>
          <a:lstStyle/>
          <a:p>
            <a:pPr marL="0" indent="0">
              <a:buNone/>
            </a:pPr>
            <a:r>
              <a:rPr lang="en-US" sz="900" u="sng" dirty="0">
                <a:solidFill>
                  <a:srgbClr val="3498DB"/>
                </a:solidFill>
                <a:hlinkClick r:id="rId4">
                  <a:extLst>
                    <a:ext uri="{A12FA001-AC4F-418D-AE19-62706E023703}">
                      <ahyp:hlinkClr xmlns:ahyp="http://schemas.microsoft.com/office/drawing/2018/hyperlinkcolor" val="tx"/>
                    </a:ext>
                  </a:extLst>
                </a:hlinkClick>
              </a:rPr>
              <a:t>https://www.disgenet.org/</a:t>
            </a:r>
            <a:endParaRPr lang="en-US" sz="900" dirty="0"/>
          </a:p>
        </p:txBody>
      </p:sp>
      <p:sp>
        <p:nvSpPr>
          <p:cNvPr id="21" name="TextBox 20">
            <a:extLst>
              <a:ext uri="{FF2B5EF4-FFF2-40B4-BE49-F238E27FC236}">
                <a16:creationId xmlns:a16="http://schemas.microsoft.com/office/drawing/2014/main" id="{FAA984B8-80E4-057E-4CA8-C1844F91089C}"/>
              </a:ext>
            </a:extLst>
          </p:cNvPr>
          <p:cNvSpPr txBox="1"/>
          <p:nvPr/>
        </p:nvSpPr>
        <p:spPr>
          <a:xfrm>
            <a:off x="5036234" y="1280160"/>
            <a:ext cx="2897945" cy="2492990"/>
          </a:xfrm>
          <a:prstGeom prst="rect">
            <a:avLst/>
          </a:prstGeom>
          <a:noFill/>
        </p:spPr>
        <p:txBody>
          <a:bodyPr wrap="square" rtlCol="0">
            <a:spAutoFit/>
          </a:bodyPr>
          <a:lstStyle/>
          <a:p>
            <a:pPr marL="285750" indent="-285750">
              <a:buFont typeface="Arial" panose="020B0604020202020204" pitchFamily="34" charset="0"/>
              <a:buChar char="•"/>
            </a:pPr>
            <a:r>
              <a:rPr lang="en-IN" sz="1200" dirty="0" err="1"/>
              <a:t>associated_with</a:t>
            </a:r>
            <a:r>
              <a:rPr lang="en-IN" sz="1200" dirty="0"/>
              <a:t> (Gene associated with disease)</a:t>
            </a:r>
          </a:p>
          <a:p>
            <a:pPr marL="285750" indent="-285750">
              <a:buFont typeface="Arial" panose="020B0604020202020204" pitchFamily="34" charset="0"/>
              <a:buChar char="•"/>
            </a:pPr>
            <a:r>
              <a:rPr lang="en-IN" sz="1200" dirty="0" err="1"/>
              <a:t>variant_of</a:t>
            </a:r>
            <a:r>
              <a:rPr lang="en-IN" sz="1200" dirty="0"/>
              <a:t> (Variant belongs to gene)</a:t>
            </a:r>
          </a:p>
          <a:p>
            <a:pPr marL="285750" indent="-285750">
              <a:buFont typeface="Arial" panose="020B0604020202020204" pitchFamily="34" charset="0"/>
              <a:buChar char="•"/>
            </a:pPr>
            <a:r>
              <a:rPr lang="en-IN" sz="1200" dirty="0" err="1"/>
              <a:t>involved_in</a:t>
            </a:r>
            <a:r>
              <a:rPr lang="en-IN" sz="1200" dirty="0"/>
              <a:t> (Gene participates in pathway)</a:t>
            </a:r>
          </a:p>
          <a:p>
            <a:pPr marL="285750" indent="-285750">
              <a:buFont typeface="Arial" panose="020B0604020202020204" pitchFamily="34" charset="0"/>
              <a:buChar char="•"/>
            </a:pPr>
            <a:r>
              <a:rPr lang="en-IN" sz="1200" dirty="0"/>
              <a:t>Causes (Genetic mutation causes disease)</a:t>
            </a:r>
          </a:p>
          <a:p>
            <a:pPr marL="285750" indent="-285750">
              <a:buFont typeface="Arial" panose="020B0604020202020204" pitchFamily="34" charset="0"/>
              <a:buChar char="•"/>
            </a:pPr>
            <a:r>
              <a:rPr lang="en-IN" sz="1200" dirty="0" err="1"/>
              <a:t>contributes_to</a:t>
            </a:r>
            <a:r>
              <a:rPr lang="en-IN" sz="1200" dirty="0"/>
              <a:t> (</a:t>
            </a:r>
            <a:r>
              <a:rPr lang="en-US" sz="1200" dirty="0"/>
              <a:t>Gene contributes to disease phenotype)</a:t>
            </a:r>
          </a:p>
          <a:p>
            <a:pPr marL="285750" indent="-285750">
              <a:buFont typeface="Arial" panose="020B0604020202020204" pitchFamily="34" charset="0"/>
              <a:buChar char="•"/>
            </a:pPr>
            <a:r>
              <a:rPr lang="en-IN" sz="1200" dirty="0" err="1"/>
              <a:t>supported_by</a:t>
            </a:r>
            <a:r>
              <a:rPr lang="en-IN" sz="1200" dirty="0"/>
              <a:t> (Association supported by evidence)</a:t>
            </a:r>
          </a:p>
          <a:p>
            <a:pPr marL="285750" indent="-285750">
              <a:buFont typeface="Arial" panose="020B0604020202020204" pitchFamily="34" charset="0"/>
              <a:buChar char="•"/>
            </a:pPr>
            <a:r>
              <a:rPr lang="en-IN" sz="1200" dirty="0" err="1"/>
              <a:t>derived_from</a:t>
            </a:r>
            <a:r>
              <a:rPr lang="en-IN" sz="1200" dirty="0"/>
              <a:t> (Data derived from literature)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05740"/>
            <a:ext cx="7863840" cy="320040"/>
          </a:xfrm>
          <a:prstGeom prst="rect">
            <a:avLst/>
          </a:prstGeom>
          <a:noFill/>
          <a:ln/>
        </p:spPr>
        <p:txBody>
          <a:bodyPr wrap="square" rtlCol="0" anchor="ctr"/>
          <a:lstStyle/>
          <a:p>
            <a:pPr marL="0" indent="0">
              <a:buNone/>
            </a:pPr>
            <a:r>
              <a:rPr lang="en-US" sz="2200" b="1" dirty="0">
                <a:solidFill>
                  <a:srgbClr val="2C3E50"/>
                </a:solidFill>
              </a:rPr>
              <a:t>3. DisGeNET - Visual Example</a:t>
            </a:r>
            <a:endParaRPr lang="en-US" sz="2200" dirty="0"/>
          </a:p>
        </p:txBody>
      </p:sp>
      <p:sp>
        <p:nvSpPr>
          <p:cNvPr id="28" name="TextBox 27">
            <a:extLst>
              <a:ext uri="{FF2B5EF4-FFF2-40B4-BE49-F238E27FC236}">
                <a16:creationId xmlns:a16="http://schemas.microsoft.com/office/drawing/2014/main" id="{2B54BB46-8627-B209-312E-6D4AD13733B3}"/>
              </a:ext>
            </a:extLst>
          </p:cNvPr>
          <p:cNvSpPr txBox="1"/>
          <p:nvPr/>
        </p:nvSpPr>
        <p:spPr>
          <a:xfrm>
            <a:off x="640080" y="601394"/>
            <a:ext cx="8011551" cy="2862322"/>
          </a:xfrm>
          <a:prstGeom prst="rect">
            <a:avLst/>
          </a:prstGeom>
          <a:noFill/>
        </p:spPr>
        <p:txBody>
          <a:bodyPr wrap="square" rtlCol="0">
            <a:spAutoFit/>
          </a:bodyPr>
          <a:lstStyle/>
          <a:p>
            <a:r>
              <a:rPr lang="en-IN" sz="1000" dirty="0"/>
              <a:t>Gene</a:t>
            </a:r>
            <a:br>
              <a:rPr lang="en-IN" sz="1000" dirty="0"/>
            </a:br>
            <a:r>
              <a:rPr lang="en-IN" sz="1000" dirty="0"/>
              <a:t>→ </a:t>
            </a:r>
            <a:r>
              <a:rPr lang="en-IN" sz="1000" dirty="0" err="1"/>
              <a:t>associated_with</a:t>
            </a:r>
            <a:r>
              <a:rPr lang="en-IN" sz="1000" dirty="0"/>
              <a:t> → Disease</a:t>
            </a:r>
          </a:p>
          <a:p>
            <a:r>
              <a:rPr lang="en-IN" sz="1000" dirty="0"/>
              <a:t>Gene</a:t>
            </a:r>
            <a:br>
              <a:rPr lang="en-IN" sz="1000" dirty="0"/>
            </a:br>
            <a:r>
              <a:rPr lang="en-IN" sz="1000" dirty="0"/>
              <a:t>→ </a:t>
            </a:r>
            <a:r>
              <a:rPr lang="en-IN" sz="1000" dirty="0" err="1"/>
              <a:t>has_variant</a:t>
            </a:r>
            <a:r>
              <a:rPr lang="en-IN" sz="1000" dirty="0"/>
              <a:t> → </a:t>
            </a:r>
            <a:r>
              <a:rPr lang="en-IN" sz="1000" dirty="0" err="1"/>
              <a:t>Genetic_Variant</a:t>
            </a:r>
            <a:endParaRPr lang="en-IN" sz="1000" dirty="0"/>
          </a:p>
          <a:p>
            <a:r>
              <a:rPr lang="en-IN" sz="1000" dirty="0" err="1"/>
              <a:t>Genetic_Variant</a:t>
            </a:r>
            <a:br>
              <a:rPr lang="en-IN" sz="1000" dirty="0"/>
            </a:br>
            <a:r>
              <a:rPr lang="en-IN" sz="1000" dirty="0"/>
              <a:t>→ </a:t>
            </a:r>
            <a:r>
              <a:rPr lang="en-IN" sz="1000" dirty="0" err="1"/>
              <a:t>contributes_to</a:t>
            </a:r>
            <a:r>
              <a:rPr lang="en-IN" sz="1000" dirty="0"/>
              <a:t> → Disease</a:t>
            </a:r>
          </a:p>
          <a:p>
            <a:r>
              <a:rPr lang="en-IN" sz="1000" dirty="0"/>
              <a:t>Gene</a:t>
            </a:r>
            <a:br>
              <a:rPr lang="en-IN" sz="1000" dirty="0"/>
            </a:br>
            <a:r>
              <a:rPr lang="en-IN" sz="1000" dirty="0"/>
              <a:t>→ </a:t>
            </a:r>
            <a:r>
              <a:rPr lang="en-IN" sz="1000" dirty="0" err="1"/>
              <a:t>participates_in</a:t>
            </a:r>
            <a:r>
              <a:rPr lang="en-IN" sz="1000" dirty="0"/>
              <a:t> → </a:t>
            </a:r>
            <a:r>
              <a:rPr lang="en-IN" sz="1000" dirty="0" err="1"/>
              <a:t>Biological_Pathway</a:t>
            </a:r>
            <a:endParaRPr lang="en-IN" sz="1000" dirty="0"/>
          </a:p>
          <a:p>
            <a:r>
              <a:rPr lang="en-IN" sz="1000" dirty="0" err="1"/>
              <a:t>Biological_Pathway</a:t>
            </a:r>
            <a:br>
              <a:rPr lang="en-IN" sz="1000" dirty="0"/>
            </a:br>
            <a:r>
              <a:rPr lang="en-IN" sz="1000" dirty="0"/>
              <a:t>→ </a:t>
            </a:r>
            <a:r>
              <a:rPr lang="en-IN" sz="1000" dirty="0" err="1"/>
              <a:t>involved_in</a:t>
            </a:r>
            <a:r>
              <a:rPr lang="en-IN" sz="1000" dirty="0"/>
              <a:t> → Disease</a:t>
            </a:r>
          </a:p>
          <a:p>
            <a:r>
              <a:rPr lang="en-IN" sz="1000" dirty="0"/>
              <a:t>Gene</a:t>
            </a:r>
            <a:br>
              <a:rPr lang="en-IN" sz="1000" dirty="0"/>
            </a:br>
            <a:r>
              <a:rPr lang="en-IN" sz="1000" dirty="0"/>
              <a:t>→ </a:t>
            </a:r>
            <a:r>
              <a:rPr lang="en-IN" sz="1000" dirty="0" err="1"/>
              <a:t>interacts_with</a:t>
            </a:r>
            <a:r>
              <a:rPr lang="en-IN" sz="1000" dirty="0"/>
              <a:t> → Gene</a:t>
            </a:r>
          </a:p>
          <a:p>
            <a:r>
              <a:rPr lang="en-IN" sz="1000" dirty="0" err="1"/>
              <a:t>Gene_Disease_Association</a:t>
            </a:r>
            <a:br>
              <a:rPr lang="en-IN" sz="1000" dirty="0"/>
            </a:br>
            <a:r>
              <a:rPr lang="en-IN" sz="1000" dirty="0"/>
              <a:t>→ </a:t>
            </a:r>
            <a:r>
              <a:rPr lang="en-IN" sz="1000" dirty="0" err="1"/>
              <a:t>supported_by</a:t>
            </a:r>
            <a:r>
              <a:rPr lang="en-IN" sz="1000" dirty="0"/>
              <a:t> → </a:t>
            </a:r>
            <a:r>
              <a:rPr lang="en-IN" sz="1000" dirty="0" err="1"/>
              <a:t>Scientific_Publication</a:t>
            </a:r>
            <a:endParaRPr lang="en-IN" sz="1000" dirty="0"/>
          </a:p>
          <a:p>
            <a:r>
              <a:rPr lang="en-IN" sz="1000" dirty="0" err="1"/>
              <a:t>Scientific_Publication</a:t>
            </a:r>
            <a:br>
              <a:rPr lang="en-IN" sz="1000" dirty="0"/>
            </a:br>
            <a:r>
              <a:rPr lang="en-IN" sz="1000" dirty="0"/>
              <a:t>→ </a:t>
            </a:r>
            <a:r>
              <a:rPr lang="en-IN" sz="1000" dirty="0" err="1"/>
              <a:t>indexed_in</a:t>
            </a:r>
            <a:r>
              <a:rPr lang="en-IN" sz="1000" dirty="0"/>
              <a:t> → </a:t>
            </a:r>
            <a:r>
              <a:rPr lang="en-IN" sz="1000" dirty="0" err="1"/>
              <a:t>Biomedical_Database</a:t>
            </a:r>
            <a:endParaRPr lang="en-IN" sz="1000" dirty="0"/>
          </a:p>
          <a:p>
            <a:r>
              <a:rPr lang="en-IN" sz="1000" dirty="0" err="1"/>
              <a:t>Biomedical_Database</a:t>
            </a:r>
            <a:br>
              <a:rPr lang="en-IN" sz="1000" dirty="0"/>
            </a:br>
            <a:r>
              <a:rPr lang="en-IN" sz="1000" dirty="0"/>
              <a:t>→ </a:t>
            </a:r>
            <a:r>
              <a:rPr lang="en-IN" sz="1000" dirty="0" err="1"/>
              <a:t>integrated_into</a:t>
            </a:r>
            <a:r>
              <a:rPr lang="en-IN" sz="1000" dirty="0"/>
              <a:t> → </a:t>
            </a:r>
            <a:r>
              <a:rPr lang="en-IN" sz="1000" dirty="0" err="1"/>
              <a:t>DisGeNET_Knowledge_Platform</a:t>
            </a:r>
            <a:endParaRPr lang="en-IN" sz="1000" dirty="0"/>
          </a:p>
        </p:txBody>
      </p:sp>
      <p:sp>
        <p:nvSpPr>
          <p:cNvPr id="29" name="TextBox 28">
            <a:extLst>
              <a:ext uri="{FF2B5EF4-FFF2-40B4-BE49-F238E27FC236}">
                <a16:creationId xmlns:a16="http://schemas.microsoft.com/office/drawing/2014/main" id="{533400AD-C861-1039-1CEB-D3B0098E1815}"/>
              </a:ext>
            </a:extLst>
          </p:cNvPr>
          <p:cNvSpPr txBox="1"/>
          <p:nvPr/>
        </p:nvSpPr>
        <p:spPr>
          <a:xfrm>
            <a:off x="4800600" y="471268"/>
            <a:ext cx="4062600" cy="1938992"/>
          </a:xfrm>
          <a:prstGeom prst="rect">
            <a:avLst/>
          </a:prstGeom>
          <a:noFill/>
        </p:spPr>
        <p:txBody>
          <a:bodyPr wrap="square" rtlCol="0">
            <a:spAutoFit/>
          </a:bodyPr>
          <a:lstStyle/>
          <a:p>
            <a:r>
              <a:rPr lang="en-IN" sz="1000" dirty="0"/>
              <a:t>BRCA1</a:t>
            </a:r>
            <a:br>
              <a:rPr lang="en-IN" sz="1000" dirty="0"/>
            </a:br>
            <a:r>
              <a:rPr lang="en-IN" sz="1000" dirty="0"/>
              <a:t>→ </a:t>
            </a:r>
            <a:r>
              <a:rPr lang="en-IN" sz="1000" dirty="0" err="1"/>
              <a:t>associated_with</a:t>
            </a:r>
            <a:r>
              <a:rPr lang="en-IN" sz="1000" dirty="0"/>
              <a:t> → </a:t>
            </a:r>
            <a:r>
              <a:rPr lang="en-IN" sz="1000" dirty="0" err="1"/>
              <a:t>Breast_Cancer</a:t>
            </a:r>
            <a:endParaRPr lang="en-IN" sz="1000" dirty="0"/>
          </a:p>
          <a:p>
            <a:r>
              <a:rPr lang="en-IN" sz="1000" dirty="0"/>
              <a:t>BRCA1</a:t>
            </a:r>
            <a:br>
              <a:rPr lang="en-IN" sz="1000" dirty="0"/>
            </a:br>
            <a:r>
              <a:rPr lang="en-IN" sz="1000" dirty="0"/>
              <a:t>→ </a:t>
            </a:r>
            <a:r>
              <a:rPr lang="en-IN" sz="1000" dirty="0" err="1"/>
              <a:t>participates_in</a:t>
            </a:r>
            <a:r>
              <a:rPr lang="en-IN" sz="1000" dirty="0"/>
              <a:t> → </a:t>
            </a:r>
            <a:r>
              <a:rPr lang="en-IN" sz="1000" dirty="0" err="1"/>
              <a:t>DNA_Repair_Pathway</a:t>
            </a:r>
            <a:endParaRPr lang="en-IN" sz="1000" dirty="0"/>
          </a:p>
          <a:p>
            <a:r>
              <a:rPr lang="en-IN" sz="1000" dirty="0" err="1"/>
              <a:t>DNA_Repair_Pathway</a:t>
            </a:r>
            <a:br>
              <a:rPr lang="en-IN" sz="1000" dirty="0"/>
            </a:br>
            <a:r>
              <a:rPr lang="en-IN" sz="1000" dirty="0"/>
              <a:t>→ </a:t>
            </a:r>
            <a:r>
              <a:rPr lang="en-IN" sz="1000" dirty="0" err="1"/>
              <a:t>involved_in</a:t>
            </a:r>
            <a:r>
              <a:rPr lang="en-IN" sz="1000" dirty="0"/>
              <a:t> → </a:t>
            </a:r>
            <a:r>
              <a:rPr lang="en-IN" sz="1000" dirty="0" err="1"/>
              <a:t>Breast_Cancer</a:t>
            </a:r>
            <a:endParaRPr lang="en-IN" sz="1000" dirty="0"/>
          </a:p>
          <a:p>
            <a:r>
              <a:rPr lang="en-IN" sz="1000" dirty="0"/>
              <a:t>BRCA1</a:t>
            </a:r>
            <a:br>
              <a:rPr lang="en-IN" sz="1000" dirty="0"/>
            </a:br>
            <a:r>
              <a:rPr lang="en-IN" sz="1000" dirty="0"/>
              <a:t>→ </a:t>
            </a:r>
            <a:r>
              <a:rPr lang="en-IN" sz="1000" dirty="0" err="1"/>
              <a:t>interacts_with</a:t>
            </a:r>
            <a:r>
              <a:rPr lang="en-IN" sz="1000" dirty="0"/>
              <a:t> → BRCA2</a:t>
            </a:r>
          </a:p>
          <a:p>
            <a:r>
              <a:rPr lang="en-IN" sz="1000" dirty="0"/>
              <a:t>BRCA1</a:t>
            </a:r>
            <a:br>
              <a:rPr lang="en-IN" sz="1000" dirty="0"/>
            </a:br>
            <a:r>
              <a:rPr lang="en-IN" sz="1000" dirty="0"/>
              <a:t>→ </a:t>
            </a:r>
            <a:r>
              <a:rPr lang="en-IN" sz="1000" dirty="0" err="1"/>
              <a:t>supported_by</a:t>
            </a:r>
            <a:r>
              <a:rPr lang="en-IN" sz="1000" dirty="0"/>
              <a:t> → </a:t>
            </a:r>
            <a:r>
              <a:rPr lang="en-IN" sz="1000" dirty="0" err="1"/>
              <a:t>PubMed_Publication</a:t>
            </a:r>
            <a:endParaRPr lang="en-IN" sz="1000" dirty="0"/>
          </a:p>
          <a:p>
            <a:r>
              <a:rPr lang="en-IN" sz="1000" dirty="0" err="1"/>
              <a:t>Breast_Cancer</a:t>
            </a:r>
            <a:br>
              <a:rPr lang="en-IN" sz="1000" dirty="0"/>
            </a:br>
            <a:r>
              <a:rPr lang="en-IN" sz="1000" dirty="0"/>
              <a:t>→ </a:t>
            </a:r>
            <a:r>
              <a:rPr lang="en-IN" sz="1000" dirty="0" err="1"/>
              <a:t>linked_to</a:t>
            </a:r>
            <a:r>
              <a:rPr lang="en-IN" sz="1000" dirty="0"/>
              <a:t> → </a:t>
            </a:r>
            <a:r>
              <a:rPr lang="en-IN" sz="1000" dirty="0" err="1"/>
              <a:t>Genetic_Variation</a:t>
            </a:r>
            <a:endParaRPr lang="en-IN" sz="1000" dirty="0"/>
          </a:p>
        </p:txBody>
      </p:sp>
      <p:sp>
        <p:nvSpPr>
          <p:cNvPr id="5" name="TextBox 4">
            <a:extLst>
              <a:ext uri="{FF2B5EF4-FFF2-40B4-BE49-F238E27FC236}">
                <a16:creationId xmlns:a16="http://schemas.microsoft.com/office/drawing/2014/main" id="{0D436E8A-3AE9-4522-B941-547180BF4A33}"/>
              </a:ext>
            </a:extLst>
          </p:cNvPr>
          <p:cNvSpPr txBox="1"/>
          <p:nvPr/>
        </p:nvSpPr>
        <p:spPr>
          <a:xfrm>
            <a:off x="4800600" y="243943"/>
            <a:ext cx="1390648" cy="307777"/>
          </a:xfrm>
          <a:prstGeom prst="rect">
            <a:avLst/>
          </a:prstGeom>
          <a:noFill/>
        </p:spPr>
        <p:txBody>
          <a:bodyPr wrap="square" rtlCol="0">
            <a:spAutoFit/>
          </a:bodyPr>
          <a:lstStyle/>
          <a:p>
            <a:r>
              <a:rPr lang="en-US" sz="1400" u="sng" dirty="0"/>
              <a:t>Example</a:t>
            </a:r>
            <a:endParaRPr lang="en-IN" sz="1400" u="sng" dirty="0"/>
          </a:p>
        </p:txBody>
      </p:sp>
      <p:sp>
        <p:nvSpPr>
          <p:cNvPr id="3" name="TextBox 2">
            <a:extLst>
              <a:ext uri="{FF2B5EF4-FFF2-40B4-BE49-F238E27FC236}">
                <a16:creationId xmlns:a16="http://schemas.microsoft.com/office/drawing/2014/main" id="{272A3144-7162-41F1-BEAD-24D5594CCBC2}"/>
              </a:ext>
            </a:extLst>
          </p:cNvPr>
          <p:cNvSpPr txBox="1"/>
          <p:nvPr/>
        </p:nvSpPr>
        <p:spPr>
          <a:xfrm>
            <a:off x="3797300" y="2628900"/>
            <a:ext cx="2584450" cy="2092881"/>
          </a:xfrm>
          <a:prstGeom prst="rect">
            <a:avLst/>
          </a:prstGeom>
          <a:noFill/>
        </p:spPr>
        <p:txBody>
          <a:bodyPr wrap="square" rtlCol="0">
            <a:spAutoFit/>
          </a:bodyPr>
          <a:lstStyle/>
          <a:p>
            <a:r>
              <a:rPr lang="en-US" sz="1000" dirty="0"/>
              <a:t>     Gene</a:t>
            </a:r>
          </a:p>
          <a:p>
            <a:r>
              <a:rPr lang="en-US" sz="1000" dirty="0"/>
              <a:t>         │</a:t>
            </a:r>
          </a:p>
          <a:p>
            <a:r>
              <a:rPr lang="en-US" sz="1000" dirty="0"/>
              <a:t>         │ </a:t>
            </a:r>
            <a:r>
              <a:rPr lang="en-US" sz="1000" dirty="0" err="1"/>
              <a:t>associated_with</a:t>
            </a:r>
            <a:endParaRPr lang="en-US" sz="1000" dirty="0"/>
          </a:p>
          <a:p>
            <a:r>
              <a:rPr lang="en-US" sz="1000" dirty="0"/>
              <a:t>         ▼</a:t>
            </a:r>
          </a:p>
          <a:p>
            <a:r>
              <a:rPr lang="en-US" sz="1000" dirty="0"/>
              <a:t>       Disease</a:t>
            </a:r>
          </a:p>
          <a:p>
            <a:r>
              <a:rPr lang="en-US" sz="1000" dirty="0"/>
              <a:t>         │</a:t>
            </a:r>
          </a:p>
          <a:p>
            <a:r>
              <a:rPr lang="en-US" sz="1000" dirty="0"/>
              <a:t>         │ </a:t>
            </a:r>
            <a:r>
              <a:rPr lang="en-US" sz="1000" dirty="0" err="1"/>
              <a:t>influenced_by</a:t>
            </a:r>
            <a:endParaRPr lang="en-US" sz="1000" dirty="0"/>
          </a:p>
          <a:p>
            <a:r>
              <a:rPr lang="en-US" sz="1000" dirty="0"/>
              <a:t>         ▼</a:t>
            </a:r>
          </a:p>
          <a:p>
            <a:r>
              <a:rPr lang="en-US" sz="1000" dirty="0"/>
              <a:t>  </a:t>
            </a:r>
            <a:r>
              <a:rPr lang="en-US" sz="1000" dirty="0" err="1"/>
              <a:t>Genetic_Variant</a:t>
            </a:r>
            <a:endParaRPr lang="en-US" sz="1000" dirty="0"/>
          </a:p>
          <a:p>
            <a:r>
              <a:rPr lang="en-US" sz="1000" dirty="0"/>
              <a:t>         │</a:t>
            </a:r>
          </a:p>
          <a:p>
            <a:r>
              <a:rPr lang="en-US" sz="1000" dirty="0"/>
              <a:t>         │ </a:t>
            </a:r>
            <a:r>
              <a:rPr lang="en-US" sz="1000" dirty="0" err="1"/>
              <a:t>participates_in</a:t>
            </a:r>
            <a:endParaRPr lang="en-US" sz="1000" dirty="0"/>
          </a:p>
          <a:p>
            <a:r>
              <a:rPr lang="en-US" sz="1000" dirty="0"/>
              <a:t>         ▼</a:t>
            </a:r>
          </a:p>
          <a:p>
            <a:r>
              <a:rPr lang="en-US" sz="1000" dirty="0"/>
              <a:t>   </a:t>
            </a:r>
            <a:r>
              <a:rPr lang="en-US" sz="1000" dirty="0" err="1"/>
              <a:t>Biological_Pathway</a:t>
            </a:r>
            <a:endParaRPr lang="en-IN"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74C3C"/>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4. CIViC</a:t>
            </a:r>
            <a:endParaRPr lang="en-US" sz="2600" dirty="0"/>
          </a:p>
        </p:txBody>
      </p:sp>
      <p:sp>
        <p:nvSpPr>
          <p:cNvPr id="4" name="Text 2"/>
          <p:cNvSpPr/>
          <p:nvPr/>
        </p:nvSpPr>
        <p:spPr>
          <a:xfrm>
            <a:off x="457200" y="960120"/>
            <a:ext cx="8229600" cy="274320"/>
          </a:xfrm>
          <a:prstGeom prst="rect">
            <a:avLst/>
          </a:prstGeom>
          <a:noFill/>
          <a:ln/>
        </p:spPr>
        <p:txBody>
          <a:bodyPr wrap="square" rtlCol="0" anchor="ctr"/>
          <a:lstStyle/>
          <a:p>
            <a:pPr marL="0" indent="0">
              <a:buNone/>
            </a:pPr>
            <a:r>
              <a:rPr lang="en-US" sz="1400" i="1" dirty="0">
                <a:solidFill>
                  <a:srgbClr val="7B8894"/>
                </a:solidFill>
              </a:rPr>
              <a:t>Clinical Variant Interpreter</a:t>
            </a:r>
            <a:endParaRPr lang="en-US" sz="1400" dirty="0"/>
          </a:p>
        </p:txBody>
      </p:sp>
      <p:sp>
        <p:nvSpPr>
          <p:cNvPr id="5" name="Text 3"/>
          <p:cNvSpPr/>
          <p:nvPr/>
        </p:nvSpPr>
        <p:spPr>
          <a:xfrm>
            <a:off x="640080" y="1280160"/>
            <a:ext cx="7863840" cy="256032"/>
          </a:xfrm>
          <a:prstGeom prst="rect">
            <a:avLst/>
          </a:prstGeom>
          <a:noFill/>
          <a:ln/>
        </p:spPr>
        <p:txBody>
          <a:bodyPr wrap="square" rtlCol="0" anchor="ctr"/>
          <a:lstStyle/>
          <a:p>
            <a:r>
              <a:rPr lang="en-US" sz="1300" b="1" dirty="0">
                <a:solidFill>
                  <a:srgbClr val="34495E"/>
                </a:solidFill>
              </a:rPr>
              <a:t>What is it?</a:t>
            </a:r>
            <a:endParaRPr lang="en-US" sz="1300" dirty="0"/>
          </a:p>
        </p:txBody>
      </p:sp>
      <p:sp>
        <p:nvSpPr>
          <p:cNvPr id="6" name="Text 4"/>
          <p:cNvSpPr/>
          <p:nvPr/>
        </p:nvSpPr>
        <p:spPr>
          <a:xfrm>
            <a:off x="640080" y="1534922"/>
            <a:ext cx="7863840" cy="640080"/>
          </a:xfrm>
          <a:prstGeom prst="rect">
            <a:avLst/>
          </a:prstGeom>
          <a:noFill/>
          <a:ln/>
        </p:spPr>
        <p:txBody>
          <a:bodyPr wrap="square" rtlCol="0" anchor="ctr"/>
          <a:lstStyle/>
          <a:p>
            <a:pPr>
              <a:lnSpc>
                <a:spcPts val="1800"/>
              </a:lnSpc>
            </a:pPr>
            <a:r>
              <a:rPr lang="en-US" sz="1200" dirty="0" err="1">
                <a:solidFill>
                  <a:srgbClr val="34495E"/>
                </a:solidFill>
              </a:rPr>
              <a:t>CIViC</a:t>
            </a:r>
            <a:r>
              <a:rPr lang="en-US" sz="1200" dirty="0">
                <a:solidFill>
                  <a:srgbClr val="34495E"/>
                </a:solidFill>
              </a:rPr>
              <a:t> is a community knowledgebase for expert crowdsourcing the clinical interpretation of variants in </a:t>
            </a:r>
            <a:r>
              <a:rPr lang="en-US" sz="1200" dirty="0" err="1">
                <a:solidFill>
                  <a:srgbClr val="34495E"/>
                </a:solidFill>
              </a:rPr>
              <a:t>cancerExpert</a:t>
            </a:r>
            <a:r>
              <a:rPr lang="en-US" sz="1200" dirty="0">
                <a:solidFill>
                  <a:srgbClr val="34495E"/>
                </a:solidFill>
              </a:rPr>
              <a:t>-curated database explaining what specific genetic mutations mean for cancer patients. Each variant gets an evidence level (A through E) like grades in school. Created by clinical experts, not just computers.</a:t>
            </a:r>
            <a:endParaRPr lang="en-US" sz="1200" dirty="0"/>
          </a:p>
        </p:txBody>
      </p:sp>
      <p:sp>
        <p:nvSpPr>
          <p:cNvPr id="7" name="Text 5"/>
          <p:cNvSpPr/>
          <p:nvPr/>
        </p:nvSpPr>
        <p:spPr>
          <a:xfrm>
            <a:off x="640080" y="2468880"/>
            <a:ext cx="7863840" cy="256032"/>
          </a:xfrm>
          <a:prstGeom prst="rect">
            <a:avLst/>
          </a:prstGeom>
          <a:noFill/>
          <a:ln/>
        </p:spPr>
        <p:txBody>
          <a:bodyPr wrap="square" rtlCol="0" anchor="ctr"/>
          <a:lstStyle/>
          <a:p>
            <a:pPr marL="0" indent="0">
              <a:buNone/>
            </a:pPr>
            <a:r>
              <a:rPr lang="en-US" sz="1300" b="1" dirty="0">
                <a:solidFill>
                  <a:srgbClr val="34495E"/>
                </a:solidFill>
              </a:rPr>
              <a:t>Why it matters:</a:t>
            </a:r>
            <a:endParaRPr lang="en-US" sz="1300" dirty="0"/>
          </a:p>
        </p:txBody>
      </p:sp>
      <p:sp>
        <p:nvSpPr>
          <p:cNvPr id="8" name="Text 6"/>
          <p:cNvSpPr/>
          <p:nvPr/>
        </p:nvSpPr>
        <p:spPr>
          <a:xfrm>
            <a:off x="640080" y="2770632"/>
            <a:ext cx="7863840" cy="411480"/>
          </a:xfrm>
          <a:prstGeom prst="rect">
            <a:avLst/>
          </a:prstGeom>
          <a:noFill/>
          <a:ln/>
        </p:spPr>
        <p:txBody>
          <a:bodyPr wrap="square" rtlCol="0" anchor="ctr"/>
          <a:lstStyle/>
          <a:p>
            <a:pPr marL="0" indent="0">
              <a:lnSpc>
                <a:spcPts val="1800"/>
              </a:lnSpc>
              <a:buNone/>
            </a:pPr>
            <a:r>
              <a:rPr lang="en-US" sz="1200" dirty="0">
                <a:solidFill>
                  <a:srgbClr val="34495E"/>
                </a:solidFill>
              </a:rPr>
              <a:t>Translates genetic test results into actionable clinical information. Tells doctors what a mutation means for diagnosis, prognosis, or treatment.</a:t>
            </a:r>
            <a:endParaRPr lang="en-US" sz="1200" dirty="0"/>
          </a:p>
        </p:txBody>
      </p:sp>
      <p:sp>
        <p:nvSpPr>
          <p:cNvPr id="10" name="Text 8"/>
          <p:cNvSpPr/>
          <p:nvPr/>
        </p:nvSpPr>
        <p:spPr>
          <a:xfrm>
            <a:off x="689610" y="3332988"/>
            <a:ext cx="7498080" cy="228600"/>
          </a:xfrm>
          <a:prstGeom prst="rect">
            <a:avLst/>
          </a:prstGeom>
          <a:noFill/>
          <a:ln/>
        </p:spPr>
        <p:txBody>
          <a:bodyPr wrap="square" rtlCol="0" anchor="ctr"/>
          <a:lstStyle/>
          <a:p>
            <a:pPr marL="0" indent="0">
              <a:buNone/>
            </a:pPr>
            <a:r>
              <a:rPr lang="en-US" sz="1200" b="1" dirty="0">
                <a:solidFill>
                  <a:srgbClr val="E74C3C"/>
                </a:solidFill>
              </a:rPr>
              <a:t>Properties:</a:t>
            </a:r>
            <a:endParaRPr lang="en-US" sz="1200" dirty="0"/>
          </a:p>
        </p:txBody>
      </p:sp>
      <p:sp>
        <p:nvSpPr>
          <p:cNvPr id="11" name="Text 9"/>
          <p:cNvSpPr/>
          <p:nvPr/>
        </p:nvSpPr>
        <p:spPr>
          <a:xfrm>
            <a:off x="689610" y="3653028"/>
            <a:ext cx="7498080" cy="146304"/>
          </a:xfrm>
          <a:prstGeom prst="rect">
            <a:avLst/>
          </a:prstGeom>
          <a:noFill/>
          <a:ln/>
        </p:spPr>
        <p:txBody>
          <a:bodyPr wrap="square" rtlCol="0" anchor="ctr"/>
          <a:lstStyle/>
          <a:p>
            <a:pPr marL="0" indent="0">
              <a:buNone/>
            </a:pPr>
            <a:r>
              <a:rPr lang="en-US" sz="1100" dirty="0">
                <a:solidFill>
                  <a:srgbClr val="34495E"/>
                </a:solidFill>
              </a:rPr>
              <a:t>• 9,300+ expert interpretations</a:t>
            </a:r>
            <a:endParaRPr lang="en-US" sz="1100" dirty="0"/>
          </a:p>
        </p:txBody>
      </p:sp>
      <p:sp>
        <p:nvSpPr>
          <p:cNvPr id="12" name="Text 10"/>
          <p:cNvSpPr/>
          <p:nvPr/>
        </p:nvSpPr>
        <p:spPr>
          <a:xfrm>
            <a:off x="689610" y="3849624"/>
            <a:ext cx="7498080" cy="146304"/>
          </a:xfrm>
          <a:prstGeom prst="rect">
            <a:avLst/>
          </a:prstGeom>
          <a:noFill/>
          <a:ln/>
        </p:spPr>
        <p:txBody>
          <a:bodyPr wrap="square" rtlCol="0" anchor="ctr"/>
          <a:lstStyle/>
          <a:p>
            <a:pPr marL="0" indent="0">
              <a:buNone/>
            </a:pPr>
            <a:r>
              <a:rPr lang="en-US" sz="1100" dirty="0">
                <a:solidFill>
                  <a:srgbClr val="34495E"/>
                </a:solidFill>
              </a:rPr>
              <a:t>• Evidence levels: A (proven) to E (theory)</a:t>
            </a:r>
            <a:endParaRPr lang="en-US" sz="1100" dirty="0"/>
          </a:p>
        </p:txBody>
      </p:sp>
      <p:sp>
        <p:nvSpPr>
          <p:cNvPr id="13" name="Text 11"/>
          <p:cNvSpPr/>
          <p:nvPr/>
        </p:nvSpPr>
        <p:spPr>
          <a:xfrm>
            <a:off x="689610" y="4044188"/>
            <a:ext cx="7498080" cy="146304"/>
          </a:xfrm>
          <a:prstGeom prst="rect">
            <a:avLst/>
          </a:prstGeom>
          <a:noFill/>
          <a:ln/>
        </p:spPr>
        <p:txBody>
          <a:bodyPr wrap="square" rtlCol="0" anchor="ctr"/>
          <a:lstStyle/>
          <a:p>
            <a:pPr marL="0" indent="0">
              <a:buNone/>
            </a:pPr>
            <a:r>
              <a:rPr lang="en-US" sz="1100" dirty="0">
                <a:solidFill>
                  <a:srgbClr val="34495E"/>
                </a:solidFill>
              </a:rPr>
              <a:t>• Community of clinical experts</a:t>
            </a:r>
            <a:endParaRPr lang="en-US" sz="1100" dirty="0"/>
          </a:p>
        </p:txBody>
      </p:sp>
      <p:sp>
        <p:nvSpPr>
          <p:cNvPr id="14" name="Text 12"/>
          <p:cNvSpPr/>
          <p:nvPr/>
        </p:nvSpPr>
        <p:spPr>
          <a:xfrm>
            <a:off x="689610" y="4224528"/>
            <a:ext cx="7498080" cy="146304"/>
          </a:xfrm>
          <a:prstGeom prst="rect">
            <a:avLst/>
          </a:prstGeom>
          <a:noFill/>
          <a:ln/>
        </p:spPr>
        <p:txBody>
          <a:bodyPr wrap="square" rtlCol="0" anchor="ctr"/>
          <a:lstStyle/>
          <a:p>
            <a:pPr marL="0" indent="0">
              <a:buNone/>
            </a:pPr>
            <a:r>
              <a:rPr lang="en-US" sz="1100" dirty="0">
                <a:solidFill>
                  <a:srgbClr val="34495E"/>
                </a:solidFill>
              </a:rPr>
              <a:t>• Updated continuously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3880" y="185448"/>
            <a:ext cx="7863840" cy="365760"/>
          </a:xfrm>
          <a:prstGeom prst="rect">
            <a:avLst/>
          </a:prstGeom>
          <a:noFill/>
          <a:ln/>
        </p:spPr>
        <p:txBody>
          <a:bodyPr wrap="square" rtlCol="0" anchor="ctr"/>
          <a:lstStyle/>
          <a:p>
            <a:pPr marL="0" indent="0">
              <a:buNone/>
            </a:pPr>
            <a:r>
              <a:rPr lang="en-US" sz="2400" b="1" dirty="0">
                <a:solidFill>
                  <a:srgbClr val="2C3E50"/>
                </a:solidFill>
              </a:rPr>
              <a:t>4. CIViC - Structure</a:t>
            </a:r>
            <a:endParaRPr lang="en-US" sz="2400" dirty="0"/>
          </a:p>
        </p:txBody>
      </p:sp>
      <p:sp>
        <p:nvSpPr>
          <p:cNvPr id="4" name="Text 2"/>
          <p:cNvSpPr/>
          <p:nvPr/>
        </p:nvSpPr>
        <p:spPr>
          <a:xfrm>
            <a:off x="640080" y="532930"/>
            <a:ext cx="3657600" cy="256032"/>
          </a:xfrm>
          <a:prstGeom prst="rect">
            <a:avLst/>
          </a:prstGeom>
          <a:noFill/>
          <a:ln/>
        </p:spPr>
        <p:txBody>
          <a:bodyPr wrap="square" rtlCol="0" anchor="ctr"/>
          <a:lstStyle/>
          <a:p>
            <a:pPr marL="0" indent="0">
              <a:buNone/>
            </a:pPr>
            <a:r>
              <a:rPr lang="en-US" sz="1300" b="1" dirty="0">
                <a:solidFill>
                  <a:srgbClr val="27AE60"/>
                </a:solidFill>
              </a:rPr>
              <a:t>What it contains (Nodes):</a:t>
            </a:r>
            <a:endParaRPr lang="en-US" sz="1300" dirty="0"/>
          </a:p>
        </p:txBody>
      </p:sp>
      <p:sp>
        <p:nvSpPr>
          <p:cNvPr id="6" name="Text 4"/>
          <p:cNvSpPr/>
          <p:nvPr/>
        </p:nvSpPr>
        <p:spPr>
          <a:xfrm>
            <a:off x="4770120" y="640509"/>
            <a:ext cx="3657600" cy="256032"/>
          </a:xfrm>
          <a:prstGeom prst="rect">
            <a:avLst/>
          </a:prstGeom>
          <a:noFill/>
          <a:ln/>
        </p:spPr>
        <p:txBody>
          <a:bodyPr wrap="square" rtlCol="0" anchor="ctr"/>
          <a:lstStyle/>
          <a:p>
            <a:pPr marL="0" indent="0">
              <a:buNone/>
            </a:pPr>
            <a:r>
              <a:rPr lang="en-US" sz="1300" b="1" dirty="0">
                <a:solidFill>
                  <a:srgbClr val="5DADE2"/>
                </a:solidFill>
              </a:rPr>
              <a:t>How things connect (Edges):</a:t>
            </a:r>
            <a:endParaRPr lang="en-US" sz="1300" dirty="0"/>
          </a:p>
        </p:txBody>
      </p:sp>
      <p:sp>
        <p:nvSpPr>
          <p:cNvPr id="7" name="Text 5"/>
          <p:cNvSpPr/>
          <p:nvPr/>
        </p:nvSpPr>
        <p:spPr>
          <a:xfrm>
            <a:off x="4770120" y="658736"/>
            <a:ext cx="3474720" cy="2292942"/>
          </a:xfrm>
          <a:prstGeom prst="rect">
            <a:avLst/>
          </a:prstGeom>
          <a:noFill/>
          <a:ln/>
        </p:spPr>
        <p:txBody>
          <a:bodyPr wrap="square" rtlCol="0" anchor="ctr"/>
          <a:lstStyle/>
          <a:p>
            <a:pPr marL="285750" indent="-285750">
              <a:buFont typeface="Arial" panose="020B0604020202020204" pitchFamily="34" charset="0"/>
              <a:buChar char="•"/>
            </a:pPr>
            <a:r>
              <a:rPr lang="en-IN" sz="1100" dirty="0" err="1"/>
              <a:t>mutated_in</a:t>
            </a:r>
            <a:r>
              <a:rPr lang="en-IN" sz="1100" dirty="0"/>
              <a:t> (Gene mutated in cancer)</a:t>
            </a:r>
          </a:p>
          <a:p>
            <a:pPr marL="285750" indent="-285750">
              <a:buFont typeface="Arial" panose="020B0604020202020204" pitchFamily="34" charset="0"/>
              <a:buChar char="•"/>
            </a:pPr>
            <a:r>
              <a:rPr lang="en-IN" sz="1100" dirty="0" err="1"/>
              <a:t>occurs_in</a:t>
            </a:r>
            <a:r>
              <a:rPr lang="en-IN" sz="1100" dirty="0"/>
              <a:t> (</a:t>
            </a:r>
            <a:r>
              <a:rPr lang="en-US" sz="1100" dirty="0"/>
              <a:t>Mutation occurs in tumor sample</a:t>
            </a:r>
            <a:r>
              <a:rPr lang="en-IN" sz="1100" dirty="0"/>
              <a:t>)</a:t>
            </a:r>
          </a:p>
          <a:p>
            <a:pPr marL="285750" indent="-285750">
              <a:buFont typeface="Arial" panose="020B0604020202020204" pitchFamily="34" charset="0"/>
              <a:buChar char="•"/>
            </a:pPr>
            <a:r>
              <a:rPr lang="en-IN" sz="1100" dirty="0" err="1"/>
              <a:t>associated_with</a:t>
            </a:r>
            <a:r>
              <a:rPr lang="en-IN" sz="1100" dirty="0"/>
              <a:t> (</a:t>
            </a:r>
            <a:r>
              <a:rPr lang="en-US" sz="1100" dirty="0"/>
              <a:t>Mutation linked to cancer type</a:t>
            </a:r>
            <a:r>
              <a:rPr lang="en-IN" sz="1100" dirty="0"/>
              <a:t>)</a:t>
            </a:r>
          </a:p>
          <a:p>
            <a:pPr marL="285750" indent="-285750">
              <a:buFont typeface="Arial" panose="020B0604020202020204" pitchFamily="34" charset="0"/>
              <a:buChar char="•"/>
            </a:pPr>
            <a:r>
              <a:rPr lang="en-IN" sz="1100" dirty="0"/>
              <a:t>affects (Mutation affects protein function)</a:t>
            </a:r>
          </a:p>
          <a:p>
            <a:pPr marL="285750" indent="-285750">
              <a:buFont typeface="Arial" panose="020B0604020202020204" pitchFamily="34" charset="0"/>
              <a:buChar char="•"/>
            </a:pPr>
            <a:r>
              <a:rPr lang="en-IN" sz="1100" dirty="0" err="1"/>
              <a:t>involved_in</a:t>
            </a:r>
            <a:r>
              <a:rPr lang="en-IN" sz="1100" dirty="0"/>
              <a:t> (Gene participates in pathway</a:t>
            </a:r>
            <a:r>
              <a:rPr lang="en-US" sz="1100" dirty="0"/>
              <a:t>)</a:t>
            </a:r>
          </a:p>
          <a:p>
            <a:pPr marL="285750" indent="-285750">
              <a:buFont typeface="Arial" panose="020B0604020202020204" pitchFamily="34" charset="0"/>
              <a:buChar char="•"/>
            </a:pPr>
            <a:r>
              <a:rPr lang="en-IN" sz="1100" dirty="0" err="1"/>
              <a:t>derived_from</a:t>
            </a:r>
            <a:r>
              <a:rPr lang="en-IN" sz="1100" dirty="0"/>
              <a:t> (Data derived from experiment)</a:t>
            </a:r>
          </a:p>
          <a:p>
            <a:pPr marL="285750" indent="-285750">
              <a:buFont typeface="Arial" panose="020B0604020202020204" pitchFamily="34" charset="0"/>
              <a:buChar char="•"/>
            </a:pPr>
            <a:r>
              <a:rPr lang="en-IN" sz="1100" dirty="0" err="1"/>
              <a:t>supported_by</a:t>
            </a:r>
            <a:r>
              <a:rPr lang="en-IN" sz="1100" dirty="0"/>
              <a:t> (Evidence from literature)</a:t>
            </a:r>
          </a:p>
        </p:txBody>
      </p:sp>
      <p:sp>
        <p:nvSpPr>
          <p:cNvPr id="9" name="Text 7"/>
          <p:cNvSpPr/>
          <p:nvPr/>
        </p:nvSpPr>
        <p:spPr>
          <a:xfrm>
            <a:off x="605709" y="4367992"/>
            <a:ext cx="7498080" cy="228600"/>
          </a:xfrm>
          <a:prstGeom prst="rect">
            <a:avLst/>
          </a:prstGeom>
          <a:noFill/>
          <a:ln/>
        </p:spPr>
        <p:txBody>
          <a:bodyPr wrap="square" rtlCol="0" anchor="ctr"/>
          <a:lstStyle/>
          <a:p>
            <a:pPr marL="0" indent="0">
              <a:buNone/>
            </a:pPr>
            <a:r>
              <a:rPr lang="en-US" sz="1100" b="1" dirty="0">
                <a:solidFill>
                  <a:srgbClr val="3498DB"/>
                </a:solidFill>
              </a:rPr>
              <a:t>Paper:</a:t>
            </a:r>
            <a:endParaRPr lang="en-US" sz="1100" dirty="0"/>
          </a:p>
        </p:txBody>
      </p:sp>
      <p:sp>
        <p:nvSpPr>
          <p:cNvPr id="10" name="Text 8"/>
          <p:cNvSpPr/>
          <p:nvPr/>
        </p:nvSpPr>
        <p:spPr>
          <a:xfrm>
            <a:off x="1082040" y="4313421"/>
            <a:ext cx="7498080" cy="320040"/>
          </a:xfrm>
          <a:prstGeom prst="rect">
            <a:avLst/>
          </a:prstGeom>
          <a:noFill/>
          <a:ln/>
        </p:spPr>
        <p:txBody>
          <a:bodyPr wrap="square" rtlCol="0" anchor="ctr"/>
          <a:lstStyle/>
          <a:p>
            <a:pPr marL="0" indent="0">
              <a:lnSpc>
                <a:spcPts val="1400"/>
              </a:lnSpc>
              <a:buNone/>
            </a:pPr>
            <a:r>
              <a:rPr lang="en-US" sz="1000" dirty="0">
                <a:solidFill>
                  <a:srgbClr val="34495E"/>
                </a:solidFill>
              </a:rPr>
              <a:t>Griffith et al. (2017). 'CIViC is a community knowledgebase for expert crowdsourcing the clinical interpretation of variants in cancer.'</a:t>
            </a:r>
            <a:endParaRPr lang="en-US" sz="1000" dirty="0"/>
          </a:p>
        </p:txBody>
      </p:sp>
      <p:sp>
        <p:nvSpPr>
          <p:cNvPr id="11" name="Text 9">
            <a:hlinkClick r:id="rId3"/>
          </p:cNvPr>
          <p:cNvSpPr/>
          <p:nvPr/>
        </p:nvSpPr>
        <p:spPr>
          <a:xfrm>
            <a:off x="1082040" y="4581020"/>
            <a:ext cx="7498080" cy="182880"/>
          </a:xfrm>
          <a:prstGeom prst="rect">
            <a:avLst/>
          </a:prstGeom>
          <a:noFill/>
          <a:ln/>
        </p:spPr>
        <p:txBody>
          <a:bodyPr wrap="square" rtlCol="0" anchor="ctr"/>
          <a:lstStyle/>
          <a:p>
            <a:pPr marL="0" indent="0">
              <a:buNone/>
            </a:pPr>
            <a:r>
              <a:rPr lang="en-US" sz="900" u="sng" dirty="0">
                <a:solidFill>
                  <a:srgbClr val="3498DB"/>
                </a:solidFill>
                <a:hlinkClick r:id="rId3">
                  <a:extLst>
                    <a:ext uri="{A12FA001-AC4F-418D-AE19-62706E023703}">
                      <ahyp:hlinkClr xmlns:ahyp="http://schemas.microsoft.com/office/drawing/2018/hyperlinkcolor" val="tx"/>
                    </a:ext>
                  </a:extLst>
                </a:hlinkClick>
              </a:rPr>
              <a:t>https://doi.org/10.1038/ng.3774</a:t>
            </a:r>
            <a:endParaRPr lang="en-US" sz="900" dirty="0"/>
          </a:p>
        </p:txBody>
      </p:sp>
      <p:sp>
        <p:nvSpPr>
          <p:cNvPr id="13" name="Text 11">
            <a:hlinkClick r:id="rId4"/>
          </p:cNvPr>
          <p:cNvSpPr/>
          <p:nvPr/>
        </p:nvSpPr>
        <p:spPr>
          <a:xfrm>
            <a:off x="1082040" y="4673916"/>
            <a:ext cx="7498080" cy="320040"/>
          </a:xfrm>
          <a:prstGeom prst="rect">
            <a:avLst/>
          </a:prstGeom>
          <a:noFill/>
          <a:ln/>
        </p:spPr>
        <p:txBody>
          <a:bodyPr wrap="square" rtlCol="0" anchor="ctr"/>
          <a:lstStyle/>
          <a:p>
            <a:pPr marL="0" indent="0">
              <a:buNone/>
            </a:pPr>
            <a:r>
              <a:rPr lang="en-US" sz="900" u="sng" dirty="0">
                <a:solidFill>
                  <a:srgbClr val="3498DB"/>
                </a:solidFill>
                <a:hlinkClick r:id="rId4">
                  <a:extLst>
                    <a:ext uri="{A12FA001-AC4F-418D-AE19-62706E023703}">
                      <ahyp:hlinkClr xmlns:ahyp="http://schemas.microsoft.com/office/drawing/2018/hyperlinkcolor" val="tx"/>
                    </a:ext>
                  </a:extLst>
                </a:hlinkClick>
              </a:rPr>
              <a:t>https://civicdb.org/ | https://github.com/griffithlab/civic-server</a:t>
            </a:r>
            <a:endParaRPr lang="en-US" sz="900" dirty="0"/>
          </a:p>
        </p:txBody>
      </p:sp>
      <p:sp>
        <p:nvSpPr>
          <p:cNvPr id="15" name="TextBox 14">
            <a:extLst>
              <a:ext uri="{FF2B5EF4-FFF2-40B4-BE49-F238E27FC236}">
                <a16:creationId xmlns:a16="http://schemas.microsoft.com/office/drawing/2014/main" id="{C2038D70-C40B-4739-9A70-3A984E80F986}"/>
              </a:ext>
            </a:extLst>
          </p:cNvPr>
          <p:cNvSpPr txBox="1"/>
          <p:nvPr/>
        </p:nvSpPr>
        <p:spPr>
          <a:xfrm>
            <a:off x="716280" y="794609"/>
            <a:ext cx="2580640" cy="3631763"/>
          </a:xfrm>
          <a:prstGeom prst="rect">
            <a:avLst/>
          </a:prstGeom>
          <a:noFill/>
        </p:spPr>
        <p:txBody>
          <a:bodyPr wrap="square" rtlCol="0">
            <a:spAutoFit/>
          </a:bodyPr>
          <a:lstStyle/>
          <a:p>
            <a:r>
              <a:rPr lang="en-IN" sz="1000" b="1" dirty="0"/>
              <a:t>Cancer Entities</a:t>
            </a:r>
          </a:p>
          <a:p>
            <a:r>
              <a:rPr lang="en-IN" sz="1000" dirty="0"/>
              <a:t>Cancer Type</a:t>
            </a:r>
          </a:p>
          <a:p>
            <a:r>
              <a:rPr lang="en-IN" sz="1000" dirty="0" err="1"/>
              <a:t>Tumor</a:t>
            </a:r>
            <a:r>
              <a:rPr lang="en-IN" sz="1000" dirty="0"/>
              <a:t> Type</a:t>
            </a:r>
          </a:p>
          <a:p>
            <a:r>
              <a:rPr lang="en-IN" sz="1000" dirty="0"/>
              <a:t>Tissue Type</a:t>
            </a:r>
          </a:p>
          <a:p>
            <a:r>
              <a:rPr lang="en-IN" sz="1000" dirty="0"/>
              <a:t>Cancer Subtype</a:t>
            </a:r>
          </a:p>
          <a:p>
            <a:r>
              <a:rPr lang="en-IN" sz="1000" b="1" dirty="0"/>
              <a:t>Genomic Entities</a:t>
            </a:r>
          </a:p>
          <a:p>
            <a:r>
              <a:rPr lang="en-IN" sz="1000" dirty="0"/>
              <a:t>Gene</a:t>
            </a:r>
          </a:p>
          <a:p>
            <a:r>
              <a:rPr lang="en-IN" sz="1000" dirty="0"/>
              <a:t>Somatic Mutation</a:t>
            </a:r>
          </a:p>
          <a:p>
            <a:r>
              <a:rPr lang="en-IN" sz="1000" dirty="0"/>
              <a:t>Variant</a:t>
            </a:r>
          </a:p>
          <a:p>
            <a:r>
              <a:rPr lang="en-IN" sz="1000" dirty="0"/>
              <a:t>Gene Fusion</a:t>
            </a:r>
          </a:p>
          <a:p>
            <a:r>
              <a:rPr lang="en-IN" sz="1000" dirty="0"/>
              <a:t>Copy Number Variant</a:t>
            </a:r>
          </a:p>
          <a:p>
            <a:r>
              <a:rPr lang="en-IN" sz="1000" b="1" dirty="0"/>
              <a:t>Sample Entities</a:t>
            </a:r>
          </a:p>
          <a:p>
            <a:r>
              <a:rPr lang="en-IN" sz="1000" dirty="0" err="1"/>
              <a:t>Tumor</a:t>
            </a:r>
            <a:r>
              <a:rPr lang="en-IN" sz="1000" dirty="0"/>
              <a:t> Sample</a:t>
            </a:r>
          </a:p>
          <a:p>
            <a:r>
              <a:rPr lang="en-IN" sz="1000" dirty="0"/>
              <a:t>Cell Line</a:t>
            </a:r>
          </a:p>
          <a:p>
            <a:r>
              <a:rPr lang="en-IN" sz="1000" dirty="0"/>
              <a:t>Patient Sample</a:t>
            </a:r>
          </a:p>
          <a:p>
            <a:r>
              <a:rPr lang="en-IN" sz="1000" b="1" dirty="0"/>
              <a:t>Molecular Entities</a:t>
            </a:r>
          </a:p>
          <a:p>
            <a:r>
              <a:rPr lang="en-IN" sz="1000" dirty="0"/>
              <a:t>Protein</a:t>
            </a:r>
          </a:p>
          <a:p>
            <a:r>
              <a:rPr lang="en-IN" sz="1000" dirty="0"/>
              <a:t>Biological Pathway</a:t>
            </a:r>
          </a:p>
          <a:p>
            <a:r>
              <a:rPr lang="en-IN" sz="1000" dirty="0"/>
              <a:t>Functional Domain</a:t>
            </a:r>
          </a:p>
          <a:p>
            <a:r>
              <a:rPr lang="en-IN" sz="1000" b="1" dirty="0"/>
              <a:t>Evidence Entities</a:t>
            </a:r>
          </a:p>
          <a:p>
            <a:r>
              <a:rPr lang="en-IN" sz="1000" dirty="0"/>
              <a:t>Scientific Publication</a:t>
            </a:r>
          </a:p>
          <a:p>
            <a:r>
              <a:rPr lang="en-IN" sz="1000" dirty="0"/>
              <a:t>Experimental Dataset</a:t>
            </a:r>
          </a:p>
          <a:p>
            <a:r>
              <a:rPr lang="en-IN" sz="1000" dirty="0"/>
              <a:t>Sequencing Study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320040"/>
          </a:xfrm>
          <a:prstGeom prst="rect">
            <a:avLst/>
          </a:prstGeom>
          <a:noFill/>
          <a:ln/>
        </p:spPr>
        <p:txBody>
          <a:bodyPr wrap="square" rtlCol="0" anchor="ctr"/>
          <a:lstStyle/>
          <a:p>
            <a:pPr marL="0" indent="0">
              <a:buNone/>
            </a:pPr>
            <a:r>
              <a:rPr lang="en-US" sz="2200" b="1" dirty="0">
                <a:solidFill>
                  <a:srgbClr val="2C3E50"/>
                </a:solidFill>
              </a:rPr>
              <a:t>4. CIViC - Visual Example</a:t>
            </a:r>
            <a:endParaRPr lang="en-US" sz="2200" dirty="0"/>
          </a:p>
        </p:txBody>
      </p:sp>
      <p:sp>
        <p:nvSpPr>
          <p:cNvPr id="18" name="TextBox 17">
            <a:extLst>
              <a:ext uri="{FF2B5EF4-FFF2-40B4-BE49-F238E27FC236}">
                <a16:creationId xmlns:a16="http://schemas.microsoft.com/office/drawing/2014/main" id="{26AD70B7-2E82-4B89-8B6D-EA9522855500}"/>
              </a:ext>
            </a:extLst>
          </p:cNvPr>
          <p:cNvSpPr txBox="1"/>
          <p:nvPr/>
        </p:nvSpPr>
        <p:spPr>
          <a:xfrm>
            <a:off x="762000" y="844550"/>
            <a:ext cx="3568700" cy="2554545"/>
          </a:xfrm>
          <a:prstGeom prst="rect">
            <a:avLst/>
          </a:prstGeom>
          <a:noFill/>
        </p:spPr>
        <p:txBody>
          <a:bodyPr wrap="square" rtlCol="0">
            <a:spAutoFit/>
          </a:bodyPr>
          <a:lstStyle/>
          <a:p>
            <a:r>
              <a:rPr lang="en-IN" sz="1000" dirty="0" err="1"/>
              <a:t>Cancer_Disease</a:t>
            </a:r>
            <a:br>
              <a:rPr lang="en-IN" sz="1000" dirty="0"/>
            </a:br>
            <a:r>
              <a:rPr lang="en-IN" sz="1000" dirty="0"/>
              <a:t>→ </a:t>
            </a:r>
            <a:r>
              <a:rPr lang="en-IN" sz="1000" dirty="0" err="1"/>
              <a:t>associated_with</a:t>
            </a:r>
            <a:r>
              <a:rPr lang="en-IN" sz="1000" dirty="0"/>
              <a:t> → Gene</a:t>
            </a:r>
          </a:p>
          <a:p>
            <a:r>
              <a:rPr lang="en-IN" sz="1000" dirty="0"/>
              <a:t>Gene</a:t>
            </a:r>
            <a:br>
              <a:rPr lang="en-IN" sz="1000" dirty="0"/>
            </a:br>
            <a:r>
              <a:rPr lang="en-IN" sz="1000" dirty="0"/>
              <a:t>→ </a:t>
            </a:r>
            <a:r>
              <a:rPr lang="en-IN" sz="1000" dirty="0" err="1"/>
              <a:t>has_variant</a:t>
            </a:r>
            <a:r>
              <a:rPr lang="en-IN" sz="1000" dirty="0"/>
              <a:t> → </a:t>
            </a:r>
            <a:r>
              <a:rPr lang="en-IN" sz="1000" dirty="0" err="1"/>
              <a:t>Genetic_Variant</a:t>
            </a:r>
            <a:endParaRPr lang="en-IN" sz="1000" dirty="0"/>
          </a:p>
          <a:p>
            <a:r>
              <a:rPr lang="en-IN" sz="1000" dirty="0" err="1"/>
              <a:t>Genetic_Variant</a:t>
            </a:r>
            <a:br>
              <a:rPr lang="en-IN" sz="1000" dirty="0"/>
            </a:br>
            <a:r>
              <a:rPr lang="en-IN" sz="1000" dirty="0"/>
              <a:t>→ </a:t>
            </a:r>
            <a:r>
              <a:rPr lang="en-IN" sz="1000" dirty="0" err="1"/>
              <a:t>interpreted_as</a:t>
            </a:r>
            <a:r>
              <a:rPr lang="en-IN" sz="1000" dirty="0"/>
              <a:t> → </a:t>
            </a:r>
            <a:r>
              <a:rPr lang="en-IN" sz="1000" dirty="0" err="1"/>
              <a:t>Clinical_Interpretation</a:t>
            </a:r>
            <a:endParaRPr lang="en-IN" sz="1000" dirty="0"/>
          </a:p>
          <a:p>
            <a:r>
              <a:rPr lang="en-IN" sz="1000" dirty="0" err="1"/>
              <a:t>Clinical_Interpretation</a:t>
            </a:r>
            <a:br>
              <a:rPr lang="en-IN" sz="1000" dirty="0"/>
            </a:br>
            <a:r>
              <a:rPr lang="en-IN" sz="1000" dirty="0"/>
              <a:t>→ </a:t>
            </a:r>
            <a:r>
              <a:rPr lang="en-IN" sz="1000" dirty="0" err="1"/>
              <a:t>predicts_response</a:t>
            </a:r>
            <a:r>
              <a:rPr lang="en-IN" sz="1000" dirty="0"/>
              <a:t> → Drug</a:t>
            </a:r>
          </a:p>
          <a:p>
            <a:r>
              <a:rPr lang="en-IN" sz="1000" dirty="0"/>
              <a:t>Drug</a:t>
            </a:r>
            <a:br>
              <a:rPr lang="en-IN" sz="1000" dirty="0"/>
            </a:br>
            <a:r>
              <a:rPr lang="en-IN" sz="1000" dirty="0"/>
              <a:t>→ </a:t>
            </a:r>
            <a:r>
              <a:rPr lang="en-IN" sz="1000" dirty="0" err="1"/>
              <a:t>used_in</a:t>
            </a:r>
            <a:r>
              <a:rPr lang="en-IN" sz="1000" dirty="0"/>
              <a:t> → </a:t>
            </a:r>
            <a:r>
              <a:rPr lang="en-IN" sz="1000" dirty="0" err="1"/>
              <a:t>Cancer_Therapy</a:t>
            </a:r>
            <a:endParaRPr lang="en-IN" sz="1000" dirty="0"/>
          </a:p>
          <a:p>
            <a:r>
              <a:rPr lang="en-IN" sz="1000" dirty="0" err="1"/>
              <a:t>Genetic_Variant</a:t>
            </a:r>
            <a:br>
              <a:rPr lang="en-IN" sz="1000" dirty="0"/>
            </a:br>
            <a:r>
              <a:rPr lang="en-IN" sz="1000" dirty="0"/>
              <a:t>→ </a:t>
            </a:r>
            <a:r>
              <a:rPr lang="en-IN" sz="1000" dirty="0" err="1"/>
              <a:t>supported_by</a:t>
            </a:r>
            <a:r>
              <a:rPr lang="en-IN" sz="1000" dirty="0"/>
              <a:t> → </a:t>
            </a:r>
            <a:r>
              <a:rPr lang="en-IN" sz="1000" dirty="0" err="1"/>
              <a:t>Evidence_Record</a:t>
            </a:r>
            <a:endParaRPr lang="en-IN" sz="1000" dirty="0"/>
          </a:p>
          <a:p>
            <a:r>
              <a:rPr lang="en-IN" sz="1000" dirty="0" err="1"/>
              <a:t>Evidence_Record</a:t>
            </a:r>
            <a:br>
              <a:rPr lang="en-IN" sz="1000" dirty="0"/>
            </a:br>
            <a:r>
              <a:rPr lang="en-IN" sz="1000" dirty="0"/>
              <a:t>→ </a:t>
            </a:r>
            <a:r>
              <a:rPr lang="en-IN" sz="1000" dirty="0" err="1"/>
              <a:t>derived_from</a:t>
            </a:r>
            <a:r>
              <a:rPr lang="en-IN" sz="1000" dirty="0"/>
              <a:t> → </a:t>
            </a:r>
            <a:r>
              <a:rPr lang="en-IN" sz="1000" dirty="0" err="1"/>
              <a:t>Scientific_Publication</a:t>
            </a:r>
            <a:endParaRPr lang="en-IN" sz="1000" dirty="0"/>
          </a:p>
          <a:p>
            <a:r>
              <a:rPr lang="en-IN" sz="1000" dirty="0" err="1"/>
              <a:t>Scientific_Publication</a:t>
            </a:r>
            <a:br>
              <a:rPr lang="en-IN" sz="1000" dirty="0"/>
            </a:br>
            <a:r>
              <a:rPr lang="en-IN" sz="1000" dirty="0"/>
              <a:t>→ </a:t>
            </a:r>
            <a:r>
              <a:rPr lang="en-IN" sz="1000" dirty="0" err="1"/>
              <a:t>contributes_to</a:t>
            </a:r>
            <a:r>
              <a:rPr lang="en-IN" sz="1000" dirty="0"/>
              <a:t> → </a:t>
            </a:r>
            <a:r>
              <a:rPr lang="en-IN" sz="1000" dirty="0" err="1"/>
              <a:t>CIViC_Knowledgebase</a:t>
            </a:r>
            <a:endParaRPr lang="en-IN" sz="1000" dirty="0"/>
          </a:p>
        </p:txBody>
      </p:sp>
      <p:sp>
        <p:nvSpPr>
          <p:cNvPr id="19" name="TextBox 18">
            <a:extLst>
              <a:ext uri="{FF2B5EF4-FFF2-40B4-BE49-F238E27FC236}">
                <a16:creationId xmlns:a16="http://schemas.microsoft.com/office/drawing/2014/main" id="{BC6A004C-A166-41C4-835C-B9615FC15F35}"/>
              </a:ext>
            </a:extLst>
          </p:cNvPr>
          <p:cNvSpPr txBox="1"/>
          <p:nvPr/>
        </p:nvSpPr>
        <p:spPr>
          <a:xfrm>
            <a:off x="5553711" y="844550"/>
            <a:ext cx="3568700" cy="2308324"/>
          </a:xfrm>
          <a:prstGeom prst="rect">
            <a:avLst/>
          </a:prstGeom>
          <a:noFill/>
        </p:spPr>
        <p:txBody>
          <a:bodyPr wrap="square" rtlCol="0">
            <a:spAutoFit/>
          </a:bodyPr>
          <a:lstStyle/>
          <a:p>
            <a:r>
              <a:rPr lang="en-IN" sz="1200" dirty="0"/>
              <a:t>BRAF</a:t>
            </a:r>
            <a:br>
              <a:rPr lang="en-IN" sz="1200" dirty="0"/>
            </a:br>
            <a:r>
              <a:rPr lang="en-IN" sz="1200" dirty="0"/>
              <a:t>→ </a:t>
            </a:r>
            <a:r>
              <a:rPr lang="en-IN" sz="1200" dirty="0" err="1"/>
              <a:t>has_variant</a:t>
            </a:r>
            <a:r>
              <a:rPr lang="en-IN" sz="1200" dirty="0"/>
              <a:t> → BRAF_V600E</a:t>
            </a:r>
          </a:p>
          <a:p>
            <a:r>
              <a:rPr lang="en-IN" sz="1200" dirty="0"/>
              <a:t>BRAF_V600E</a:t>
            </a:r>
            <a:br>
              <a:rPr lang="en-IN" sz="1200" dirty="0"/>
            </a:br>
            <a:r>
              <a:rPr lang="en-IN" sz="1200" dirty="0"/>
              <a:t>→ </a:t>
            </a:r>
            <a:r>
              <a:rPr lang="en-IN" sz="1200" dirty="0" err="1"/>
              <a:t>associated_with</a:t>
            </a:r>
            <a:r>
              <a:rPr lang="en-IN" sz="1200" dirty="0"/>
              <a:t> → Melanoma</a:t>
            </a:r>
          </a:p>
          <a:p>
            <a:r>
              <a:rPr lang="en-IN" sz="1200" dirty="0"/>
              <a:t>BRAF_V600E</a:t>
            </a:r>
            <a:br>
              <a:rPr lang="en-IN" sz="1200" dirty="0"/>
            </a:br>
            <a:r>
              <a:rPr lang="en-IN" sz="1200" dirty="0"/>
              <a:t>→ </a:t>
            </a:r>
            <a:r>
              <a:rPr lang="en-IN" sz="1200" dirty="0" err="1"/>
              <a:t>predicts_response</a:t>
            </a:r>
            <a:r>
              <a:rPr lang="en-IN" sz="1200" dirty="0"/>
              <a:t> → Vemurafenib</a:t>
            </a:r>
          </a:p>
          <a:p>
            <a:r>
              <a:rPr lang="en-IN" sz="1200" dirty="0"/>
              <a:t>Vemurafenib</a:t>
            </a:r>
            <a:br>
              <a:rPr lang="en-IN" sz="1200" dirty="0"/>
            </a:br>
            <a:r>
              <a:rPr lang="en-IN" sz="1200" dirty="0"/>
              <a:t>→ </a:t>
            </a:r>
            <a:r>
              <a:rPr lang="en-IN" sz="1200" dirty="0" err="1"/>
              <a:t>used_for</a:t>
            </a:r>
            <a:r>
              <a:rPr lang="en-IN" sz="1200" dirty="0"/>
              <a:t> → </a:t>
            </a:r>
            <a:r>
              <a:rPr lang="en-IN" sz="1200" dirty="0" err="1"/>
              <a:t>Melanoma_Treatment</a:t>
            </a:r>
            <a:endParaRPr lang="en-IN" sz="1200" dirty="0"/>
          </a:p>
          <a:p>
            <a:r>
              <a:rPr lang="en-IN" sz="1200" dirty="0"/>
              <a:t>BRAF_V600E</a:t>
            </a:r>
            <a:br>
              <a:rPr lang="en-IN" sz="1200" dirty="0"/>
            </a:br>
            <a:r>
              <a:rPr lang="en-IN" sz="1200" dirty="0"/>
              <a:t>→ </a:t>
            </a:r>
            <a:r>
              <a:rPr lang="en-IN" sz="1200" dirty="0" err="1"/>
              <a:t>supported_by</a:t>
            </a:r>
            <a:r>
              <a:rPr lang="en-IN" sz="1200" dirty="0"/>
              <a:t> → </a:t>
            </a:r>
            <a:r>
              <a:rPr lang="en-IN" sz="1200" dirty="0" err="1"/>
              <a:t>Clinical_Evidence</a:t>
            </a:r>
            <a:endParaRPr lang="en-IN" sz="1200" dirty="0"/>
          </a:p>
          <a:p>
            <a:r>
              <a:rPr lang="en-IN" sz="1200" dirty="0" err="1"/>
              <a:t>Clinical_Evidence</a:t>
            </a:r>
            <a:br>
              <a:rPr lang="en-IN" sz="1200" dirty="0"/>
            </a:br>
            <a:r>
              <a:rPr lang="en-IN" sz="1200" dirty="0"/>
              <a:t>→ </a:t>
            </a:r>
            <a:r>
              <a:rPr lang="en-IN" sz="1200" dirty="0" err="1"/>
              <a:t>derived_from</a:t>
            </a:r>
            <a:r>
              <a:rPr lang="en-IN" sz="1200" dirty="0"/>
              <a:t> → </a:t>
            </a:r>
            <a:r>
              <a:rPr lang="en-IN" sz="1200" dirty="0" err="1"/>
              <a:t>Research_Publication</a:t>
            </a:r>
            <a:endParaRPr lang="en-IN" sz="1200" dirty="0"/>
          </a:p>
        </p:txBody>
      </p:sp>
      <p:sp>
        <p:nvSpPr>
          <p:cNvPr id="20" name="TextBox 19">
            <a:extLst>
              <a:ext uri="{FF2B5EF4-FFF2-40B4-BE49-F238E27FC236}">
                <a16:creationId xmlns:a16="http://schemas.microsoft.com/office/drawing/2014/main" id="{40DDF3D2-6279-43E8-B35F-301BEF118CEB}"/>
              </a:ext>
            </a:extLst>
          </p:cNvPr>
          <p:cNvSpPr txBox="1"/>
          <p:nvPr/>
        </p:nvSpPr>
        <p:spPr>
          <a:xfrm>
            <a:off x="5553711" y="611287"/>
            <a:ext cx="1390648" cy="307777"/>
          </a:xfrm>
          <a:prstGeom prst="rect">
            <a:avLst/>
          </a:prstGeom>
          <a:noFill/>
        </p:spPr>
        <p:txBody>
          <a:bodyPr wrap="square" rtlCol="0">
            <a:spAutoFit/>
          </a:bodyPr>
          <a:lstStyle/>
          <a:p>
            <a:r>
              <a:rPr lang="en-US" sz="1400" u="sng" dirty="0"/>
              <a:t>Example</a:t>
            </a:r>
            <a:endParaRPr lang="en-IN" sz="1400" u="sng" dirty="0"/>
          </a:p>
        </p:txBody>
      </p:sp>
      <p:sp>
        <p:nvSpPr>
          <p:cNvPr id="21" name="TextBox 20">
            <a:extLst>
              <a:ext uri="{FF2B5EF4-FFF2-40B4-BE49-F238E27FC236}">
                <a16:creationId xmlns:a16="http://schemas.microsoft.com/office/drawing/2014/main" id="{EFE52D41-5DEB-44FD-953F-9FD1A6BA89B4}"/>
              </a:ext>
            </a:extLst>
          </p:cNvPr>
          <p:cNvSpPr txBox="1"/>
          <p:nvPr/>
        </p:nvSpPr>
        <p:spPr>
          <a:xfrm>
            <a:off x="3454400" y="1753642"/>
            <a:ext cx="2330450" cy="3016210"/>
          </a:xfrm>
          <a:prstGeom prst="rect">
            <a:avLst/>
          </a:prstGeom>
          <a:noFill/>
        </p:spPr>
        <p:txBody>
          <a:bodyPr wrap="square" rtlCol="0">
            <a:spAutoFit/>
          </a:bodyPr>
          <a:lstStyle/>
          <a:p>
            <a:r>
              <a:rPr lang="en-IN" sz="1000" dirty="0"/>
              <a:t>     Gene</a:t>
            </a:r>
          </a:p>
          <a:p>
            <a:r>
              <a:rPr lang="en-IN" sz="1000" dirty="0"/>
              <a:t>         │</a:t>
            </a:r>
          </a:p>
          <a:p>
            <a:r>
              <a:rPr lang="en-IN" sz="1000" dirty="0"/>
              <a:t>         │ </a:t>
            </a:r>
            <a:r>
              <a:rPr lang="en-IN" sz="1000" dirty="0" err="1"/>
              <a:t>has_variant</a:t>
            </a:r>
            <a:endParaRPr lang="en-IN" sz="1000" dirty="0"/>
          </a:p>
          <a:p>
            <a:r>
              <a:rPr lang="en-IN" sz="1000" dirty="0"/>
              <a:t>         ▼</a:t>
            </a:r>
          </a:p>
          <a:p>
            <a:r>
              <a:rPr lang="en-IN" sz="1000" dirty="0"/>
              <a:t>       Variant</a:t>
            </a:r>
          </a:p>
          <a:p>
            <a:r>
              <a:rPr lang="en-IN" sz="1000" dirty="0"/>
              <a:t>        │</a:t>
            </a:r>
          </a:p>
          <a:p>
            <a:r>
              <a:rPr lang="en-IN" sz="1000" dirty="0"/>
              <a:t>        │ </a:t>
            </a:r>
            <a:r>
              <a:rPr lang="en-IN" sz="1000" dirty="0" err="1"/>
              <a:t>associated_with</a:t>
            </a:r>
            <a:endParaRPr lang="en-IN" sz="1000" dirty="0"/>
          </a:p>
          <a:p>
            <a:r>
              <a:rPr lang="en-IN" sz="1000" dirty="0"/>
              <a:t>        ▼</a:t>
            </a:r>
          </a:p>
          <a:p>
            <a:r>
              <a:rPr lang="en-IN" sz="1000" dirty="0"/>
              <a:t>       Cancer</a:t>
            </a:r>
          </a:p>
          <a:p>
            <a:r>
              <a:rPr lang="en-IN" sz="1000" dirty="0"/>
              <a:t>      /      \</a:t>
            </a:r>
          </a:p>
          <a:p>
            <a:r>
              <a:rPr lang="en-IN" sz="1000" dirty="0"/>
              <a:t>     /        \</a:t>
            </a:r>
          </a:p>
          <a:p>
            <a:r>
              <a:rPr lang="en-IN" sz="1000" dirty="0"/>
              <a:t>predicts    </a:t>
            </a:r>
            <a:r>
              <a:rPr lang="en-IN" sz="1000" dirty="0" err="1"/>
              <a:t>supported_by</a:t>
            </a:r>
            <a:endParaRPr lang="en-IN" sz="1000" dirty="0"/>
          </a:p>
          <a:p>
            <a:r>
              <a:rPr lang="en-IN" sz="1000" dirty="0"/>
              <a:t>response          │</a:t>
            </a:r>
          </a:p>
          <a:p>
            <a:r>
              <a:rPr lang="en-IN" sz="1000" dirty="0"/>
              <a:t>    │                    ▼</a:t>
            </a:r>
          </a:p>
          <a:p>
            <a:r>
              <a:rPr lang="en-IN" sz="1000" dirty="0"/>
              <a:t>    ▼         </a:t>
            </a:r>
            <a:r>
              <a:rPr lang="en-IN" sz="1000" dirty="0" err="1"/>
              <a:t>Evidence_Record</a:t>
            </a:r>
            <a:endParaRPr lang="en-IN" sz="1000" dirty="0"/>
          </a:p>
          <a:p>
            <a:r>
              <a:rPr lang="en-IN" sz="1000" dirty="0"/>
              <a:t>   Drug               │</a:t>
            </a:r>
          </a:p>
          <a:p>
            <a:r>
              <a:rPr lang="en-IN" sz="1000" dirty="0"/>
              <a:t>    │                    ▼</a:t>
            </a:r>
          </a:p>
          <a:p>
            <a:r>
              <a:rPr lang="en-IN" sz="1000" dirty="0"/>
              <a:t>    ▼                 </a:t>
            </a:r>
            <a:r>
              <a:rPr lang="en-IN" sz="1000" dirty="0" err="1"/>
              <a:t>Scientific_Publication</a:t>
            </a:r>
            <a:endParaRPr lang="en-IN" sz="1000" dirty="0"/>
          </a:p>
          <a:p>
            <a:r>
              <a:rPr lang="en-IN" sz="1000" dirty="0"/>
              <a:t>Treatment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67E22"/>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5. COSMIC</a:t>
            </a:r>
            <a:endParaRPr lang="en-US" sz="2600" dirty="0"/>
          </a:p>
        </p:txBody>
      </p:sp>
      <p:sp>
        <p:nvSpPr>
          <p:cNvPr id="4" name="Text 2"/>
          <p:cNvSpPr/>
          <p:nvPr/>
        </p:nvSpPr>
        <p:spPr>
          <a:xfrm>
            <a:off x="457200" y="960120"/>
            <a:ext cx="8229600" cy="274320"/>
          </a:xfrm>
          <a:prstGeom prst="rect">
            <a:avLst/>
          </a:prstGeom>
          <a:noFill/>
          <a:ln/>
        </p:spPr>
        <p:txBody>
          <a:bodyPr wrap="square" rtlCol="0" anchor="ctr"/>
          <a:lstStyle/>
          <a:p>
            <a:r>
              <a:rPr lang="en-US" sz="1400" i="1" dirty="0">
                <a:solidFill>
                  <a:srgbClr val="7B8894"/>
                </a:solidFill>
              </a:rPr>
              <a:t>the Catalogue Of Somatic Mutations In Cancer</a:t>
            </a:r>
            <a:endParaRPr lang="en-US" sz="1400" dirty="0"/>
          </a:p>
        </p:txBody>
      </p:sp>
      <p:sp>
        <p:nvSpPr>
          <p:cNvPr id="5" name="Text 3"/>
          <p:cNvSpPr/>
          <p:nvPr/>
        </p:nvSpPr>
        <p:spPr>
          <a:xfrm>
            <a:off x="640080" y="1417320"/>
            <a:ext cx="7863840" cy="256032"/>
          </a:xfrm>
          <a:prstGeom prst="rect">
            <a:avLst/>
          </a:prstGeom>
          <a:noFill/>
          <a:ln/>
        </p:spPr>
        <p:txBody>
          <a:bodyPr wrap="square" rtlCol="0" anchor="ctr"/>
          <a:lstStyle/>
          <a:p>
            <a:r>
              <a:rPr lang="en-US" sz="1300" b="1" dirty="0">
                <a:solidFill>
                  <a:srgbClr val="34495E"/>
                </a:solidFill>
              </a:rPr>
              <a:t>What is it?</a:t>
            </a:r>
            <a:endParaRPr lang="en-US" sz="1300" dirty="0"/>
          </a:p>
        </p:txBody>
      </p:sp>
      <p:sp>
        <p:nvSpPr>
          <p:cNvPr id="6" name="Text 4"/>
          <p:cNvSpPr/>
          <p:nvPr/>
        </p:nvSpPr>
        <p:spPr>
          <a:xfrm>
            <a:off x="640080" y="1719072"/>
            <a:ext cx="7863840" cy="594360"/>
          </a:xfrm>
          <a:prstGeom prst="rect">
            <a:avLst/>
          </a:prstGeom>
          <a:noFill/>
          <a:ln/>
        </p:spPr>
        <p:txBody>
          <a:bodyPr wrap="square" rtlCol="0" anchor="ctr"/>
          <a:lstStyle/>
          <a:p>
            <a:pPr marL="0" indent="0">
              <a:lnSpc>
                <a:spcPts val="1800"/>
              </a:lnSpc>
              <a:buNone/>
            </a:pPr>
            <a:r>
              <a:rPr lang="en-US" sz="1200" dirty="0">
                <a:solidFill>
                  <a:srgbClr val="34495E"/>
                </a:solidFill>
              </a:rPr>
              <a:t>The world's largest catalog of cancer mutations. For oral cancer, shows exactly how often each gene is mutated across 863 patient samples. Like a census of cancer mutations.</a:t>
            </a:r>
            <a:endParaRPr lang="en-US" sz="1200" dirty="0"/>
          </a:p>
        </p:txBody>
      </p:sp>
      <p:sp>
        <p:nvSpPr>
          <p:cNvPr id="7" name="Text 5"/>
          <p:cNvSpPr/>
          <p:nvPr/>
        </p:nvSpPr>
        <p:spPr>
          <a:xfrm>
            <a:off x="640080" y="2468880"/>
            <a:ext cx="7863840" cy="256032"/>
          </a:xfrm>
          <a:prstGeom prst="rect">
            <a:avLst/>
          </a:prstGeom>
          <a:noFill/>
          <a:ln/>
        </p:spPr>
        <p:txBody>
          <a:bodyPr wrap="square" rtlCol="0" anchor="ctr"/>
          <a:lstStyle/>
          <a:p>
            <a:pPr marL="0" indent="0">
              <a:buNone/>
            </a:pPr>
            <a:r>
              <a:rPr lang="en-US" sz="1300" b="1" dirty="0">
                <a:solidFill>
                  <a:srgbClr val="34495E"/>
                </a:solidFill>
              </a:rPr>
              <a:t>Why it matters:</a:t>
            </a:r>
            <a:endParaRPr lang="en-US" sz="1300" dirty="0"/>
          </a:p>
        </p:txBody>
      </p:sp>
      <p:sp>
        <p:nvSpPr>
          <p:cNvPr id="8" name="Text 6"/>
          <p:cNvSpPr/>
          <p:nvPr/>
        </p:nvSpPr>
        <p:spPr>
          <a:xfrm>
            <a:off x="640080" y="2770632"/>
            <a:ext cx="7863840" cy="411480"/>
          </a:xfrm>
          <a:prstGeom prst="rect">
            <a:avLst/>
          </a:prstGeom>
          <a:noFill/>
          <a:ln/>
        </p:spPr>
        <p:txBody>
          <a:bodyPr wrap="square" rtlCol="0" anchor="ctr"/>
          <a:lstStyle/>
          <a:p>
            <a:pPr marL="0" indent="0">
              <a:lnSpc>
                <a:spcPts val="1800"/>
              </a:lnSpc>
              <a:buNone/>
            </a:pPr>
            <a:r>
              <a:rPr lang="en-US" sz="1200" dirty="0">
                <a:solidFill>
                  <a:srgbClr val="34495E"/>
                </a:solidFill>
              </a:rPr>
              <a:t>Tells us which mutations are common (drivers) vs rare (passengers). Essential for validating if a patient's mutation is significant.</a:t>
            </a:r>
            <a:endParaRPr lang="en-US" sz="1200" dirty="0"/>
          </a:p>
        </p:txBody>
      </p:sp>
      <p:sp>
        <p:nvSpPr>
          <p:cNvPr id="10" name="Text 8"/>
          <p:cNvSpPr/>
          <p:nvPr/>
        </p:nvSpPr>
        <p:spPr>
          <a:xfrm>
            <a:off x="640080" y="3360420"/>
            <a:ext cx="7498080" cy="228600"/>
          </a:xfrm>
          <a:prstGeom prst="rect">
            <a:avLst/>
          </a:prstGeom>
          <a:noFill/>
          <a:ln/>
        </p:spPr>
        <p:txBody>
          <a:bodyPr wrap="square" rtlCol="0" anchor="ctr"/>
          <a:lstStyle/>
          <a:p>
            <a:pPr marL="0" indent="0">
              <a:buNone/>
            </a:pPr>
            <a:r>
              <a:rPr lang="en-US" sz="1200" b="1" dirty="0">
                <a:solidFill>
                  <a:srgbClr val="E67E22"/>
                </a:solidFill>
              </a:rPr>
              <a:t>Properties:</a:t>
            </a:r>
            <a:endParaRPr lang="en-US" sz="1200" dirty="0"/>
          </a:p>
        </p:txBody>
      </p:sp>
      <p:sp>
        <p:nvSpPr>
          <p:cNvPr id="11" name="Text 9"/>
          <p:cNvSpPr/>
          <p:nvPr/>
        </p:nvSpPr>
        <p:spPr>
          <a:xfrm>
            <a:off x="640080" y="3615436"/>
            <a:ext cx="7498080" cy="146304"/>
          </a:xfrm>
          <a:prstGeom prst="rect">
            <a:avLst/>
          </a:prstGeom>
          <a:noFill/>
          <a:ln/>
        </p:spPr>
        <p:txBody>
          <a:bodyPr wrap="square" rtlCol="0" anchor="ctr"/>
          <a:lstStyle/>
          <a:p>
            <a:pPr marL="0" indent="0">
              <a:buNone/>
            </a:pPr>
            <a:r>
              <a:rPr lang="en-US" sz="1100" dirty="0">
                <a:solidFill>
                  <a:srgbClr val="34495E"/>
                </a:solidFill>
              </a:rPr>
              <a:t>• 2+ million mutations catalogued</a:t>
            </a:r>
            <a:endParaRPr lang="en-US" sz="1100" dirty="0"/>
          </a:p>
        </p:txBody>
      </p:sp>
      <p:sp>
        <p:nvSpPr>
          <p:cNvPr id="12" name="Text 10"/>
          <p:cNvSpPr/>
          <p:nvPr/>
        </p:nvSpPr>
        <p:spPr>
          <a:xfrm>
            <a:off x="640080" y="3825748"/>
            <a:ext cx="7498080" cy="146304"/>
          </a:xfrm>
          <a:prstGeom prst="rect">
            <a:avLst/>
          </a:prstGeom>
          <a:noFill/>
          <a:ln/>
        </p:spPr>
        <p:txBody>
          <a:bodyPr wrap="square" rtlCol="0" anchor="ctr"/>
          <a:lstStyle/>
          <a:p>
            <a:pPr marL="0" indent="0">
              <a:buNone/>
            </a:pPr>
            <a:r>
              <a:rPr lang="en-US" sz="1100" dirty="0">
                <a:solidFill>
                  <a:srgbClr val="34495E"/>
                </a:solidFill>
              </a:rPr>
              <a:t>• 863 oral cancer samples analyzed</a:t>
            </a:r>
            <a:endParaRPr lang="en-US" sz="1100" dirty="0"/>
          </a:p>
        </p:txBody>
      </p:sp>
      <p:sp>
        <p:nvSpPr>
          <p:cNvPr id="13" name="Text 11"/>
          <p:cNvSpPr/>
          <p:nvPr/>
        </p:nvSpPr>
        <p:spPr>
          <a:xfrm>
            <a:off x="640080" y="4005072"/>
            <a:ext cx="7498080" cy="146304"/>
          </a:xfrm>
          <a:prstGeom prst="rect">
            <a:avLst/>
          </a:prstGeom>
          <a:noFill/>
          <a:ln/>
        </p:spPr>
        <p:txBody>
          <a:bodyPr wrap="square" rtlCol="0" anchor="ctr"/>
          <a:lstStyle/>
          <a:p>
            <a:pPr marL="0" indent="0">
              <a:buNone/>
            </a:pPr>
            <a:r>
              <a:rPr lang="en-US" sz="1100" dirty="0">
                <a:solidFill>
                  <a:srgbClr val="34495E"/>
                </a:solidFill>
              </a:rPr>
              <a:t>• Frequencies for each mutation</a:t>
            </a:r>
            <a:endParaRPr lang="en-US" sz="1100" dirty="0"/>
          </a:p>
        </p:txBody>
      </p:sp>
      <p:sp>
        <p:nvSpPr>
          <p:cNvPr id="14" name="Text 12"/>
          <p:cNvSpPr/>
          <p:nvPr/>
        </p:nvSpPr>
        <p:spPr>
          <a:xfrm>
            <a:off x="640080" y="4219956"/>
            <a:ext cx="7498080" cy="146304"/>
          </a:xfrm>
          <a:prstGeom prst="rect">
            <a:avLst/>
          </a:prstGeom>
          <a:noFill/>
          <a:ln/>
        </p:spPr>
        <p:txBody>
          <a:bodyPr wrap="square" rtlCol="0" anchor="ctr"/>
          <a:lstStyle/>
          <a:p>
            <a:pPr marL="0" indent="0">
              <a:buNone/>
            </a:pPr>
            <a:r>
              <a:rPr lang="en-US" sz="1100" dirty="0">
                <a:solidFill>
                  <a:srgbClr val="34495E"/>
                </a:solidFill>
              </a:rPr>
              <a:t>• Maintained by Sanger Institute</a:t>
            </a:r>
            <a:endParaRPr lang="en-US" sz="1100" dirty="0"/>
          </a:p>
        </p:txBody>
      </p:sp>
      <p:sp>
        <p:nvSpPr>
          <p:cNvPr id="16" name="Text 14"/>
          <p:cNvSpPr/>
          <p:nvPr/>
        </p:nvSpPr>
        <p:spPr>
          <a:xfrm>
            <a:off x="822960" y="4709160"/>
            <a:ext cx="7680960" cy="320040"/>
          </a:xfrm>
          <a:prstGeom prst="rect">
            <a:avLst/>
          </a:prstGeom>
          <a:noFill/>
          <a:ln/>
        </p:spPr>
        <p:txBody>
          <a:bodyPr wrap="square" rtlCol="0" anchor="ctr"/>
          <a:lstStyle/>
          <a:p>
            <a:pPr marL="0" indent="0">
              <a:lnSpc>
                <a:spcPts val="1600"/>
              </a:lnSpc>
              <a:buNone/>
            </a:pP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14300"/>
            <a:ext cx="7863840" cy="365760"/>
          </a:xfrm>
          <a:prstGeom prst="rect">
            <a:avLst/>
          </a:prstGeom>
          <a:noFill/>
          <a:ln/>
        </p:spPr>
        <p:txBody>
          <a:bodyPr wrap="square" rtlCol="0" anchor="ctr"/>
          <a:lstStyle/>
          <a:p>
            <a:pPr marL="0" indent="0">
              <a:buNone/>
            </a:pPr>
            <a:r>
              <a:rPr lang="en-US" sz="2400" b="1" dirty="0">
                <a:solidFill>
                  <a:srgbClr val="2C3E50"/>
                </a:solidFill>
              </a:rPr>
              <a:t>5. COSMIC - Structure</a:t>
            </a:r>
            <a:endParaRPr lang="en-US" sz="2400" dirty="0"/>
          </a:p>
        </p:txBody>
      </p:sp>
      <p:sp>
        <p:nvSpPr>
          <p:cNvPr id="4" name="Text 2"/>
          <p:cNvSpPr/>
          <p:nvPr/>
        </p:nvSpPr>
        <p:spPr>
          <a:xfrm>
            <a:off x="640080" y="653796"/>
            <a:ext cx="3657600" cy="256032"/>
          </a:xfrm>
          <a:prstGeom prst="rect">
            <a:avLst/>
          </a:prstGeom>
          <a:noFill/>
          <a:ln/>
        </p:spPr>
        <p:txBody>
          <a:bodyPr wrap="square" rtlCol="0" anchor="ctr"/>
          <a:lstStyle/>
          <a:p>
            <a:pPr marL="0" indent="0">
              <a:buNone/>
            </a:pPr>
            <a:r>
              <a:rPr lang="en-US" sz="1300" b="1" dirty="0">
                <a:solidFill>
                  <a:srgbClr val="27AE60"/>
                </a:solidFill>
              </a:rPr>
              <a:t>Nodes:</a:t>
            </a:r>
            <a:endParaRPr lang="en-US" sz="1300" dirty="0"/>
          </a:p>
        </p:txBody>
      </p:sp>
      <p:sp>
        <p:nvSpPr>
          <p:cNvPr id="5" name="Text 3"/>
          <p:cNvSpPr/>
          <p:nvPr/>
        </p:nvSpPr>
        <p:spPr>
          <a:xfrm>
            <a:off x="640081" y="1805940"/>
            <a:ext cx="3474720" cy="1097280"/>
          </a:xfrm>
          <a:prstGeom prst="rect">
            <a:avLst/>
          </a:prstGeom>
          <a:noFill/>
          <a:ln/>
        </p:spPr>
        <p:txBody>
          <a:bodyPr wrap="square" rtlCol="0" anchor="ctr"/>
          <a:lstStyle/>
          <a:p>
            <a:r>
              <a:rPr lang="en-IN" sz="1000" b="1" dirty="0"/>
              <a:t>Genomic Entities</a:t>
            </a:r>
          </a:p>
          <a:p>
            <a:r>
              <a:rPr lang="en-IN" sz="1000" dirty="0"/>
              <a:t>Gene</a:t>
            </a:r>
          </a:p>
          <a:p>
            <a:r>
              <a:rPr lang="en-IN" sz="1000" dirty="0"/>
              <a:t>Somatic Mutation</a:t>
            </a:r>
          </a:p>
          <a:p>
            <a:r>
              <a:rPr lang="en-IN" sz="1000" dirty="0"/>
              <a:t>Genetic Variant</a:t>
            </a:r>
          </a:p>
          <a:p>
            <a:r>
              <a:rPr lang="en-IN" sz="1000" dirty="0"/>
              <a:t>Protein</a:t>
            </a:r>
          </a:p>
          <a:p>
            <a:r>
              <a:rPr lang="en-IN" sz="1000" b="1" dirty="0"/>
              <a:t>Disease Entities</a:t>
            </a:r>
          </a:p>
          <a:p>
            <a:r>
              <a:rPr lang="en-IN" sz="1000" dirty="0"/>
              <a:t>Cancer</a:t>
            </a:r>
          </a:p>
          <a:p>
            <a:r>
              <a:rPr lang="en-IN" sz="1000" dirty="0" err="1"/>
              <a:t>Tumor</a:t>
            </a:r>
            <a:r>
              <a:rPr lang="en-IN" sz="1000" dirty="0"/>
              <a:t> Type</a:t>
            </a:r>
          </a:p>
          <a:p>
            <a:r>
              <a:rPr lang="en-IN" sz="1000" dirty="0"/>
              <a:t>Cancer Subtype</a:t>
            </a:r>
          </a:p>
          <a:p>
            <a:r>
              <a:rPr lang="en-IN" sz="1000" b="1" dirty="0"/>
              <a:t>Sample Entities</a:t>
            </a:r>
          </a:p>
          <a:p>
            <a:r>
              <a:rPr lang="en-IN" sz="1000" dirty="0" err="1"/>
              <a:t>Tumor</a:t>
            </a:r>
            <a:r>
              <a:rPr lang="en-IN" sz="1000" dirty="0"/>
              <a:t> Sample</a:t>
            </a:r>
          </a:p>
          <a:p>
            <a:r>
              <a:rPr lang="en-IN" sz="1000" dirty="0"/>
              <a:t>Patient Sample</a:t>
            </a:r>
          </a:p>
          <a:p>
            <a:r>
              <a:rPr lang="en-IN" sz="1000" dirty="0"/>
              <a:t>Cell Line</a:t>
            </a:r>
          </a:p>
          <a:p>
            <a:r>
              <a:rPr lang="en-IN" sz="1000" b="1" dirty="0"/>
              <a:t>Biological Entities</a:t>
            </a:r>
          </a:p>
          <a:p>
            <a:r>
              <a:rPr lang="en-IN" sz="1000" dirty="0"/>
              <a:t>Biological Pathway</a:t>
            </a:r>
          </a:p>
          <a:p>
            <a:r>
              <a:rPr lang="en-IN" sz="1000" dirty="0"/>
              <a:t>Molecular Function</a:t>
            </a:r>
          </a:p>
          <a:p>
            <a:r>
              <a:rPr lang="en-IN" sz="1000" b="1" dirty="0"/>
              <a:t>Evidence Entities</a:t>
            </a:r>
          </a:p>
          <a:p>
            <a:r>
              <a:rPr lang="en-IN" sz="1000" dirty="0"/>
              <a:t>Scientific Publication</a:t>
            </a:r>
          </a:p>
          <a:p>
            <a:r>
              <a:rPr lang="en-IN" sz="1000" dirty="0"/>
              <a:t>Experimental Dataset</a:t>
            </a:r>
          </a:p>
        </p:txBody>
      </p:sp>
      <p:sp>
        <p:nvSpPr>
          <p:cNvPr id="6" name="Text 4"/>
          <p:cNvSpPr/>
          <p:nvPr/>
        </p:nvSpPr>
        <p:spPr>
          <a:xfrm>
            <a:off x="4516877" y="725322"/>
            <a:ext cx="3657600" cy="256032"/>
          </a:xfrm>
          <a:prstGeom prst="rect">
            <a:avLst/>
          </a:prstGeom>
          <a:noFill/>
          <a:ln/>
        </p:spPr>
        <p:txBody>
          <a:bodyPr wrap="square" rtlCol="0" anchor="ctr"/>
          <a:lstStyle/>
          <a:p>
            <a:pPr marL="0" indent="0">
              <a:buNone/>
            </a:pPr>
            <a:r>
              <a:rPr lang="en-US" sz="1300" b="1" dirty="0">
                <a:solidFill>
                  <a:srgbClr val="5DADE2"/>
                </a:solidFill>
              </a:rPr>
              <a:t>Edges:</a:t>
            </a:r>
            <a:endParaRPr lang="en-US" sz="1300" dirty="0"/>
          </a:p>
        </p:txBody>
      </p:sp>
      <p:sp>
        <p:nvSpPr>
          <p:cNvPr id="7" name="Text 5"/>
          <p:cNvSpPr/>
          <p:nvPr/>
        </p:nvSpPr>
        <p:spPr>
          <a:xfrm>
            <a:off x="5029200" y="1463040"/>
            <a:ext cx="3474720" cy="1097280"/>
          </a:xfrm>
          <a:prstGeom prst="rect">
            <a:avLst/>
          </a:prstGeom>
          <a:noFill/>
          <a:ln/>
        </p:spPr>
        <p:txBody>
          <a:bodyPr wrap="square" rtlCol="0" anchor="ctr"/>
          <a:lstStyle/>
          <a:p>
            <a:pPr marL="0" indent="0">
              <a:lnSpc>
                <a:spcPts val="1700"/>
              </a:lnSpc>
              <a:buNone/>
            </a:pPr>
            <a:endParaRPr lang="en-US" sz="1100" dirty="0"/>
          </a:p>
        </p:txBody>
      </p:sp>
      <p:sp>
        <p:nvSpPr>
          <p:cNvPr id="9" name="Text 7"/>
          <p:cNvSpPr/>
          <p:nvPr/>
        </p:nvSpPr>
        <p:spPr>
          <a:xfrm>
            <a:off x="822960" y="4065270"/>
            <a:ext cx="7498080" cy="228600"/>
          </a:xfrm>
          <a:prstGeom prst="rect">
            <a:avLst/>
          </a:prstGeom>
          <a:noFill/>
          <a:ln/>
        </p:spPr>
        <p:txBody>
          <a:bodyPr wrap="square" rtlCol="0" anchor="ctr"/>
          <a:lstStyle/>
          <a:p>
            <a:pPr marL="0" indent="0">
              <a:buNone/>
            </a:pPr>
            <a:r>
              <a:rPr lang="en-US" sz="1100" b="1" dirty="0">
                <a:solidFill>
                  <a:srgbClr val="3498DB"/>
                </a:solidFill>
              </a:rPr>
              <a:t>Paper:</a:t>
            </a:r>
            <a:endParaRPr lang="en-US" sz="1100" dirty="0"/>
          </a:p>
        </p:txBody>
      </p:sp>
      <p:sp>
        <p:nvSpPr>
          <p:cNvPr id="10" name="Text 8"/>
          <p:cNvSpPr/>
          <p:nvPr/>
        </p:nvSpPr>
        <p:spPr>
          <a:xfrm>
            <a:off x="822960" y="4149090"/>
            <a:ext cx="7498080" cy="320040"/>
          </a:xfrm>
          <a:prstGeom prst="rect">
            <a:avLst/>
          </a:prstGeom>
          <a:noFill/>
          <a:ln/>
        </p:spPr>
        <p:txBody>
          <a:bodyPr wrap="square" rtlCol="0" anchor="ctr"/>
          <a:lstStyle/>
          <a:p>
            <a:pPr marL="0" indent="0">
              <a:lnSpc>
                <a:spcPts val="1400"/>
              </a:lnSpc>
              <a:buNone/>
            </a:pPr>
            <a:r>
              <a:rPr lang="en-US" sz="1000" dirty="0">
                <a:solidFill>
                  <a:srgbClr val="34495E"/>
                </a:solidFill>
              </a:rPr>
              <a:t>Tate et al. (2019). 'COSMIC: the Catalogue Of Somatic Mutations In Cancer.' Nucleic Acids Research.</a:t>
            </a:r>
            <a:endParaRPr lang="en-US" sz="1000" dirty="0"/>
          </a:p>
        </p:txBody>
      </p:sp>
      <p:sp>
        <p:nvSpPr>
          <p:cNvPr id="11" name="Text 9">
            <a:hlinkClick r:id="rId3"/>
          </p:cNvPr>
          <p:cNvSpPr/>
          <p:nvPr/>
        </p:nvSpPr>
        <p:spPr>
          <a:xfrm>
            <a:off x="822960" y="4377690"/>
            <a:ext cx="7498080" cy="182880"/>
          </a:xfrm>
          <a:prstGeom prst="rect">
            <a:avLst/>
          </a:prstGeom>
          <a:noFill/>
          <a:ln/>
        </p:spPr>
        <p:txBody>
          <a:bodyPr wrap="square" rtlCol="0" anchor="ctr"/>
          <a:lstStyle/>
          <a:p>
            <a:pPr marL="0" indent="0">
              <a:buNone/>
            </a:pPr>
            <a:r>
              <a:rPr lang="en-US" sz="900" u="sng" dirty="0">
                <a:solidFill>
                  <a:srgbClr val="3498DB"/>
                </a:solidFill>
                <a:hlinkClick r:id="rId3">
                  <a:extLst>
                    <a:ext uri="{A12FA001-AC4F-418D-AE19-62706E023703}">
                      <ahyp:hlinkClr xmlns:ahyp="http://schemas.microsoft.com/office/drawing/2018/hyperlinkcolor" val="tx"/>
                    </a:ext>
                  </a:extLst>
                </a:hlinkClick>
              </a:rPr>
              <a:t>https://doi.org/10.1093/nar/gky1015</a:t>
            </a:r>
            <a:endParaRPr lang="en-US" sz="900" dirty="0"/>
          </a:p>
        </p:txBody>
      </p:sp>
      <p:sp>
        <p:nvSpPr>
          <p:cNvPr id="13" name="Text 11">
            <a:hlinkClick r:id="rId4"/>
          </p:cNvPr>
          <p:cNvSpPr/>
          <p:nvPr/>
        </p:nvSpPr>
        <p:spPr>
          <a:xfrm>
            <a:off x="822960" y="4526280"/>
            <a:ext cx="7498080" cy="320040"/>
          </a:xfrm>
          <a:prstGeom prst="rect">
            <a:avLst/>
          </a:prstGeom>
          <a:noFill/>
          <a:ln/>
        </p:spPr>
        <p:txBody>
          <a:bodyPr wrap="square" rtlCol="0" anchor="ctr"/>
          <a:lstStyle/>
          <a:p>
            <a:pPr marL="0" indent="0">
              <a:buNone/>
            </a:pPr>
            <a:r>
              <a:rPr lang="en-US" sz="900" u="sng" dirty="0">
                <a:solidFill>
                  <a:srgbClr val="3498DB"/>
                </a:solidFill>
                <a:hlinkClick r:id="rId4">
                  <a:extLst>
                    <a:ext uri="{A12FA001-AC4F-418D-AE19-62706E023703}">
                      <ahyp:hlinkClr xmlns:ahyp="http://schemas.microsoft.com/office/drawing/2018/hyperlinkcolor" val="tx"/>
                    </a:ext>
                  </a:extLst>
                </a:hlinkClick>
              </a:rPr>
              <a:t>https://cancer.sanger.ac.uk/cosmic</a:t>
            </a:r>
            <a:endParaRPr lang="en-US" sz="900" dirty="0"/>
          </a:p>
        </p:txBody>
      </p:sp>
      <p:sp>
        <p:nvSpPr>
          <p:cNvPr id="14" name="TextBox 13">
            <a:extLst>
              <a:ext uri="{FF2B5EF4-FFF2-40B4-BE49-F238E27FC236}">
                <a16:creationId xmlns:a16="http://schemas.microsoft.com/office/drawing/2014/main" id="{FCD9589E-676D-4AEA-8E28-CABA2A8E50CD}"/>
              </a:ext>
            </a:extLst>
          </p:cNvPr>
          <p:cNvSpPr txBox="1"/>
          <p:nvPr/>
        </p:nvSpPr>
        <p:spPr>
          <a:xfrm>
            <a:off x="4297680" y="1046487"/>
            <a:ext cx="3379451" cy="1323439"/>
          </a:xfrm>
          <a:prstGeom prst="rect">
            <a:avLst/>
          </a:prstGeom>
          <a:noFill/>
        </p:spPr>
        <p:txBody>
          <a:bodyPr wrap="none" rtlCol="0">
            <a:spAutoFit/>
          </a:bodyPr>
          <a:lstStyle/>
          <a:p>
            <a:pPr marL="285750" indent="-285750">
              <a:buFont typeface="Arial" panose="020B0604020202020204" pitchFamily="34" charset="0"/>
              <a:buChar char="•"/>
            </a:pPr>
            <a:r>
              <a:rPr lang="en-IN" sz="1000" dirty="0" err="1"/>
              <a:t>mutated_in</a:t>
            </a:r>
            <a:r>
              <a:rPr lang="en-IN" sz="1000" dirty="0"/>
              <a:t> (Gene mutated in cancer)</a:t>
            </a:r>
          </a:p>
          <a:p>
            <a:pPr marL="285750" indent="-285750">
              <a:buFont typeface="Arial" panose="020B0604020202020204" pitchFamily="34" charset="0"/>
              <a:buChar char="•"/>
            </a:pPr>
            <a:r>
              <a:rPr lang="en-IN" sz="1000" dirty="0" err="1"/>
              <a:t>has_variant</a:t>
            </a:r>
            <a:r>
              <a:rPr lang="en-IN" sz="1000" dirty="0"/>
              <a:t> (Gene contains mutation)</a:t>
            </a:r>
          </a:p>
          <a:p>
            <a:pPr marL="285750" indent="-285750">
              <a:buFont typeface="Arial" panose="020B0604020202020204" pitchFamily="34" charset="0"/>
              <a:buChar char="•"/>
            </a:pPr>
            <a:r>
              <a:rPr lang="en-IN" sz="1000" dirty="0" err="1"/>
              <a:t>occurs_in</a:t>
            </a:r>
            <a:r>
              <a:rPr lang="en-IN" sz="1000" dirty="0"/>
              <a:t> (</a:t>
            </a:r>
            <a:r>
              <a:rPr lang="en-US" sz="1000" dirty="0"/>
              <a:t>Mutation occurs in tumor sample</a:t>
            </a:r>
            <a:r>
              <a:rPr lang="en-IN" sz="1000" dirty="0"/>
              <a:t>)</a:t>
            </a:r>
          </a:p>
          <a:p>
            <a:pPr marL="285750" indent="-285750">
              <a:buFont typeface="Arial" panose="020B0604020202020204" pitchFamily="34" charset="0"/>
              <a:buChar char="•"/>
            </a:pPr>
            <a:r>
              <a:rPr lang="en-IN" sz="1000" dirty="0" err="1"/>
              <a:t>associated_with</a:t>
            </a:r>
            <a:r>
              <a:rPr lang="en-IN" sz="1000" dirty="0"/>
              <a:t> (</a:t>
            </a:r>
            <a:r>
              <a:rPr lang="en-US" sz="1000" dirty="0"/>
              <a:t>Mutation associated with cancer type</a:t>
            </a:r>
            <a:r>
              <a:rPr lang="en-IN" sz="1000" dirty="0"/>
              <a:t>)</a:t>
            </a:r>
          </a:p>
          <a:p>
            <a:pPr marL="285750" indent="-285750">
              <a:buFont typeface="Arial" panose="020B0604020202020204" pitchFamily="34" charset="0"/>
              <a:buChar char="•"/>
            </a:pPr>
            <a:r>
              <a:rPr lang="en-IN" sz="1000" dirty="0" err="1"/>
              <a:t>involved_in</a:t>
            </a:r>
            <a:r>
              <a:rPr lang="en-IN" sz="1000" dirty="0"/>
              <a:t> (Gene participates in pathway</a:t>
            </a:r>
            <a:r>
              <a:rPr lang="en-US" sz="1000" dirty="0"/>
              <a:t>)</a:t>
            </a:r>
          </a:p>
          <a:p>
            <a:pPr marL="285750" indent="-285750">
              <a:buFont typeface="Arial" panose="020B0604020202020204" pitchFamily="34" charset="0"/>
              <a:buChar char="•"/>
            </a:pPr>
            <a:r>
              <a:rPr lang="en-IN" sz="1000" dirty="0" err="1"/>
              <a:t>derived_from</a:t>
            </a:r>
            <a:r>
              <a:rPr lang="en-IN" sz="1000" dirty="0"/>
              <a:t> (Data derived from experiment)</a:t>
            </a:r>
          </a:p>
          <a:p>
            <a:pPr marL="285750" indent="-285750">
              <a:buFont typeface="Arial" panose="020B0604020202020204" pitchFamily="34" charset="0"/>
              <a:buChar char="•"/>
            </a:pPr>
            <a:r>
              <a:rPr lang="en-IN" sz="1000" dirty="0" err="1"/>
              <a:t>supported_by</a:t>
            </a:r>
            <a:r>
              <a:rPr lang="en-IN" sz="1000" dirty="0"/>
              <a:t> (Evidence supported by publication)</a:t>
            </a:r>
          </a:p>
          <a:p>
            <a:endParaRPr lang="en-IN"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9650" y="272338"/>
            <a:ext cx="7863840" cy="320040"/>
          </a:xfrm>
          <a:prstGeom prst="rect">
            <a:avLst/>
          </a:prstGeom>
          <a:noFill/>
          <a:ln/>
        </p:spPr>
        <p:txBody>
          <a:bodyPr wrap="square" rtlCol="0" anchor="ctr"/>
          <a:lstStyle/>
          <a:p>
            <a:pPr marL="0" indent="0">
              <a:buNone/>
            </a:pPr>
            <a:r>
              <a:rPr lang="en-US" sz="2200" b="1" dirty="0">
                <a:solidFill>
                  <a:srgbClr val="2C3E50"/>
                </a:solidFill>
              </a:rPr>
              <a:t>5. COSMIC - Visual Example</a:t>
            </a:r>
            <a:endParaRPr lang="en-US" sz="2200" dirty="0"/>
          </a:p>
        </p:txBody>
      </p:sp>
      <p:sp>
        <p:nvSpPr>
          <p:cNvPr id="18" name="TextBox 17">
            <a:extLst>
              <a:ext uri="{FF2B5EF4-FFF2-40B4-BE49-F238E27FC236}">
                <a16:creationId xmlns:a16="http://schemas.microsoft.com/office/drawing/2014/main" id="{9553A9B7-FDFE-4828-B581-4E8018E04D3A}"/>
              </a:ext>
            </a:extLst>
          </p:cNvPr>
          <p:cNvSpPr txBox="1"/>
          <p:nvPr/>
        </p:nvSpPr>
        <p:spPr>
          <a:xfrm>
            <a:off x="369650" y="903052"/>
            <a:ext cx="4105073" cy="2708434"/>
          </a:xfrm>
          <a:prstGeom prst="rect">
            <a:avLst/>
          </a:prstGeom>
          <a:noFill/>
        </p:spPr>
        <p:txBody>
          <a:bodyPr wrap="square" rtlCol="0">
            <a:spAutoFit/>
          </a:bodyPr>
          <a:lstStyle/>
          <a:p>
            <a:r>
              <a:rPr lang="en-IN" sz="1000" dirty="0" err="1"/>
              <a:t>Cancer_Type</a:t>
            </a:r>
            <a:br>
              <a:rPr lang="en-IN" sz="1000" dirty="0"/>
            </a:br>
            <a:r>
              <a:rPr lang="en-IN" sz="1000" dirty="0"/>
              <a:t>→ </a:t>
            </a:r>
            <a:r>
              <a:rPr lang="en-IN" sz="1000" dirty="0" err="1"/>
              <a:t>associated_with</a:t>
            </a:r>
            <a:r>
              <a:rPr lang="en-IN" sz="1000" dirty="0"/>
              <a:t> → Gene</a:t>
            </a:r>
          </a:p>
          <a:p>
            <a:r>
              <a:rPr lang="en-IN" sz="1000" dirty="0"/>
              <a:t>Gene</a:t>
            </a:r>
            <a:br>
              <a:rPr lang="en-IN" sz="1000" dirty="0"/>
            </a:br>
            <a:r>
              <a:rPr lang="en-IN" sz="1000" dirty="0"/>
              <a:t>→ </a:t>
            </a:r>
            <a:r>
              <a:rPr lang="en-IN" sz="1000" dirty="0" err="1"/>
              <a:t>has_mutation</a:t>
            </a:r>
            <a:r>
              <a:rPr lang="en-IN" sz="1000" dirty="0"/>
              <a:t> → </a:t>
            </a:r>
            <a:r>
              <a:rPr lang="en-IN" sz="1000" dirty="0" err="1"/>
              <a:t>Somatic_Mutation</a:t>
            </a:r>
            <a:endParaRPr lang="en-IN" sz="1000" dirty="0"/>
          </a:p>
          <a:p>
            <a:r>
              <a:rPr lang="en-IN" sz="1000" dirty="0" err="1"/>
              <a:t>Somatic_Mutation</a:t>
            </a:r>
            <a:br>
              <a:rPr lang="en-IN" sz="1000" dirty="0"/>
            </a:br>
            <a:r>
              <a:rPr lang="en-IN" sz="1000" dirty="0"/>
              <a:t>→ </a:t>
            </a:r>
            <a:r>
              <a:rPr lang="en-IN" sz="1000" dirty="0" err="1"/>
              <a:t>occurs_in</a:t>
            </a:r>
            <a:r>
              <a:rPr lang="en-IN" sz="1000" dirty="0"/>
              <a:t> → </a:t>
            </a:r>
            <a:r>
              <a:rPr lang="en-IN" sz="1000" dirty="0" err="1"/>
              <a:t>Tumor_Sample</a:t>
            </a:r>
            <a:endParaRPr lang="en-IN" sz="1000" dirty="0"/>
          </a:p>
          <a:p>
            <a:r>
              <a:rPr lang="en-IN" sz="1000" dirty="0" err="1"/>
              <a:t>Tumor_Sample</a:t>
            </a:r>
            <a:br>
              <a:rPr lang="en-IN" sz="1000" dirty="0"/>
            </a:br>
            <a:r>
              <a:rPr lang="en-IN" sz="1000" dirty="0"/>
              <a:t>→ </a:t>
            </a:r>
            <a:r>
              <a:rPr lang="en-IN" sz="1000" dirty="0" err="1"/>
              <a:t>belongs_to</a:t>
            </a:r>
            <a:r>
              <a:rPr lang="en-IN" sz="1000" dirty="0"/>
              <a:t> → </a:t>
            </a:r>
            <a:r>
              <a:rPr lang="en-IN" sz="1000" dirty="0" err="1"/>
              <a:t>Tissue_Type</a:t>
            </a:r>
            <a:endParaRPr lang="en-IN" sz="1000" dirty="0"/>
          </a:p>
          <a:p>
            <a:r>
              <a:rPr lang="en-IN" sz="1000" dirty="0" err="1"/>
              <a:t>Somatic_Mutation</a:t>
            </a:r>
            <a:br>
              <a:rPr lang="en-IN" sz="1000" dirty="0"/>
            </a:br>
            <a:r>
              <a:rPr lang="en-IN" sz="1000" dirty="0"/>
              <a:t>→ affects → </a:t>
            </a:r>
            <a:r>
              <a:rPr lang="en-IN" sz="1000" dirty="0" err="1"/>
              <a:t>Protein_Function</a:t>
            </a:r>
            <a:endParaRPr lang="en-IN" sz="1000" dirty="0"/>
          </a:p>
          <a:p>
            <a:r>
              <a:rPr lang="en-IN" sz="1000" dirty="0"/>
              <a:t>Gene</a:t>
            </a:r>
            <a:br>
              <a:rPr lang="en-IN" sz="1000" dirty="0"/>
            </a:br>
            <a:r>
              <a:rPr lang="en-IN" sz="1000" dirty="0"/>
              <a:t>→ </a:t>
            </a:r>
            <a:r>
              <a:rPr lang="en-IN" sz="1000" dirty="0" err="1"/>
              <a:t>involved_in</a:t>
            </a:r>
            <a:r>
              <a:rPr lang="en-IN" sz="1000" dirty="0"/>
              <a:t> → </a:t>
            </a:r>
            <a:r>
              <a:rPr lang="en-IN" sz="1000" dirty="0" err="1"/>
              <a:t>Biological_Pathway</a:t>
            </a:r>
            <a:endParaRPr lang="en-IN" sz="1000" dirty="0"/>
          </a:p>
          <a:p>
            <a:r>
              <a:rPr lang="en-IN" sz="1000" dirty="0" err="1"/>
              <a:t>Somatic_Mutation</a:t>
            </a:r>
            <a:br>
              <a:rPr lang="en-IN" sz="1000" dirty="0"/>
            </a:br>
            <a:r>
              <a:rPr lang="en-IN" sz="1000" dirty="0"/>
              <a:t>→ </a:t>
            </a:r>
            <a:r>
              <a:rPr lang="en-IN" sz="1000" dirty="0" err="1"/>
              <a:t>supported_by</a:t>
            </a:r>
            <a:r>
              <a:rPr lang="en-IN" sz="1000" dirty="0"/>
              <a:t> → </a:t>
            </a:r>
            <a:r>
              <a:rPr lang="en-IN" sz="1000" dirty="0" err="1"/>
              <a:t>Scientific_Publication</a:t>
            </a:r>
            <a:endParaRPr lang="en-IN" sz="1000" dirty="0"/>
          </a:p>
          <a:p>
            <a:r>
              <a:rPr lang="en-IN" sz="1000" dirty="0" err="1"/>
              <a:t>Scientific_Publication</a:t>
            </a:r>
            <a:br>
              <a:rPr lang="en-IN" sz="1000" dirty="0"/>
            </a:br>
            <a:r>
              <a:rPr lang="en-IN" sz="1000" dirty="0"/>
              <a:t>→ </a:t>
            </a:r>
            <a:r>
              <a:rPr lang="en-IN" sz="1000" dirty="0" err="1"/>
              <a:t>contributes_to</a:t>
            </a:r>
            <a:r>
              <a:rPr lang="en-IN" sz="1000" dirty="0"/>
              <a:t> → </a:t>
            </a:r>
            <a:r>
              <a:rPr lang="en-IN" sz="1000" dirty="0" err="1"/>
              <a:t>COSMIC_Database</a:t>
            </a:r>
            <a:endParaRPr lang="en-IN" sz="1000" dirty="0"/>
          </a:p>
          <a:p>
            <a:endParaRPr lang="en-IN" sz="1000" dirty="0"/>
          </a:p>
        </p:txBody>
      </p:sp>
      <p:sp>
        <p:nvSpPr>
          <p:cNvPr id="19" name="TextBox 18">
            <a:extLst>
              <a:ext uri="{FF2B5EF4-FFF2-40B4-BE49-F238E27FC236}">
                <a16:creationId xmlns:a16="http://schemas.microsoft.com/office/drawing/2014/main" id="{828DA9C5-C672-4B38-80A2-37A6E556E817}"/>
              </a:ext>
            </a:extLst>
          </p:cNvPr>
          <p:cNvSpPr txBox="1"/>
          <p:nvPr/>
        </p:nvSpPr>
        <p:spPr>
          <a:xfrm>
            <a:off x="5149174" y="885217"/>
            <a:ext cx="4105073" cy="1938992"/>
          </a:xfrm>
          <a:prstGeom prst="rect">
            <a:avLst/>
          </a:prstGeom>
          <a:noFill/>
        </p:spPr>
        <p:txBody>
          <a:bodyPr wrap="square" rtlCol="0">
            <a:spAutoFit/>
          </a:bodyPr>
          <a:lstStyle/>
          <a:p>
            <a:r>
              <a:rPr lang="en-IN" sz="1000" dirty="0"/>
              <a:t>TP53</a:t>
            </a:r>
            <a:br>
              <a:rPr lang="en-IN" sz="1000" dirty="0"/>
            </a:br>
            <a:r>
              <a:rPr lang="en-IN" sz="1000" dirty="0"/>
              <a:t>→ </a:t>
            </a:r>
            <a:r>
              <a:rPr lang="en-IN" sz="1000" dirty="0" err="1"/>
              <a:t>has_mutation</a:t>
            </a:r>
            <a:r>
              <a:rPr lang="en-IN" sz="1000" dirty="0"/>
              <a:t> → TP53_R175H</a:t>
            </a:r>
          </a:p>
          <a:p>
            <a:r>
              <a:rPr lang="en-IN" sz="1000" dirty="0"/>
              <a:t>TP53_R175H</a:t>
            </a:r>
            <a:br>
              <a:rPr lang="en-IN" sz="1000" dirty="0"/>
            </a:br>
            <a:r>
              <a:rPr lang="en-IN" sz="1000" dirty="0"/>
              <a:t>→ </a:t>
            </a:r>
            <a:r>
              <a:rPr lang="en-IN" sz="1000" dirty="0" err="1"/>
              <a:t>occurs_in</a:t>
            </a:r>
            <a:r>
              <a:rPr lang="en-IN" sz="1000" dirty="0"/>
              <a:t> → </a:t>
            </a:r>
            <a:r>
              <a:rPr lang="en-IN" sz="1000" dirty="0" err="1"/>
              <a:t>Breast_Cancer</a:t>
            </a:r>
            <a:endParaRPr lang="en-IN" sz="1000" dirty="0"/>
          </a:p>
          <a:p>
            <a:r>
              <a:rPr lang="en-IN" sz="1000" dirty="0" err="1"/>
              <a:t>Breast_Cancer</a:t>
            </a:r>
            <a:br>
              <a:rPr lang="en-IN" sz="1000" dirty="0"/>
            </a:br>
            <a:r>
              <a:rPr lang="en-IN" sz="1000" dirty="0"/>
              <a:t>→ </a:t>
            </a:r>
            <a:r>
              <a:rPr lang="en-IN" sz="1000" dirty="0" err="1"/>
              <a:t>originates_in</a:t>
            </a:r>
            <a:r>
              <a:rPr lang="en-IN" sz="1000" dirty="0"/>
              <a:t> → </a:t>
            </a:r>
            <a:r>
              <a:rPr lang="en-IN" sz="1000" dirty="0" err="1"/>
              <a:t>Breast_Tissue</a:t>
            </a:r>
            <a:endParaRPr lang="en-IN" sz="1000" dirty="0"/>
          </a:p>
          <a:p>
            <a:r>
              <a:rPr lang="en-IN" sz="1000" dirty="0"/>
              <a:t>TP53_R175H</a:t>
            </a:r>
            <a:br>
              <a:rPr lang="en-IN" sz="1000" dirty="0"/>
            </a:br>
            <a:r>
              <a:rPr lang="en-IN" sz="1000" dirty="0"/>
              <a:t>→ affects → </a:t>
            </a:r>
            <a:r>
              <a:rPr lang="en-IN" sz="1000" dirty="0" err="1"/>
              <a:t>Tumor_Suppressor_Function</a:t>
            </a:r>
            <a:endParaRPr lang="en-IN" sz="1000" dirty="0"/>
          </a:p>
          <a:p>
            <a:r>
              <a:rPr lang="en-IN" sz="1000" dirty="0"/>
              <a:t>TP53</a:t>
            </a:r>
            <a:br>
              <a:rPr lang="en-IN" sz="1000" dirty="0"/>
            </a:br>
            <a:r>
              <a:rPr lang="en-IN" sz="1000" dirty="0"/>
              <a:t>→ </a:t>
            </a:r>
            <a:r>
              <a:rPr lang="en-IN" sz="1000" dirty="0" err="1"/>
              <a:t>involved_in</a:t>
            </a:r>
            <a:r>
              <a:rPr lang="en-IN" sz="1000" dirty="0"/>
              <a:t> → </a:t>
            </a:r>
            <a:r>
              <a:rPr lang="en-IN" sz="1000" dirty="0" err="1"/>
              <a:t>Cell_Cycle_Pathway</a:t>
            </a:r>
            <a:endParaRPr lang="en-IN" sz="1000" dirty="0"/>
          </a:p>
          <a:p>
            <a:r>
              <a:rPr lang="en-IN" sz="1000" dirty="0" err="1"/>
              <a:t>Mutation_Data</a:t>
            </a:r>
            <a:br>
              <a:rPr lang="en-IN" sz="1000" dirty="0"/>
            </a:br>
            <a:r>
              <a:rPr lang="en-IN" sz="1000" dirty="0"/>
              <a:t>→ </a:t>
            </a:r>
            <a:r>
              <a:rPr lang="en-IN" sz="1000" dirty="0" err="1"/>
              <a:t>stored_in</a:t>
            </a:r>
            <a:r>
              <a:rPr lang="en-IN" sz="1000" dirty="0"/>
              <a:t> → </a:t>
            </a:r>
            <a:r>
              <a:rPr lang="en-IN" sz="1000" dirty="0" err="1"/>
              <a:t>COSMIC_Database</a:t>
            </a:r>
            <a:endParaRPr lang="en-IN" sz="1000" dirty="0"/>
          </a:p>
        </p:txBody>
      </p:sp>
      <p:sp>
        <p:nvSpPr>
          <p:cNvPr id="20" name="TextBox 19">
            <a:extLst>
              <a:ext uri="{FF2B5EF4-FFF2-40B4-BE49-F238E27FC236}">
                <a16:creationId xmlns:a16="http://schemas.microsoft.com/office/drawing/2014/main" id="{B8314F57-DC1A-45CA-A1CE-CE9FDA9F9CFF}"/>
              </a:ext>
            </a:extLst>
          </p:cNvPr>
          <p:cNvSpPr txBox="1"/>
          <p:nvPr/>
        </p:nvSpPr>
        <p:spPr>
          <a:xfrm>
            <a:off x="3326860" y="2328605"/>
            <a:ext cx="3981855" cy="2708434"/>
          </a:xfrm>
          <a:prstGeom prst="rect">
            <a:avLst/>
          </a:prstGeom>
          <a:noFill/>
        </p:spPr>
        <p:txBody>
          <a:bodyPr wrap="square" rtlCol="0">
            <a:spAutoFit/>
          </a:bodyPr>
          <a:lstStyle/>
          <a:p>
            <a:r>
              <a:rPr lang="en-IN" sz="1000" dirty="0"/>
              <a:t>Gene</a:t>
            </a:r>
            <a:br>
              <a:rPr lang="en-IN" sz="1000" dirty="0"/>
            </a:br>
            <a:r>
              <a:rPr lang="en-IN" sz="1000" dirty="0"/>
              <a:t>│</a:t>
            </a:r>
            <a:br>
              <a:rPr lang="en-IN" sz="1000" dirty="0"/>
            </a:br>
            <a:r>
              <a:rPr lang="en-IN" sz="1000" dirty="0"/>
              <a:t>│ </a:t>
            </a:r>
            <a:r>
              <a:rPr lang="en-IN" sz="1000" dirty="0" err="1"/>
              <a:t>has_mutation</a:t>
            </a:r>
            <a:br>
              <a:rPr lang="en-IN" sz="1000" dirty="0"/>
            </a:br>
            <a:r>
              <a:rPr lang="en-IN" sz="1000" dirty="0"/>
              <a:t>▼</a:t>
            </a:r>
            <a:br>
              <a:rPr lang="en-IN" sz="1000" dirty="0"/>
            </a:br>
            <a:r>
              <a:rPr lang="en-IN" sz="1000" dirty="0" err="1"/>
              <a:t>Somatic_Mutation</a:t>
            </a:r>
            <a:br>
              <a:rPr lang="en-IN" sz="1000" dirty="0"/>
            </a:br>
            <a:r>
              <a:rPr lang="en-IN" sz="1000" dirty="0"/>
              <a:t>│</a:t>
            </a:r>
            <a:br>
              <a:rPr lang="en-IN" sz="1000" dirty="0"/>
            </a:br>
            <a:r>
              <a:rPr lang="en-IN" sz="1000" dirty="0"/>
              <a:t>│ </a:t>
            </a:r>
            <a:r>
              <a:rPr lang="en-IN" sz="1000" dirty="0" err="1"/>
              <a:t>occurs_in</a:t>
            </a:r>
            <a:br>
              <a:rPr lang="en-IN" sz="1000" dirty="0"/>
            </a:br>
            <a:r>
              <a:rPr lang="en-IN" sz="1000" dirty="0"/>
              <a:t>▼</a:t>
            </a:r>
            <a:br>
              <a:rPr lang="en-IN" sz="1000" dirty="0"/>
            </a:br>
            <a:r>
              <a:rPr lang="en-IN" sz="1000" dirty="0" err="1"/>
              <a:t>Tumor_Sample</a:t>
            </a:r>
            <a:br>
              <a:rPr lang="en-IN" sz="1000" dirty="0"/>
            </a:br>
            <a:r>
              <a:rPr lang="en-IN" sz="1000" dirty="0"/>
              <a:t>│</a:t>
            </a:r>
            <a:br>
              <a:rPr lang="en-IN" sz="1000" dirty="0"/>
            </a:br>
            <a:r>
              <a:rPr lang="en-IN" sz="1000" dirty="0"/>
              <a:t>│ </a:t>
            </a:r>
            <a:r>
              <a:rPr lang="en-IN" sz="1000" dirty="0" err="1"/>
              <a:t>belongs_to</a:t>
            </a:r>
            <a:br>
              <a:rPr lang="en-IN" sz="1000" dirty="0"/>
            </a:br>
            <a:r>
              <a:rPr lang="en-IN" sz="1000" dirty="0"/>
              <a:t>▼</a:t>
            </a:r>
            <a:br>
              <a:rPr lang="en-IN" sz="1000" dirty="0"/>
            </a:br>
            <a:r>
              <a:rPr lang="en-IN" sz="1000" dirty="0" err="1"/>
              <a:t>Cancer_Type</a:t>
            </a:r>
            <a:br>
              <a:rPr lang="en-IN" sz="1000" dirty="0"/>
            </a:br>
            <a:r>
              <a:rPr lang="en-IN" sz="1000" dirty="0"/>
              <a:t>│</a:t>
            </a:r>
            <a:br>
              <a:rPr lang="en-IN" sz="1000" dirty="0"/>
            </a:br>
            <a:r>
              <a:rPr lang="en-IN" sz="1000" dirty="0"/>
              <a:t>│ </a:t>
            </a:r>
            <a:r>
              <a:rPr lang="en-IN" sz="1000" dirty="0" err="1"/>
              <a:t>involved_in</a:t>
            </a:r>
            <a:br>
              <a:rPr lang="en-IN" sz="1000" dirty="0"/>
            </a:br>
            <a:r>
              <a:rPr lang="en-IN" sz="1000" dirty="0"/>
              <a:t>▼</a:t>
            </a:r>
            <a:br>
              <a:rPr lang="en-IN" sz="1000" dirty="0"/>
            </a:br>
            <a:r>
              <a:rPr lang="en-IN" sz="1000" dirty="0" err="1"/>
              <a:t>Biological_Pathway</a:t>
            </a:r>
            <a:endParaRPr lang="en-IN" sz="1000" dirty="0"/>
          </a:p>
        </p:txBody>
      </p:sp>
      <p:sp>
        <p:nvSpPr>
          <p:cNvPr id="21" name="TextBox 20">
            <a:extLst>
              <a:ext uri="{FF2B5EF4-FFF2-40B4-BE49-F238E27FC236}">
                <a16:creationId xmlns:a16="http://schemas.microsoft.com/office/drawing/2014/main" id="{FC9517EC-675C-49AC-AF57-620436A1E710}"/>
              </a:ext>
            </a:extLst>
          </p:cNvPr>
          <p:cNvSpPr txBox="1"/>
          <p:nvPr/>
        </p:nvSpPr>
        <p:spPr>
          <a:xfrm>
            <a:off x="5149174" y="619578"/>
            <a:ext cx="1390648" cy="307777"/>
          </a:xfrm>
          <a:prstGeom prst="rect">
            <a:avLst/>
          </a:prstGeom>
          <a:noFill/>
        </p:spPr>
        <p:txBody>
          <a:bodyPr wrap="square" rtlCol="0">
            <a:spAutoFit/>
          </a:bodyPr>
          <a:lstStyle/>
          <a:p>
            <a:r>
              <a:rPr lang="en-US" sz="1400" u="sng" dirty="0"/>
              <a:t>Example</a:t>
            </a:r>
            <a:endParaRPr lang="en-IN" sz="1400" u="sng"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6A085"/>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6. Hetionet</a:t>
            </a:r>
            <a:endParaRPr lang="en-US" sz="2600" dirty="0"/>
          </a:p>
        </p:txBody>
      </p:sp>
      <p:sp>
        <p:nvSpPr>
          <p:cNvPr id="4" name="Text 2"/>
          <p:cNvSpPr/>
          <p:nvPr/>
        </p:nvSpPr>
        <p:spPr>
          <a:xfrm>
            <a:off x="457200" y="960120"/>
            <a:ext cx="8229600" cy="274320"/>
          </a:xfrm>
          <a:prstGeom prst="rect">
            <a:avLst/>
          </a:prstGeom>
          <a:noFill/>
          <a:ln/>
        </p:spPr>
        <p:txBody>
          <a:bodyPr wrap="square" rtlCol="0" anchor="ctr"/>
          <a:lstStyle/>
          <a:p>
            <a:r>
              <a:rPr lang="en-US" sz="1400" i="1" dirty="0">
                <a:solidFill>
                  <a:srgbClr val="7B8894"/>
                </a:solidFill>
              </a:rPr>
              <a:t>heterogeneous knowledge graph</a:t>
            </a:r>
            <a:endParaRPr lang="en-US" sz="1400" dirty="0"/>
          </a:p>
        </p:txBody>
      </p:sp>
      <p:sp>
        <p:nvSpPr>
          <p:cNvPr id="5" name="Text 3"/>
          <p:cNvSpPr/>
          <p:nvPr/>
        </p:nvSpPr>
        <p:spPr>
          <a:xfrm>
            <a:off x="640080" y="1417320"/>
            <a:ext cx="7863840" cy="256032"/>
          </a:xfrm>
          <a:prstGeom prst="rect">
            <a:avLst/>
          </a:prstGeom>
          <a:noFill/>
          <a:ln/>
        </p:spPr>
        <p:txBody>
          <a:bodyPr wrap="square" rtlCol="0" anchor="ctr"/>
          <a:lstStyle/>
          <a:p>
            <a:r>
              <a:rPr lang="en-US" sz="1300" b="1" dirty="0">
                <a:solidFill>
                  <a:srgbClr val="34495E"/>
                </a:solidFill>
              </a:rPr>
              <a:t>What is it?</a:t>
            </a:r>
            <a:endParaRPr lang="en-US" sz="1300" dirty="0"/>
          </a:p>
        </p:txBody>
      </p:sp>
      <p:sp>
        <p:nvSpPr>
          <p:cNvPr id="6" name="Text 4"/>
          <p:cNvSpPr/>
          <p:nvPr/>
        </p:nvSpPr>
        <p:spPr>
          <a:xfrm>
            <a:off x="640080" y="1719072"/>
            <a:ext cx="7863840" cy="594360"/>
          </a:xfrm>
          <a:prstGeom prst="rect">
            <a:avLst/>
          </a:prstGeom>
          <a:noFill/>
          <a:ln/>
        </p:spPr>
        <p:txBody>
          <a:bodyPr wrap="square" rtlCol="0" anchor="ctr"/>
          <a:lstStyle/>
          <a:p>
            <a:pPr marL="0" indent="0">
              <a:lnSpc>
                <a:spcPts val="1800"/>
              </a:lnSpc>
              <a:buNone/>
            </a:pPr>
            <a:r>
              <a:rPr lang="en-US" sz="1200" dirty="0">
                <a:solidFill>
                  <a:srgbClr val="34495E"/>
                </a:solidFill>
              </a:rPr>
              <a:t>A multi-type network connecting diseases, genes, drugs, symptoms, and pathways. Designed to find new uses for existing drugs. Like a matchmaking service for drugs and diseases.</a:t>
            </a:r>
            <a:endParaRPr lang="en-US" sz="1200" dirty="0"/>
          </a:p>
        </p:txBody>
      </p:sp>
      <p:sp>
        <p:nvSpPr>
          <p:cNvPr id="7" name="Text 5"/>
          <p:cNvSpPr/>
          <p:nvPr/>
        </p:nvSpPr>
        <p:spPr>
          <a:xfrm>
            <a:off x="640080" y="2468880"/>
            <a:ext cx="7863840" cy="256032"/>
          </a:xfrm>
          <a:prstGeom prst="rect">
            <a:avLst/>
          </a:prstGeom>
          <a:noFill/>
          <a:ln/>
        </p:spPr>
        <p:txBody>
          <a:bodyPr wrap="square" rtlCol="0" anchor="ctr"/>
          <a:lstStyle/>
          <a:p>
            <a:pPr marL="0" indent="0">
              <a:buNone/>
            </a:pPr>
            <a:r>
              <a:rPr lang="en-US" sz="1300" b="1" dirty="0">
                <a:solidFill>
                  <a:srgbClr val="34495E"/>
                </a:solidFill>
              </a:rPr>
              <a:t>Why it matters:</a:t>
            </a:r>
            <a:endParaRPr lang="en-US" sz="1300" dirty="0"/>
          </a:p>
        </p:txBody>
      </p:sp>
      <p:sp>
        <p:nvSpPr>
          <p:cNvPr id="8" name="Text 6"/>
          <p:cNvSpPr/>
          <p:nvPr/>
        </p:nvSpPr>
        <p:spPr>
          <a:xfrm>
            <a:off x="640080" y="2656332"/>
            <a:ext cx="7863840" cy="411480"/>
          </a:xfrm>
          <a:prstGeom prst="rect">
            <a:avLst/>
          </a:prstGeom>
          <a:noFill/>
          <a:ln/>
        </p:spPr>
        <p:txBody>
          <a:bodyPr wrap="square" rtlCol="0" anchor="ctr"/>
          <a:lstStyle/>
          <a:p>
            <a:pPr marL="0" indent="0">
              <a:lnSpc>
                <a:spcPts val="1800"/>
              </a:lnSpc>
              <a:buNone/>
            </a:pPr>
            <a:r>
              <a:rPr lang="en-US" sz="1200" dirty="0">
                <a:solidFill>
                  <a:srgbClr val="34495E"/>
                </a:solidFill>
              </a:rPr>
              <a:t>Finds existing approved drugs that might work for oral cancer. Cheaper and faster than developing new drugs from scratch.</a:t>
            </a:r>
            <a:endParaRPr lang="en-US" sz="1200" dirty="0"/>
          </a:p>
        </p:txBody>
      </p:sp>
      <p:sp>
        <p:nvSpPr>
          <p:cNvPr id="10" name="Text 8"/>
          <p:cNvSpPr/>
          <p:nvPr/>
        </p:nvSpPr>
        <p:spPr>
          <a:xfrm>
            <a:off x="640080" y="3238373"/>
            <a:ext cx="7498080" cy="228600"/>
          </a:xfrm>
          <a:prstGeom prst="rect">
            <a:avLst/>
          </a:prstGeom>
          <a:noFill/>
          <a:ln/>
        </p:spPr>
        <p:txBody>
          <a:bodyPr wrap="square" rtlCol="0" anchor="ctr"/>
          <a:lstStyle/>
          <a:p>
            <a:pPr marL="0" indent="0">
              <a:buNone/>
            </a:pPr>
            <a:r>
              <a:rPr lang="en-US" sz="1200" b="1" dirty="0">
                <a:solidFill>
                  <a:srgbClr val="16A085"/>
                </a:solidFill>
              </a:rPr>
              <a:t>Properties:</a:t>
            </a:r>
            <a:endParaRPr lang="en-US" sz="1200" dirty="0"/>
          </a:p>
        </p:txBody>
      </p:sp>
      <p:sp>
        <p:nvSpPr>
          <p:cNvPr id="11" name="Text 9"/>
          <p:cNvSpPr/>
          <p:nvPr/>
        </p:nvSpPr>
        <p:spPr>
          <a:xfrm>
            <a:off x="640080" y="3506851"/>
            <a:ext cx="7498080" cy="146304"/>
          </a:xfrm>
          <a:prstGeom prst="rect">
            <a:avLst/>
          </a:prstGeom>
          <a:noFill/>
          <a:ln/>
        </p:spPr>
        <p:txBody>
          <a:bodyPr wrap="square" rtlCol="0" anchor="ctr"/>
          <a:lstStyle/>
          <a:p>
            <a:pPr marL="0" indent="0">
              <a:buNone/>
            </a:pPr>
            <a:r>
              <a:rPr lang="en-US" sz="1100" dirty="0">
                <a:solidFill>
                  <a:srgbClr val="34495E"/>
                </a:solidFill>
              </a:rPr>
              <a:t>• 47,031 biological entities</a:t>
            </a:r>
            <a:endParaRPr lang="en-US" sz="1100" dirty="0"/>
          </a:p>
        </p:txBody>
      </p:sp>
      <p:sp>
        <p:nvSpPr>
          <p:cNvPr id="12" name="Text 10"/>
          <p:cNvSpPr/>
          <p:nvPr/>
        </p:nvSpPr>
        <p:spPr>
          <a:xfrm>
            <a:off x="640080" y="3755644"/>
            <a:ext cx="7498080" cy="146304"/>
          </a:xfrm>
          <a:prstGeom prst="rect">
            <a:avLst/>
          </a:prstGeom>
          <a:noFill/>
          <a:ln/>
        </p:spPr>
        <p:txBody>
          <a:bodyPr wrap="square" rtlCol="0" anchor="ctr"/>
          <a:lstStyle/>
          <a:p>
            <a:pPr marL="0" indent="0">
              <a:buNone/>
            </a:pPr>
            <a:r>
              <a:rPr lang="en-US" sz="1100" dirty="0">
                <a:solidFill>
                  <a:srgbClr val="34495E"/>
                </a:solidFill>
              </a:rPr>
              <a:t>• 2.25 million connections</a:t>
            </a:r>
            <a:endParaRPr lang="en-US" sz="1100" dirty="0"/>
          </a:p>
        </p:txBody>
      </p:sp>
      <p:sp>
        <p:nvSpPr>
          <p:cNvPr id="13" name="Text 11"/>
          <p:cNvSpPr/>
          <p:nvPr/>
        </p:nvSpPr>
        <p:spPr>
          <a:xfrm>
            <a:off x="640080" y="3983482"/>
            <a:ext cx="7498080" cy="146304"/>
          </a:xfrm>
          <a:prstGeom prst="rect">
            <a:avLst/>
          </a:prstGeom>
          <a:noFill/>
          <a:ln/>
        </p:spPr>
        <p:txBody>
          <a:bodyPr wrap="square" rtlCol="0" anchor="ctr"/>
          <a:lstStyle/>
          <a:p>
            <a:pPr marL="0" indent="0">
              <a:buNone/>
            </a:pPr>
            <a:r>
              <a:rPr lang="en-US" sz="1100" dirty="0">
                <a:solidFill>
                  <a:srgbClr val="34495E"/>
                </a:solidFill>
              </a:rPr>
              <a:t>• 24 different relationship types</a:t>
            </a:r>
            <a:endParaRPr lang="en-US" sz="1100" dirty="0"/>
          </a:p>
        </p:txBody>
      </p:sp>
      <p:sp>
        <p:nvSpPr>
          <p:cNvPr id="15" name="Text 13"/>
          <p:cNvSpPr/>
          <p:nvPr/>
        </p:nvSpPr>
        <p:spPr>
          <a:xfrm>
            <a:off x="5078730" y="3297428"/>
            <a:ext cx="3747500" cy="228600"/>
          </a:xfrm>
          <a:prstGeom prst="rect">
            <a:avLst/>
          </a:prstGeom>
          <a:noFill/>
          <a:ln/>
        </p:spPr>
        <p:txBody>
          <a:bodyPr wrap="square" rtlCol="0" anchor="ctr"/>
          <a:lstStyle/>
          <a:p>
            <a:pPr marL="0" indent="0">
              <a:buNone/>
            </a:pPr>
            <a:r>
              <a:rPr lang="en-US" sz="1200" b="1" dirty="0">
                <a:solidFill>
                  <a:srgbClr val="E74C3C"/>
                </a:solidFill>
              </a:rPr>
              <a:t>How we'll use it:</a:t>
            </a:r>
            <a:endParaRPr lang="en-US" sz="1200" dirty="0"/>
          </a:p>
        </p:txBody>
      </p:sp>
      <p:sp>
        <p:nvSpPr>
          <p:cNvPr id="16" name="Text 14"/>
          <p:cNvSpPr/>
          <p:nvPr/>
        </p:nvSpPr>
        <p:spPr>
          <a:xfrm>
            <a:off x="5078730" y="3741928"/>
            <a:ext cx="3059430" cy="320040"/>
          </a:xfrm>
          <a:prstGeom prst="rect">
            <a:avLst/>
          </a:prstGeom>
          <a:noFill/>
          <a:ln/>
        </p:spPr>
        <p:txBody>
          <a:bodyPr wrap="square" rtlCol="0" anchor="ctr"/>
          <a:lstStyle/>
          <a:p>
            <a:pPr marL="0" indent="0">
              <a:lnSpc>
                <a:spcPts val="1600"/>
              </a:lnSpc>
              <a:buNone/>
            </a:pPr>
            <a:r>
              <a:rPr lang="en-US" sz="1100" dirty="0">
                <a:solidFill>
                  <a:srgbClr val="34495E"/>
                </a:solidFill>
              </a:rPr>
              <a:t>Drug repurposing</a:t>
            </a:r>
            <a:endParaRPr lang="en-US" sz="1100" dirty="0"/>
          </a:p>
          <a:p>
            <a:pPr marL="0" indent="0">
              <a:lnSpc>
                <a:spcPts val="1600"/>
              </a:lnSpc>
              <a:buNone/>
            </a:pPr>
            <a:r>
              <a:rPr lang="en-US" sz="1100" dirty="0">
                <a:solidFill>
                  <a:srgbClr val="34495E"/>
                </a:solidFill>
              </a:rPr>
              <a:t>Multi-hop queries</a:t>
            </a:r>
            <a:endParaRPr lang="en-US" sz="1100" dirty="0"/>
          </a:p>
          <a:p>
            <a:pPr marL="0" indent="0">
              <a:lnSpc>
                <a:spcPts val="1600"/>
              </a:lnSpc>
              <a:buNone/>
            </a:pPr>
            <a:r>
              <a:rPr lang="en-US" sz="1100" dirty="0">
                <a:solidFill>
                  <a:srgbClr val="34495E"/>
                </a:solidFill>
              </a:rPr>
              <a:t>Side effect prediction</a:t>
            </a:r>
            <a:endParaRPr lang="en-US" sz="1100" dirty="0"/>
          </a:p>
          <a:p>
            <a:pPr marL="0" indent="0">
              <a:lnSpc>
                <a:spcPts val="1600"/>
              </a:lnSpc>
              <a:buNone/>
            </a:pPr>
            <a:r>
              <a:rPr lang="en-US" sz="1100" dirty="0">
                <a:solidFill>
                  <a:srgbClr val="34495E"/>
                </a:solidFill>
              </a:rPr>
              <a:t>Network biomarkers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863840" cy="365760"/>
          </a:xfrm>
          <a:prstGeom prst="rect">
            <a:avLst/>
          </a:prstGeom>
          <a:noFill/>
          <a:ln/>
        </p:spPr>
        <p:txBody>
          <a:bodyPr wrap="square" rtlCol="0" anchor="ctr"/>
          <a:lstStyle/>
          <a:p>
            <a:pPr marL="0" indent="0">
              <a:buNone/>
            </a:pPr>
            <a:r>
              <a:rPr lang="en-US" sz="2400" b="1" dirty="0">
                <a:solidFill>
                  <a:srgbClr val="2C3E50"/>
                </a:solidFill>
              </a:rPr>
              <a:t>6. Hetionet - Structure</a:t>
            </a:r>
            <a:endParaRPr lang="en-US" sz="2400" dirty="0"/>
          </a:p>
        </p:txBody>
      </p:sp>
      <p:sp>
        <p:nvSpPr>
          <p:cNvPr id="4" name="Text 2"/>
          <p:cNvSpPr/>
          <p:nvPr/>
        </p:nvSpPr>
        <p:spPr>
          <a:xfrm>
            <a:off x="684530" y="817372"/>
            <a:ext cx="3657600" cy="256032"/>
          </a:xfrm>
          <a:prstGeom prst="rect">
            <a:avLst/>
          </a:prstGeom>
          <a:noFill/>
          <a:ln/>
        </p:spPr>
        <p:txBody>
          <a:bodyPr wrap="square" rtlCol="0" anchor="ctr"/>
          <a:lstStyle/>
          <a:p>
            <a:pPr marL="0" indent="0">
              <a:buNone/>
            </a:pPr>
            <a:r>
              <a:rPr lang="en-US" sz="1300" b="1" dirty="0">
                <a:solidFill>
                  <a:srgbClr val="27AE60"/>
                </a:solidFill>
              </a:rPr>
              <a:t>Nodes:</a:t>
            </a:r>
            <a:endParaRPr lang="en-US" sz="1300" dirty="0"/>
          </a:p>
        </p:txBody>
      </p:sp>
      <p:sp>
        <p:nvSpPr>
          <p:cNvPr id="5" name="Text 3"/>
          <p:cNvSpPr/>
          <p:nvPr/>
        </p:nvSpPr>
        <p:spPr>
          <a:xfrm>
            <a:off x="731520" y="1880362"/>
            <a:ext cx="3474720" cy="1300988"/>
          </a:xfrm>
          <a:prstGeom prst="rect">
            <a:avLst/>
          </a:prstGeom>
          <a:noFill/>
          <a:ln/>
        </p:spPr>
        <p:txBody>
          <a:bodyPr wrap="square" rtlCol="0" anchor="ctr"/>
          <a:lstStyle/>
          <a:p>
            <a:pPr marL="0" indent="0">
              <a:lnSpc>
                <a:spcPts val="1700"/>
              </a:lnSpc>
              <a:buNone/>
            </a:pPr>
            <a:r>
              <a:rPr lang="en-US" sz="1100" dirty="0">
                <a:solidFill>
                  <a:srgbClr val="34495E"/>
                </a:solidFill>
              </a:rPr>
              <a:t>11 types:</a:t>
            </a:r>
          </a:p>
          <a:p>
            <a:pPr marL="285750" indent="-285750">
              <a:buFont typeface="Arial" panose="020B0604020202020204" pitchFamily="34" charset="0"/>
              <a:buChar char="•"/>
            </a:pPr>
            <a:r>
              <a:rPr lang="en-IN" sz="1100" dirty="0"/>
              <a:t>Anatomy (Body structures or tissues) - 402</a:t>
            </a:r>
          </a:p>
          <a:p>
            <a:pPr marL="285750" indent="-285750">
              <a:buFont typeface="Arial" panose="020B0604020202020204" pitchFamily="34" charset="0"/>
              <a:buChar char="•"/>
            </a:pPr>
            <a:r>
              <a:rPr lang="en-IN" sz="1100" dirty="0"/>
              <a:t>Biological Process (Biological activities)</a:t>
            </a:r>
          </a:p>
          <a:p>
            <a:pPr marL="285750" indent="-285750">
              <a:buFont typeface="Arial" panose="020B0604020202020204" pitchFamily="34" charset="0"/>
              <a:buChar char="•"/>
            </a:pPr>
            <a:r>
              <a:rPr lang="en-IN" sz="1100" dirty="0"/>
              <a:t>Cellular Component (Cell structures) - 1,552</a:t>
            </a:r>
          </a:p>
          <a:p>
            <a:pPr marL="285750" indent="-285750">
              <a:buFont typeface="Arial" panose="020B0604020202020204" pitchFamily="34" charset="0"/>
              <a:buChar char="•"/>
            </a:pPr>
            <a:r>
              <a:rPr lang="en-IN" sz="1100" dirty="0"/>
              <a:t>Compound (Drugs / chemical compounds)</a:t>
            </a:r>
          </a:p>
          <a:p>
            <a:pPr marL="285750" indent="-285750">
              <a:buFont typeface="Arial" panose="020B0604020202020204" pitchFamily="34" charset="0"/>
              <a:buChar char="•"/>
            </a:pPr>
            <a:r>
              <a:rPr lang="en-IN" sz="1100" dirty="0"/>
              <a:t>Disease (Human diseases</a:t>
            </a:r>
            <a:r>
              <a:rPr lang="en-US" sz="1100" dirty="0"/>
              <a:t>) - </a:t>
            </a:r>
            <a:r>
              <a:rPr lang="en-IN" sz="1100" dirty="0"/>
              <a:t>137</a:t>
            </a:r>
            <a:endParaRPr lang="en-US" sz="1100" dirty="0"/>
          </a:p>
          <a:p>
            <a:pPr marL="285750" indent="-285750">
              <a:buFont typeface="Arial" panose="020B0604020202020204" pitchFamily="34" charset="0"/>
              <a:buChar char="•"/>
            </a:pPr>
            <a:r>
              <a:rPr lang="en-IN" sz="1100" dirty="0"/>
              <a:t>Gene (Human genes) -20,945</a:t>
            </a:r>
          </a:p>
          <a:p>
            <a:pPr marL="285750" indent="-285750">
              <a:buFont typeface="Arial" panose="020B0604020202020204" pitchFamily="34" charset="0"/>
              <a:buChar char="•"/>
            </a:pPr>
            <a:r>
              <a:rPr lang="en-IN" sz="1100" dirty="0"/>
              <a:t>Molecular Function (Molecular activities)</a:t>
            </a:r>
          </a:p>
          <a:p>
            <a:pPr marL="285750" indent="-285750">
              <a:buFont typeface="Arial" panose="020B0604020202020204" pitchFamily="34" charset="0"/>
              <a:buChar char="•"/>
            </a:pPr>
            <a:r>
              <a:rPr lang="en-IN" sz="1100" dirty="0"/>
              <a:t>Pathway (Biological pathways)</a:t>
            </a:r>
          </a:p>
          <a:p>
            <a:pPr marL="285750" indent="-285750">
              <a:buFont typeface="Arial" panose="020B0604020202020204" pitchFamily="34" charset="0"/>
              <a:buChar char="•"/>
            </a:pPr>
            <a:r>
              <a:rPr lang="en-IN" sz="1100" dirty="0"/>
              <a:t>Pharmacologic Class (Drug classes</a:t>
            </a:r>
            <a:r>
              <a:rPr lang="en-US" sz="1100" dirty="0"/>
              <a:t>)</a:t>
            </a:r>
          </a:p>
          <a:p>
            <a:pPr marL="285750" indent="-285750">
              <a:buFont typeface="Arial" panose="020B0604020202020204" pitchFamily="34" charset="0"/>
              <a:buChar char="•"/>
            </a:pPr>
            <a:r>
              <a:rPr lang="en-IN" sz="1100" dirty="0"/>
              <a:t>Side Effect (Drug adverse effects) - 5,734</a:t>
            </a:r>
          </a:p>
          <a:p>
            <a:pPr marL="285750" indent="-285750">
              <a:buFont typeface="Arial" panose="020B0604020202020204" pitchFamily="34" charset="0"/>
              <a:buChar char="•"/>
            </a:pPr>
            <a:r>
              <a:rPr lang="en-IN" sz="1100" dirty="0"/>
              <a:t>Symptom (Disease symptoms)</a:t>
            </a:r>
          </a:p>
          <a:p>
            <a:pPr marL="285750" indent="-285750">
              <a:buFont typeface="Arial" panose="020B0604020202020204" pitchFamily="34" charset="0"/>
              <a:buChar char="•"/>
            </a:pPr>
            <a:endParaRPr lang="en-IN" sz="1100" dirty="0"/>
          </a:p>
          <a:p>
            <a:endParaRPr lang="en-IN" sz="1100" dirty="0"/>
          </a:p>
          <a:p>
            <a:pPr marL="0" indent="0">
              <a:lnSpc>
                <a:spcPts val="1700"/>
              </a:lnSpc>
              <a:buNone/>
            </a:pPr>
            <a:endParaRPr lang="en-US" sz="1100" dirty="0">
              <a:solidFill>
                <a:srgbClr val="34495E"/>
              </a:solidFill>
            </a:endParaRPr>
          </a:p>
          <a:p>
            <a:pPr marL="0" indent="0">
              <a:lnSpc>
                <a:spcPts val="1700"/>
              </a:lnSpc>
              <a:buNone/>
            </a:pPr>
            <a:endParaRPr lang="en-US" sz="1100" dirty="0"/>
          </a:p>
        </p:txBody>
      </p:sp>
      <p:sp>
        <p:nvSpPr>
          <p:cNvPr id="6" name="Text 4"/>
          <p:cNvSpPr/>
          <p:nvPr/>
        </p:nvSpPr>
        <p:spPr>
          <a:xfrm>
            <a:off x="4846320" y="864108"/>
            <a:ext cx="3657600" cy="256032"/>
          </a:xfrm>
          <a:prstGeom prst="rect">
            <a:avLst/>
          </a:prstGeom>
          <a:noFill/>
          <a:ln/>
        </p:spPr>
        <p:txBody>
          <a:bodyPr wrap="square" rtlCol="0" anchor="ctr"/>
          <a:lstStyle/>
          <a:p>
            <a:pPr marL="0" indent="0">
              <a:buNone/>
            </a:pPr>
            <a:r>
              <a:rPr lang="en-US" sz="1300" b="1" dirty="0">
                <a:solidFill>
                  <a:srgbClr val="5DADE2"/>
                </a:solidFill>
              </a:rPr>
              <a:t>Edges:</a:t>
            </a:r>
            <a:endParaRPr lang="en-US" sz="1300" dirty="0"/>
          </a:p>
        </p:txBody>
      </p:sp>
      <p:sp>
        <p:nvSpPr>
          <p:cNvPr id="7" name="Text 5"/>
          <p:cNvSpPr/>
          <p:nvPr/>
        </p:nvSpPr>
        <p:spPr>
          <a:xfrm>
            <a:off x="4846320" y="1767332"/>
            <a:ext cx="3804920" cy="1097280"/>
          </a:xfrm>
          <a:prstGeom prst="rect">
            <a:avLst/>
          </a:prstGeom>
          <a:noFill/>
          <a:ln/>
        </p:spPr>
        <p:txBody>
          <a:bodyPr wrap="square" rtlCol="0" anchor="ctr"/>
          <a:lstStyle/>
          <a:p>
            <a:pPr>
              <a:lnSpc>
                <a:spcPts val="1700"/>
              </a:lnSpc>
            </a:pPr>
            <a:r>
              <a:rPr lang="en-US" sz="1100" dirty="0">
                <a:solidFill>
                  <a:srgbClr val="34495E"/>
                </a:solidFill>
              </a:rPr>
              <a:t>24 types:</a:t>
            </a:r>
          </a:p>
          <a:p>
            <a:pPr marL="285750" indent="-285750">
              <a:buFont typeface="Arial" panose="020B0604020202020204" pitchFamily="34" charset="0"/>
              <a:buChar char="•"/>
            </a:pPr>
            <a:r>
              <a:rPr lang="en-IN" sz="1100" dirty="0"/>
              <a:t>Compound–treats–Disease (Drug treats disease)</a:t>
            </a:r>
          </a:p>
          <a:p>
            <a:pPr marL="285750" indent="-285750">
              <a:buFont typeface="Arial" panose="020B0604020202020204" pitchFamily="34" charset="0"/>
              <a:buChar char="•"/>
            </a:pPr>
            <a:r>
              <a:rPr lang="en-IN" sz="1100" dirty="0"/>
              <a:t>Compound–binds–Gene (Drug interacts with gene)</a:t>
            </a:r>
          </a:p>
          <a:p>
            <a:pPr marL="285750" indent="-285750">
              <a:buFont typeface="Arial" panose="020B0604020202020204" pitchFamily="34" charset="0"/>
              <a:buChar char="•"/>
            </a:pPr>
            <a:r>
              <a:rPr lang="en-IN" sz="1100" dirty="0"/>
              <a:t>Gene–interacts–Gene (Gene interaction</a:t>
            </a:r>
          </a:p>
          <a:p>
            <a:pPr marL="285750" indent="-285750">
              <a:buFont typeface="Arial" panose="020B0604020202020204" pitchFamily="34" charset="0"/>
              <a:buChar char="•"/>
            </a:pPr>
            <a:r>
              <a:rPr lang="en-IN" sz="1100" dirty="0"/>
              <a:t>Disease–associates–Gene (Disease linked to gene)</a:t>
            </a:r>
          </a:p>
          <a:p>
            <a:pPr marL="285750" indent="-285750">
              <a:buFont typeface="Arial" panose="020B0604020202020204" pitchFamily="34" charset="0"/>
              <a:buChar char="•"/>
            </a:pPr>
            <a:r>
              <a:rPr lang="en-IN" sz="1100" dirty="0"/>
              <a:t>Compound–causes–</a:t>
            </a:r>
            <a:r>
              <a:rPr lang="en-IN" sz="1100" dirty="0" err="1"/>
              <a:t>SideEffect</a:t>
            </a:r>
            <a:r>
              <a:rPr lang="en-IN" sz="1100" dirty="0"/>
              <a:t> (Drug causes side effect)</a:t>
            </a:r>
            <a:endParaRPr lang="en-US" sz="1100" dirty="0"/>
          </a:p>
          <a:p>
            <a:pPr marL="285750" indent="-285750">
              <a:buFont typeface="Arial" panose="020B0604020202020204" pitchFamily="34" charset="0"/>
              <a:buChar char="•"/>
            </a:pPr>
            <a:r>
              <a:rPr lang="en-IN" sz="1100" dirty="0"/>
              <a:t>Anatomy–expresses–Gene (Gene expressed in tissue)</a:t>
            </a:r>
          </a:p>
          <a:p>
            <a:pPr marL="285750" indent="-285750">
              <a:buFont typeface="Arial" panose="020B0604020202020204" pitchFamily="34" charset="0"/>
              <a:buChar char="•"/>
            </a:pPr>
            <a:r>
              <a:rPr lang="en-IN" sz="1100" dirty="0"/>
              <a:t>Gene–participates–Pathway (Gene in pathway)</a:t>
            </a:r>
          </a:p>
          <a:p>
            <a:pPr marL="285750" indent="-285750">
              <a:buFont typeface="Arial" panose="020B0604020202020204" pitchFamily="34" charset="0"/>
              <a:buChar char="•"/>
            </a:pPr>
            <a:r>
              <a:rPr lang="en-IN" sz="1100" dirty="0"/>
              <a:t>Disease–presents–Symptom (Disease has symptom)</a:t>
            </a:r>
          </a:p>
          <a:p>
            <a:endParaRPr lang="en-IN" sz="1100" dirty="0"/>
          </a:p>
          <a:p>
            <a:pPr>
              <a:lnSpc>
                <a:spcPts val="1700"/>
              </a:lnSpc>
            </a:pPr>
            <a:endParaRPr lang="en-US" sz="1100" dirty="0">
              <a:solidFill>
                <a:srgbClr val="34495E"/>
              </a:solidFill>
            </a:endParaRPr>
          </a:p>
          <a:p>
            <a:pPr>
              <a:lnSpc>
                <a:spcPts val="1700"/>
              </a:lnSpc>
            </a:pPr>
            <a:endParaRPr lang="en-US" sz="1100" dirty="0"/>
          </a:p>
        </p:txBody>
      </p:sp>
      <p:sp>
        <p:nvSpPr>
          <p:cNvPr id="9" name="Text 7"/>
          <p:cNvSpPr/>
          <p:nvPr/>
        </p:nvSpPr>
        <p:spPr>
          <a:xfrm>
            <a:off x="684530" y="4023360"/>
            <a:ext cx="7498080" cy="228600"/>
          </a:xfrm>
          <a:prstGeom prst="rect">
            <a:avLst/>
          </a:prstGeom>
          <a:noFill/>
          <a:ln/>
        </p:spPr>
        <p:txBody>
          <a:bodyPr wrap="square" rtlCol="0" anchor="ctr"/>
          <a:lstStyle/>
          <a:p>
            <a:pPr marL="0" indent="0">
              <a:buNone/>
            </a:pPr>
            <a:r>
              <a:rPr lang="en-US" sz="1100" b="1" dirty="0">
                <a:solidFill>
                  <a:srgbClr val="3498DB"/>
                </a:solidFill>
              </a:rPr>
              <a:t>Paper:</a:t>
            </a:r>
            <a:endParaRPr lang="en-US" sz="1100" dirty="0"/>
          </a:p>
        </p:txBody>
      </p:sp>
      <p:sp>
        <p:nvSpPr>
          <p:cNvPr id="10" name="Text 8"/>
          <p:cNvSpPr/>
          <p:nvPr/>
        </p:nvSpPr>
        <p:spPr>
          <a:xfrm>
            <a:off x="1153160" y="3977640"/>
            <a:ext cx="7498080" cy="320040"/>
          </a:xfrm>
          <a:prstGeom prst="rect">
            <a:avLst/>
          </a:prstGeom>
          <a:noFill/>
          <a:ln/>
        </p:spPr>
        <p:txBody>
          <a:bodyPr wrap="square" rtlCol="0" anchor="ctr"/>
          <a:lstStyle/>
          <a:p>
            <a:pPr marL="0" indent="0">
              <a:lnSpc>
                <a:spcPts val="1400"/>
              </a:lnSpc>
              <a:buNone/>
            </a:pPr>
            <a:r>
              <a:rPr lang="en-US" sz="1000" dirty="0">
                <a:solidFill>
                  <a:srgbClr val="34495E"/>
                </a:solidFill>
              </a:rPr>
              <a:t>Himmelstein et al. (2017). 'Systematic integration of biomedical knowledge prioritizes drugs for repurposing.' eLife.</a:t>
            </a:r>
            <a:endParaRPr lang="en-US" sz="1000" dirty="0"/>
          </a:p>
        </p:txBody>
      </p:sp>
      <p:sp>
        <p:nvSpPr>
          <p:cNvPr id="11" name="Text 9">
            <a:hlinkClick r:id="rId3"/>
          </p:cNvPr>
          <p:cNvSpPr/>
          <p:nvPr/>
        </p:nvSpPr>
        <p:spPr>
          <a:xfrm>
            <a:off x="684530" y="4276344"/>
            <a:ext cx="7498080" cy="182880"/>
          </a:xfrm>
          <a:prstGeom prst="rect">
            <a:avLst/>
          </a:prstGeom>
          <a:noFill/>
          <a:ln/>
        </p:spPr>
        <p:txBody>
          <a:bodyPr wrap="square" rtlCol="0" anchor="ctr"/>
          <a:lstStyle/>
          <a:p>
            <a:pPr marL="0" indent="0">
              <a:buNone/>
            </a:pPr>
            <a:r>
              <a:rPr lang="en-US" sz="900" u="sng" dirty="0">
                <a:solidFill>
                  <a:srgbClr val="3498DB"/>
                </a:solidFill>
                <a:hlinkClick r:id="rId3">
                  <a:extLst>
                    <a:ext uri="{A12FA001-AC4F-418D-AE19-62706E023703}">
                      <ahyp:hlinkClr xmlns:ahyp="http://schemas.microsoft.com/office/drawing/2018/hyperlinkcolor" val="tx"/>
                    </a:ext>
                  </a:extLst>
                </a:hlinkClick>
              </a:rPr>
              <a:t>https://doi.org/10.7554/eLife.26726</a:t>
            </a:r>
            <a:endParaRPr lang="en-US" sz="900" dirty="0"/>
          </a:p>
        </p:txBody>
      </p:sp>
      <p:sp>
        <p:nvSpPr>
          <p:cNvPr id="13" name="Text 11">
            <a:hlinkClick r:id="rId4"/>
          </p:cNvPr>
          <p:cNvSpPr/>
          <p:nvPr/>
        </p:nvSpPr>
        <p:spPr>
          <a:xfrm>
            <a:off x="684530" y="4459224"/>
            <a:ext cx="7498080" cy="320040"/>
          </a:xfrm>
          <a:prstGeom prst="rect">
            <a:avLst/>
          </a:prstGeom>
          <a:noFill/>
          <a:ln/>
        </p:spPr>
        <p:txBody>
          <a:bodyPr wrap="square" rtlCol="0" anchor="ctr"/>
          <a:lstStyle/>
          <a:p>
            <a:pPr marL="0" indent="0">
              <a:buNone/>
            </a:pPr>
            <a:r>
              <a:rPr lang="en-US" sz="900" u="sng" dirty="0">
                <a:solidFill>
                  <a:srgbClr val="3498DB"/>
                </a:solidFill>
                <a:hlinkClick r:id="rId4">
                  <a:extLst>
                    <a:ext uri="{A12FA001-AC4F-418D-AE19-62706E023703}">
                      <ahyp:hlinkClr xmlns:ahyp="http://schemas.microsoft.com/office/drawing/2018/hyperlinkcolor" val="tx"/>
                    </a:ext>
                  </a:extLst>
                </a:hlinkClick>
              </a:rPr>
              <a:t>https://github.com/hetio/hetionet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320040"/>
          </a:xfrm>
          <a:prstGeom prst="rect">
            <a:avLst/>
          </a:prstGeom>
          <a:noFill/>
          <a:ln/>
        </p:spPr>
        <p:txBody>
          <a:bodyPr wrap="square" rtlCol="0" anchor="ctr"/>
          <a:lstStyle/>
          <a:p>
            <a:pPr marL="0" indent="0">
              <a:buNone/>
            </a:pPr>
            <a:r>
              <a:rPr lang="en-US" sz="2200" b="1" dirty="0">
                <a:solidFill>
                  <a:srgbClr val="2C3E50"/>
                </a:solidFill>
              </a:rPr>
              <a:t>6. Hetionet - Visual Example</a:t>
            </a:r>
            <a:endParaRPr lang="en-US" sz="2200" dirty="0"/>
          </a:p>
        </p:txBody>
      </p:sp>
      <p:sp>
        <p:nvSpPr>
          <p:cNvPr id="28" name="TextBox 27">
            <a:extLst>
              <a:ext uri="{FF2B5EF4-FFF2-40B4-BE49-F238E27FC236}">
                <a16:creationId xmlns:a16="http://schemas.microsoft.com/office/drawing/2014/main" id="{DAAF044C-B331-490E-9DF9-20E4D8BA15A7}"/>
              </a:ext>
            </a:extLst>
          </p:cNvPr>
          <p:cNvSpPr txBox="1"/>
          <p:nvPr/>
        </p:nvSpPr>
        <p:spPr>
          <a:xfrm>
            <a:off x="552450" y="977900"/>
            <a:ext cx="3613150" cy="3016210"/>
          </a:xfrm>
          <a:prstGeom prst="rect">
            <a:avLst/>
          </a:prstGeom>
          <a:noFill/>
        </p:spPr>
        <p:txBody>
          <a:bodyPr wrap="square" rtlCol="0">
            <a:spAutoFit/>
          </a:bodyPr>
          <a:lstStyle/>
          <a:p>
            <a:r>
              <a:rPr lang="en-IN" sz="1000" dirty="0"/>
              <a:t>Compound</a:t>
            </a:r>
            <a:br>
              <a:rPr lang="en-IN" sz="1000" dirty="0"/>
            </a:br>
            <a:r>
              <a:rPr lang="en-IN" sz="1000" dirty="0"/>
              <a:t>→ treats → Disease</a:t>
            </a:r>
          </a:p>
          <a:p>
            <a:r>
              <a:rPr lang="en-IN" sz="1000" dirty="0"/>
              <a:t>Compound</a:t>
            </a:r>
            <a:br>
              <a:rPr lang="en-IN" sz="1000" dirty="0"/>
            </a:br>
            <a:r>
              <a:rPr lang="en-IN" sz="1000" dirty="0"/>
              <a:t>→ binds → Gene</a:t>
            </a:r>
          </a:p>
          <a:p>
            <a:r>
              <a:rPr lang="en-IN" sz="1000" dirty="0"/>
              <a:t>Gene</a:t>
            </a:r>
            <a:br>
              <a:rPr lang="en-IN" sz="1000" dirty="0"/>
            </a:br>
            <a:r>
              <a:rPr lang="en-IN" sz="1000" dirty="0"/>
              <a:t>→ </a:t>
            </a:r>
            <a:r>
              <a:rPr lang="en-IN" sz="1000" dirty="0" err="1"/>
              <a:t>interacts_with</a:t>
            </a:r>
            <a:r>
              <a:rPr lang="en-IN" sz="1000" dirty="0"/>
              <a:t> → Gene</a:t>
            </a:r>
          </a:p>
          <a:p>
            <a:r>
              <a:rPr lang="en-IN" sz="1000" dirty="0"/>
              <a:t>Disease</a:t>
            </a:r>
            <a:br>
              <a:rPr lang="en-IN" sz="1000" dirty="0"/>
            </a:br>
            <a:r>
              <a:rPr lang="en-IN" sz="1000" dirty="0"/>
              <a:t>→ </a:t>
            </a:r>
            <a:r>
              <a:rPr lang="en-IN" sz="1000" dirty="0" err="1"/>
              <a:t>associates_with</a:t>
            </a:r>
            <a:r>
              <a:rPr lang="en-IN" sz="1000" dirty="0"/>
              <a:t> → Gene</a:t>
            </a:r>
          </a:p>
          <a:p>
            <a:r>
              <a:rPr lang="en-IN" sz="1000" dirty="0"/>
              <a:t>Gene</a:t>
            </a:r>
            <a:br>
              <a:rPr lang="en-IN" sz="1000" dirty="0"/>
            </a:br>
            <a:r>
              <a:rPr lang="en-IN" sz="1000" dirty="0"/>
              <a:t>→ </a:t>
            </a:r>
            <a:r>
              <a:rPr lang="en-IN" sz="1000" dirty="0" err="1"/>
              <a:t>participates_in</a:t>
            </a:r>
            <a:r>
              <a:rPr lang="en-IN" sz="1000" dirty="0"/>
              <a:t> → </a:t>
            </a:r>
            <a:r>
              <a:rPr lang="en-IN" sz="1000" dirty="0" err="1"/>
              <a:t>Biological_Process</a:t>
            </a:r>
            <a:endParaRPr lang="en-IN" sz="1000" dirty="0"/>
          </a:p>
          <a:p>
            <a:r>
              <a:rPr lang="en-IN" sz="1000" dirty="0"/>
              <a:t>Gene</a:t>
            </a:r>
            <a:br>
              <a:rPr lang="en-IN" sz="1000" dirty="0"/>
            </a:br>
            <a:r>
              <a:rPr lang="en-IN" sz="1000" dirty="0"/>
              <a:t>→ </a:t>
            </a:r>
            <a:r>
              <a:rPr lang="en-IN" sz="1000" dirty="0" err="1"/>
              <a:t>participates_in</a:t>
            </a:r>
            <a:r>
              <a:rPr lang="en-IN" sz="1000" dirty="0"/>
              <a:t> → Pathway</a:t>
            </a:r>
          </a:p>
          <a:p>
            <a:r>
              <a:rPr lang="en-IN" sz="1000" dirty="0"/>
              <a:t>Compound</a:t>
            </a:r>
            <a:br>
              <a:rPr lang="en-IN" sz="1000" dirty="0"/>
            </a:br>
            <a:r>
              <a:rPr lang="en-IN" sz="1000" dirty="0"/>
              <a:t>→ causes → </a:t>
            </a:r>
            <a:r>
              <a:rPr lang="en-IN" sz="1000" dirty="0" err="1"/>
              <a:t>Side_Effect</a:t>
            </a:r>
            <a:endParaRPr lang="en-IN" sz="1000" dirty="0"/>
          </a:p>
          <a:p>
            <a:r>
              <a:rPr lang="en-IN" sz="1000" dirty="0"/>
              <a:t>Disease</a:t>
            </a:r>
            <a:br>
              <a:rPr lang="en-IN" sz="1000" dirty="0"/>
            </a:br>
            <a:r>
              <a:rPr lang="en-IN" sz="1000" dirty="0"/>
              <a:t>→ presents → Symptom</a:t>
            </a:r>
          </a:p>
          <a:p>
            <a:r>
              <a:rPr lang="en-IN" sz="1000" dirty="0"/>
              <a:t>Gene</a:t>
            </a:r>
            <a:br>
              <a:rPr lang="en-IN" sz="1000" dirty="0"/>
            </a:br>
            <a:r>
              <a:rPr lang="en-IN" sz="1000" dirty="0"/>
              <a:t>→ </a:t>
            </a:r>
            <a:r>
              <a:rPr lang="en-IN" sz="1000" dirty="0" err="1"/>
              <a:t>expressed_in</a:t>
            </a:r>
            <a:r>
              <a:rPr lang="en-IN" sz="1000" dirty="0"/>
              <a:t> → Anatomy</a:t>
            </a:r>
          </a:p>
          <a:p>
            <a:endParaRPr lang="en-IN" sz="1000" dirty="0"/>
          </a:p>
        </p:txBody>
      </p:sp>
      <p:sp>
        <p:nvSpPr>
          <p:cNvPr id="29" name="TextBox 28">
            <a:extLst>
              <a:ext uri="{FF2B5EF4-FFF2-40B4-BE49-F238E27FC236}">
                <a16:creationId xmlns:a16="http://schemas.microsoft.com/office/drawing/2014/main" id="{D5B73E15-6CBB-44ED-B98F-73EDD01B37D1}"/>
              </a:ext>
            </a:extLst>
          </p:cNvPr>
          <p:cNvSpPr txBox="1"/>
          <p:nvPr/>
        </p:nvSpPr>
        <p:spPr>
          <a:xfrm>
            <a:off x="5315583" y="977900"/>
            <a:ext cx="3613150" cy="1938992"/>
          </a:xfrm>
          <a:prstGeom prst="rect">
            <a:avLst/>
          </a:prstGeom>
          <a:noFill/>
        </p:spPr>
        <p:txBody>
          <a:bodyPr wrap="square" rtlCol="0">
            <a:spAutoFit/>
          </a:bodyPr>
          <a:lstStyle/>
          <a:p>
            <a:r>
              <a:rPr lang="en-IN" sz="1000" dirty="0"/>
              <a:t>Aspirin</a:t>
            </a:r>
            <a:br>
              <a:rPr lang="en-IN" sz="1000" dirty="0"/>
            </a:br>
            <a:r>
              <a:rPr lang="en-IN" sz="1000" dirty="0"/>
              <a:t>→ binds → PTGS1</a:t>
            </a:r>
          </a:p>
          <a:p>
            <a:r>
              <a:rPr lang="en-IN" sz="1000" dirty="0"/>
              <a:t>PTGS1</a:t>
            </a:r>
            <a:br>
              <a:rPr lang="en-IN" sz="1000" dirty="0"/>
            </a:br>
            <a:r>
              <a:rPr lang="en-IN" sz="1000" dirty="0"/>
              <a:t>→ </a:t>
            </a:r>
            <a:r>
              <a:rPr lang="en-IN" sz="1000" dirty="0" err="1"/>
              <a:t>participates_in</a:t>
            </a:r>
            <a:r>
              <a:rPr lang="en-IN" sz="1000" dirty="0"/>
              <a:t> → </a:t>
            </a:r>
            <a:r>
              <a:rPr lang="en-IN" sz="1000" dirty="0" err="1"/>
              <a:t>Inflammatory_Pathway</a:t>
            </a:r>
            <a:endParaRPr lang="en-IN" sz="1000" dirty="0"/>
          </a:p>
          <a:p>
            <a:r>
              <a:rPr lang="en-IN" sz="1000" dirty="0" err="1"/>
              <a:t>Inflammatory_Pathway</a:t>
            </a:r>
            <a:br>
              <a:rPr lang="en-IN" sz="1000" dirty="0"/>
            </a:br>
            <a:r>
              <a:rPr lang="en-IN" sz="1000" dirty="0"/>
              <a:t>→ </a:t>
            </a:r>
            <a:r>
              <a:rPr lang="en-IN" sz="1000" dirty="0" err="1"/>
              <a:t>associated_with</a:t>
            </a:r>
            <a:r>
              <a:rPr lang="en-IN" sz="1000" dirty="0"/>
              <a:t> → Arthritis</a:t>
            </a:r>
          </a:p>
          <a:p>
            <a:r>
              <a:rPr lang="en-IN" sz="1000" dirty="0"/>
              <a:t>Aspirin</a:t>
            </a:r>
            <a:br>
              <a:rPr lang="en-IN" sz="1000" dirty="0"/>
            </a:br>
            <a:r>
              <a:rPr lang="en-IN" sz="1000" dirty="0"/>
              <a:t>→ treats → Arthritis</a:t>
            </a:r>
          </a:p>
          <a:p>
            <a:r>
              <a:rPr lang="en-IN" sz="1000" dirty="0"/>
              <a:t>Aspirin</a:t>
            </a:r>
            <a:br>
              <a:rPr lang="en-IN" sz="1000" dirty="0"/>
            </a:br>
            <a:r>
              <a:rPr lang="en-IN" sz="1000" dirty="0"/>
              <a:t>→ causes → </a:t>
            </a:r>
            <a:r>
              <a:rPr lang="en-IN" sz="1000" dirty="0" err="1"/>
              <a:t>Gastrointestinal_Bleeding</a:t>
            </a:r>
            <a:endParaRPr lang="en-IN" sz="1000" dirty="0"/>
          </a:p>
          <a:p>
            <a:r>
              <a:rPr lang="en-IN" sz="1000" dirty="0"/>
              <a:t>Arthritis</a:t>
            </a:r>
            <a:br>
              <a:rPr lang="en-IN" sz="1000" dirty="0"/>
            </a:br>
            <a:r>
              <a:rPr lang="en-IN" sz="1000" dirty="0"/>
              <a:t>→ presents → </a:t>
            </a:r>
            <a:r>
              <a:rPr lang="en-IN" sz="1000" dirty="0" err="1"/>
              <a:t>Joint_Pain</a:t>
            </a:r>
            <a:endParaRPr lang="en-IN" sz="1000" dirty="0"/>
          </a:p>
        </p:txBody>
      </p:sp>
      <p:sp>
        <p:nvSpPr>
          <p:cNvPr id="30" name="TextBox 29">
            <a:extLst>
              <a:ext uri="{FF2B5EF4-FFF2-40B4-BE49-F238E27FC236}">
                <a16:creationId xmlns:a16="http://schemas.microsoft.com/office/drawing/2014/main" id="{A4837C6B-C613-46B0-81C7-46DCADD5FF0F}"/>
              </a:ext>
            </a:extLst>
          </p:cNvPr>
          <p:cNvSpPr txBox="1"/>
          <p:nvPr/>
        </p:nvSpPr>
        <p:spPr>
          <a:xfrm>
            <a:off x="5315583" y="670123"/>
            <a:ext cx="1390648" cy="307777"/>
          </a:xfrm>
          <a:prstGeom prst="rect">
            <a:avLst/>
          </a:prstGeom>
          <a:noFill/>
        </p:spPr>
        <p:txBody>
          <a:bodyPr wrap="square" rtlCol="0">
            <a:spAutoFit/>
          </a:bodyPr>
          <a:lstStyle/>
          <a:p>
            <a:r>
              <a:rPr lang="en-US" sz="1400" u="sng" dirty="0"/>
              <a:t>Example</a:t>
            </a:r>
            <a:endParaRPr lang="en-IN" sz="1400" u="sng" dirty="0"/>
          </a:p>
        </p:txBody>
      </p:sp>
      <p:sp>
        <p:nvSpPr>
          <p:cNvPr id="31" name="TextBox 30">
            <a:extLst>
              <a:ext uri="{FF2B5EF4-FFF2-40B4-BE49-F238E27FC236}">
                <a16:creationId xmlns:a16="http://schemas.microsoft.com/office/drawing/2014/main" id="{5E5CD963-01F9-45DA-8C06-59D7C1E5F8D5}"/>
              </a:ext>
            </a:extLst>
          </p:cNvPr>
          <p:cNvSpPr txBox="1"/>
          <p:nvPr/>
        </p:nvSpPr>
        <p:spPr>
          <a:xfrm>
            <a:off x="3244852" y="1947396"/>
            <a:ext cx="3467100" cy="3016210"/>
          </a:xfrm>
          <a:prstGeom prst="rect">
            <a:avLst/>
          </a:prstGeom>
          <a:noFill/>
        </p:spPr>
        <p:txBody>
          <a:bodyPr wrap="square" rtlCol="0">
            <a:spAutoFit/>
          </a:bodyPr>
          <a:lstStyle/>
          <a:p>
            <a:r>
              <a:rPr lang="en-IN" sz="1000" dirty="0"/>
              <a:t> Compound</a:t>
            </a:r>
          </a:p>
          <a:p>
            <a:r>
              <a:rPr lang="en-IN" sz="1000" dirty="0"/>
              <a:t>             │</a:t>
            </a:r>
          </a:p>
          <a:p>
            <a:r>
              <a:rPr lang="en-IN" sz="1000" dirty="0"/>
              <a:t>             │ binds</a:t>
            </a:r>
          </a:p>
          <a:p>
            <a:r>
              <a:rPr lang="en-IN" sz="1000" dirty="0"/>
              <a:t>             ▼</a:t>
            </a:r>
          </a:p>
          <a:p>
            <a:r>
              <a:rPr lang="en-IN" sz="1000" dirty="0"/>
              <a:t>             Gene</a:t>
            </a:r>
          </a:p>
          <a:p>
            <a:r>
              <a:rPr lang="en-IN" sz="1000" dirty="0"/>
              <a:t>            /      \</a:t>
            </a:r>
          </a:p>
          <a:p>
            <a:r>
              <a:rPr lang="en-IN" sz="1000" dirty="0"/>
              <a:t>           /          \</a:t>
            </a:r>
          </a:p>
          <a:p>
            <a:r>
              <a:rPr lang="en-IN" sz="1000" dirty="0"/>
              <a:t> participates   </a:t>
            </a:r>
            <a:r>
              <a:rPr lang="en-IN" sz="1000" dirty="0" err="1"/>
              <a:t>interacts_with</a:t>
            </a:r>
            <a:endParaRPr lang="en-IN" sz="1000" dirty="0"/>
          </a:p>
          <a:p>
            <a:r>
              <a:rPr lang="en-IN" sz="1000" dirty="0"/>
              <a:t>         │                │</a:t>
            </a:r>
          </a:p>
          <a:p>
            <a:r>
              <a:rPr lang="en-IN" sz="1000" dirty="0"/>
              <a:t>         ▼             ▼</a:t>
            </a:r>
          </a:p>
          <a:p>
            <a:r>
              <a:rPr lang="en-IN" sz="1000" dirty="0"/>
              <a:t>   </a:t>
            </a:r>
            <a:r>
              <a:rPr lang="en-IN" sz="1000" dirty="0" err="1"/>
              <a:t>Biological_Process</a:t>
            </a:r>
            <a:endParaRPr lang="en-IN" sz="1000" dirty="0"/>
          </a:p>
          <a:p>
            <a:r>
              <a:rPr lang="en-IN" sz="1000" dirty="0"/>
              <a:t>           │</a:t>
            </a:r>
          </a:p>
          <a:p>
            <a:r>
              <a:rPr lang="en-IN" sz="1000" dirty="0"/>
              <a:t>           │ </a:t>
            </a:r>
            <a:r>
              <a:rPr lang="en-IN" sz="1000" dirty="0" err="1"/>
              <a:t>associated_with</a:t>
            </a:r>
            <a:endParaRPr lang="en-IN" sz="1000" dirty="0"/>
          </a:p>
          <a:p>
            <a:r>
              <a:rPr lang="en-IN" sz="1000" dirty="0"/>
              <a:t>           ▼</a:t>
            </a:r>
          </a:p>
          <a:p>
            <a:r>
              <a:rPr lang="en-IN" sz="1000" dirty="0"/>
              <a:t>         Disease</a:t>
            </a:r>
          </a:p>
          <a:p>
            <a:r>
              <a:rPr lang="en-IN" sz="1000" dirty="0"/>
              <a:t>           │</a:t>
            </a:r>
          </a:p>
          <a:p>
            <a:r>
              <a:rPr lang="en-IN" sz="1000" dirty="0"/>
              <a:t>           │ </a:t>
            </a:r>
            <a:r>
              <a:rPr lang="en-IN" sz="1000" dirty="0" err="1"/>
              <a:t>treated_by</a:t>
            </a:r>
            <a:endParaRPr lang="en-IN" sz="1000" dirty="0"/>
          </a:p>
          <a:p>
            <a:r>
              <a:rPr lang="en-IN" sz="1000" dirty="0"/>
              <a:t>           ▼</a:t>
            </a:r>
          </a:p>
          <a:p>
            <a:r>
              <a:rPr lang="en-IN" sz="1000" dirty="0"/>
              <a:t>         Compound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E44AD"/>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7. UMLS</a:t>
            </a:r>
            <a:endParaRPr lang="en-US" sz="2600" dirty="0"/>
          </a:p>
        </p:txBody>
      </p:sp>
      <p:sp>
        <p:nvSpPr>
          <p:cNvPr id="4" name="Text 2"/>
          <p:cNvSpPr/>
          <p:nvPr/>
        </p:nvSpPr>
        <p:spPr>
          <a:xfrm>
            <a:off x="457200" y="960120"/>
            <a:ext cx="8229600" cy="274320"/>
          </a:xfrm>
          <a:prstGeom prst="rect">
            <a:avLst/>
          </a:prstGeom>
          <a:noFill/>
          <a:ln/>
        </p:spPr>
        <p:txBody>
          <a:bodyPr wrap="square" rtlCol="0" anchor="ctr"/>
          <a:lstStyle/>
          <a:p>
            <a:r>
              <a:rPr lang="en-US" sz="1400" i="1" dirty="0">
                <a:solidFill>
                  <a:srgbClr val="7B8894"/>
                </a:solidFill>
              </a:rPr>
              <a:t>Unified Medical Language System</a:t>
            </a:r>
            <a:endParaRPr lang="en-US" sz="1400" dirty="0"/>
          </a:p>
        </p:txBody>
      </p:sp>
      <p:sp>
        <p:nvSpPr>
          <p:cNvPr id="5" name="Text 3"/>
          <p:cNvSpPr/>
          <p:nvPr/>
        </p:nvSpPr>
        <p:spPr>
          <a:xfrm>
            <a:off x="640080" y="1417320"/>
            <a:ext cx="7863840" cy="256032"/>
          </a:xfrm>
          <a:prstGeom prst="rect">
            <a:avLst/>
          </a:prstGeom>
          <a:noFill/>
          <a:ln/>
        </p:spPr>
        <p:txBody>
          <a:bodyPr wrap="square" rtlCol="0" anchor="ctr"/>
          <a:lstStyle/>
          <a:p>
            <a:r>
              <a:rPr lang="en-US" sz="1300" b="1" dirty="0">
                <a:solidFill>
                  <a:srgbClr val="34495E"/>
                </a:solidFill>
              </a:rPr>
              <a:t>What is it?</a:t>
            </a:r>
            <a:endParaRPr lang="en-US" sz="1300" dirty="0"/>
          </a:p>
        </p:txBody>
      </p:sp>
      <p:sp>
        <p:nvSpPr>
          <p:cNvPr id="6" name="Text 4"/>
          <p:cNvSpPr/>
          <p:nvPr/>
        </p:nvSpPr>
        <p:spPr>
          <a:xfrm>
            <a:off x="640080" y="1719072"/>
            <a:ext cx="7863840" cy="594360"/>
          </a:xfrm>
          <a:prstGeom prst="rect">
            <a:avLst/>
          </a:prstGeom>
          <a:noFill/>
          <a:ln/>
        </p:spPr>
        <p:txBody>
          <a:bodyPr wrap="square" rtlCol="0" anchor="ctr"/>
          <a:lstStyle/>
          <a:p>
            <a:pPr>
              <a:lnSpc>
                <a:spcPts val="1800"/>
              </a:lnSpc>
            </a:pPr>
            <a:r>
              <a:rPr lang="en-US" sz="1200" dirty="0">
                <a:solidFill>
                  <a:srgbClr val="34495E"/>
                </a:solidFill>
              </a:rPr>
              <a:t>is a large biomedical terminology integration system developed by the U.S. National Library of Medicine. It integrates hundreds of biomedical vocabularies to enable interoperability across clinical systems, databases, and biomedical research tools.</a:t>
            </a:r>
            <a:endParaRPr lang="en-US" sz="1200" dirty="0"/>
          </a:p>
        </p:txBody>
      </p:sp>
      <p:sp>
        <p:nvSpPr>
          <p:cNvPr id="7" name="Text 5"/>
          <p:cNvSpPr/>
          <p:nvPr/>
        </p:nvSpPr>
        <p:spPr>
          <a:xfrm>
            <a:off x="640080" y="2468880"/>
            <a:ext cx="7863840" cy="256032"/>
          </a:xfrm>
          <a:prstGeom prst="rect">
            <a:avLst/>
          </a:prstGeom>
          <a:noFill/>
          <a:ln/>
        </p:spPr>
        <p:txBody>
          <a:bodyPr wrap="square" rtlCol="0" anchor="ctr"/>
          <a:lstStyle/>
          <a:p>
            <a:pPr marL="0" indent="0">
              <a:buNone/>
            </a:pPr>
            <a:r>
              <a:rPr lang="en-US" sz="1300" b="1" dirty="0">
                <a:solidFill>
                  <a:srgbClr val="34495E"/>
                </a:solidFill>
              </a:rPr>
              <a:t>Why it matters:</a:t>
            </a:r>
            <a:endParaRPr lang="en-US" sz="1300" dirty="0"/>
          </a:p>
        </p:txBody>
      </p:sp>
      <p:sp>
        <p:nvSpPr>
          <p:cNvPr id="8" name="Text 6"/>
          <p:cNvSpPr/>
          <p:nvPr/>
        </p:nvSpPr>
        <p:spPr>
          <a:xfrm>
            <a:off x="640080" y="2770632"/>
            <a:ext cx="7863840" cy="411480"/>
          </a:xfrm>
          <a:prstGeom prst="rect">
            <a:avLst/>
          </a:prstGeom>
          <a:noFill/>
          <a:ln/>
        </p:spPr>
        <p:txBody>
          <a:bodyPr wrap="square" rtlCol="0" anchor="ctr"/>
          <a:lstStyle/>
          <a:p>
            <a:pPr marL="0" indent="0">
              <a:lnSpc>
                <a:spcPts val="1800"/>
              </a:lnSpc>
              <a:buNone/>
            </a:pPr>
            <a:r>
              <a:rPr lang="en-US" sz="1200" dirty="0">
                <a:solidFill>
                  <a:srgbClr val="34495E"/>
                </a:solidFill>
              </a:rPr>
              <a:t>Essential for integration. Translates between different medical coding systems automatically.</a:t>
            </a:r>
            <a:endParaRPr lang="en-US" sz="1200" dirty="0"/>
          </a:p>
        </p:txBody>
      </p:sp>
      <p:sp>
        <p:nvSpPr>
          <p:cNvPr id="10" name="Text 8"/>
          <p:cNvSpPr/>
          <p:nvPr/>
        </p:nvSpPr>
        <p:spPr>
          <a:xfrm>
            <a:off x="822960" y="3474720"/>
            <a:ext cx="7498080" cy="228600"/>
          </a:xfrm>
          <a:prstGeom prst="rect">
            <a:avLst/>
          </a:prstGeom>
          <a:noFill/>
          <a:ln/>
        </p:spPr>
        <p:txBody>
          <a:bodyPr wrap="square" rtlCol="0" anchor="ctr"/>
          <a:lstStyle/>
          <a:p>
            <a:pPr marL="0" indent="0">
              <a:buNone/>
            </a:pPr>
            <a:r>
              <a:rPr lang="en-US" sz="1200" b="1" dirty="0">
                <a:solidFill>
                  <a:srgbClr val="8E44AD"/>
                </a:solidFill>
              </a:rPr>
              <a:t>Properties:</a:t>
            </a:r>
            <a:endParaRPr lang="en-US" sz="1200" dirty="0"/>
          </a:p>
        </p:txBody>
      </p:sp>
      <p:sp>
        <p:nvSpPr>
          <p:cNvPr id="11" name="Text 9"/>
          <p:cNvSpPr/>
          <p:nvPr/>
        </p:nvSpPr>
        <p:spPr>
          <a:xfrm>
            <a:off x="822960" y="3749040"/>
            <a:ext cx="7498080" cy="146304"/>
          </a:xfrm>
          <a:prstGeom prst="rect">
            <a:avLst/>
          </a:prstGeom>
          <a:noFill/>
          <a:ln/>
        </p:spPr>
        <p:txBody>
          <a:bodyPr wrap="square" rtlCol="0" anchor="ctr"/>
          <a:lstStyle/>
          <a:p>
            <a:pPr marL="0" indent="0">
              <a:buNone/>
            </a:pPr>
            <a:r>
              <a:rPr lang="en-US" sz="1100" dirty="0">
                <a:solidFill>
                  <a:srgbClr val="34495E"/>
                </a:solidFill>
              </a:rPr>
              <a:t>• 4 million medical concepts</a:t>
            </a:r>
            <a:endParaRPr lang="en-US" sz="1100" dirty="0"/>
          </a:p>
        </p:txBody>
      </p:sp>
      <p:sp>
        <p:nvSpPr>
          <p:cNvPr id="12" name="Text 10"/>
          <p:cNvSpPr/>
          <p:nvPr/>
        </p:nvSpPr>
        <p:spPr>
          <a:xfrm>
            <a:off x="822960" y="3913632"/>
            <a:ext cx="7498080" cy="146304"/>
          </a:xfrm>
          <a:prstGeom prst="rect">
            <a:avLst/>
          </a:prstGeom>
          <a:noFill/>
          <a:ln/>
        </p:spPr>
        <p:txBody>
          <a:bodyPr wrap="square" rtlCol="0" anchor="ctr"/>
          <a:lstStyle/>
          <a:p>
            <a:pPr marL="0" indent="0">
              <a:buNone/>
            </a:pPr>
            <a:r>
              <a:rPr lang="en-US" sz="1100" dirty="0">
                <a:solidFill>
                  <a:srgbClr val="34495E"/>
                </a:solidFill>
              </a:rPr>
              <a:t>• 200+ vocabularies connected</a:t>
            </a:r>
            <a:endParaRPr lang="en-US" sz="1100" dirty="0"/>
          </a:p>
        </p:txBody>
      </p:sp>
      <p:sp>
        <p:nvSpPr>
          <p:cNvPr id="13" name="Text 11"/>
          <p:cNvSpPr/>
          <p:nvPr/>
        </p:nvSpPr>
        <p:spPr>
          <a:xfrm>
            <a:off x="822960" y="4078224"/>
            <a:ext cx="7498080" cy="146304"/>
          </a:xfrm>
          <a:prstGeom prst="rect">
            <a:avLst/>
          </a:prstGeom>
          <a:noFill/>
          <a:ln/>
        </p:spPr>
        <p:txBody>
          <a:bodyPr wrap="square" rtlCol="0" anchor="ctr"/>
          <a:lstStyle/>
          <a:p>
            <a:pPr marL="0" indent="0">
              <a:buNone/>
            </a:pPr>
            <a:r>
              <a:rPr lang="en-US" sz="1100" dirty="0">
                <a:solidFill>
                  <a:srgbClr val="34495E"/>
                </a:solidFill>
              </a:rPr>
              <a:t>• Updated quarterly by NIH</a:t>
            </a:r>
            <a:endParaRPr lang="en-US" sz="1100" dirty="0"/>
          </a:p>
        </p:txBody>
      </p:sp>
      <p:sp>
        <p:nvSpPr>
          <p:cNvPr id="14" name="Text 12"/>
          <p:cNvSpPr/>
          <p:nvPr/>
        </p:nvSpPr>
        <p:spPr>
          <a:xfrm>
            <a:off x="822960" y="4242816"/>
            <a:ext cx="7498080" cy="146304"/>
          </a:xfrm>
          <a:prstGeom prst="rect">
            <a:avLst/>
          </a:prstGeom>
          <a:noFill/>
          <a:ln/>
        </p:spPr>
        <p:txBody>
          <a:bodyPr wrap="square" rtlCol="0" anchor="ctr"/>
          <a:lstStyle/>
          <a:p>
            <a:pPr marL="0" indent="0">
              <a:buNone/>
            </a:pPr>
            <a:r>
              <a:rPr lang="en-US" sz="1100" dirty="0">
                <a:solidFill>
                  <a:srgbClr val="34495E"/>
                </a:solidFill>
              </a:rPr>
              <a:t>• Free for research use</a:t>
            </a:r>
            <a:endParaRPr lang="en-US" sz="1100" dirty="0"/>
          </a:p>
        </p:txBody>
      </p:sp>
      <p:sp>
        <p:nvSpPr>
          <p:cNvPr id="15" name="Text 13"/>
          <p:cNvSpPr/>
          <p:nvPr/>
        </p:nvSpPr>
        <p:spPr>
          <a:xfrm>
            <a:off x="4663440" y="3406140"/>
            <a:ext cx="3974722" cy="228600"/>
          </a:xfrm>
          <a:prstGeom prst="rect">
            <a:avLst/>
          </a:prstGeom>
          <a:noFill/>
          <a:ln/>
        </p:spPr>
        <p:txBody>
          <a:bodyPr wrap="square" rtlCol="0" anchor="ctr"/>
          <a:lstStyle/>
          <a:p>
            <a:pPr marL="0" indent="0">
              <a:buNone/>
            </a:pPr>
            <a:r>
              <a:rPr lang="en-US" sz="1200" b="1" dirty="0">
                <a:solidFill>
                  <a:srgbClr val="E74C3C"/>
                </a:solidFill>
              </a:rPr>
              <a:t>How we'll use it:</a:t>
            </a:r>
            <a:endParaRPr lang="en-US" sz="1200" dirty="0"/>
          </a:p>
        </p:txBody>
      </p:sp>
      <p:sp>
        <p:nvSpPr>
          <p:cNvPr id="16" name="Text 14"/>
          <p:cNvSpPr/>
          <p:nvPr/>
        </p:nvSpPr>
        <p:spPr>
          <a:xfrm>
            <a:off x="4663440" y="3863340"/>
            <a:ext cx="3840480" cy="320040"/>
          </a:xfrm>
          <a:prstGeom prst="rect">
            <a:avLst/>
          </a:prstGeom>
          <a:noFill/>
          <a:ln/>
        </p:spPr>
        <p:txBody>
          <a:bodyPr wrap="square" rtlCol="0" anchor="ctr"/>
          <a:lstStyle/>
          <a:p>
            <a:pPr marL="0" indent="0">
              <a:lnSpc>
                <a:spcPts val="1600"/>
              </a:lnSpc>
              <a:buNone/>
            </a:pPr>
            <a:r>
              <a:rPr lang="en-US" sz="1100" dirty="0">
                <a:solidFill>
                  <a:srgbClr val="34495E"/>
                </a:solidFill>
              </a:rPr>
              <a:t>Universal ID mapping</a:t>
            </a:r>
            <a:endParaRPr lang="en-US" sz="1100" dirty="0"/>
          </a:p>
          <a:p>
            <a:pPr marL="0" indent="0">
              <a:lnSpc>
                <a:spcPts val="1600"/>
              </a:lnSpc>
              <a:buNone/>
            </a:pPr>
            <a:r>
              <a:rPr lang="en-US" sz="1100" dirty="0">
                <a:solidFill>
                  <a:srgbClr val="34495E"/>
                </a:solidFill>
              </a:rPr>
              <a:t>Vocabulary translation</a:t>
            </a:r>
            <a:endParaRPr lang="en-US" sz="1100" dirty="0"/>
          </a:p>
          <a:p>
            <a:pPr marL="0" indent="0">
              <a:lnSpc>
                <a:spcPts val="1600"/>
              </a:lnSpc>
              <a:buNone/>
            </a:pPr>
            <a:r>
              <a:rPr lang="en-US" sz="1100" dirty="0">
                <a:solidFill>
                  <a:srgbClr val="34495E"/>
                </a:solidFill>
              </a:rPr>
              <a:t>Synonym resolution</a:t>
            </a:r>
            <a:endParaRPr lang="en-US" sz="1100" dirty="0"/>
          </a:p>
          <a:p>
            <a:pPr marL="0" indent="0">
              <a:lnSpc>
                <a:spcPts val="1600"/>
              </a:lnSpc>
              <a:buNone/>
            </a:pPr>
            <a:r>
              <a:rPr lang="en-US" sz="1100" dirty="0">
                <a:solidFill>
                  <a:srgbClr val="34495E"/>
                </a:solidFill>
              </a:rPr>
              <a:t>Cross-system queries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2130" y="62230"/>
            <a:ext cx="7863840" cy="365760"/>
          </a:xfrm>
          <a:prstGeom prst="rect">
            <a:avLst/>
          </a:prstGeom>
          <a:noFill/>
          <a:ln/>
        </p:spPr>
        <p:txBody>
          <a:bodyPr wrap="square" rtlCol="0" anchor="ctr"/>
          <a:lstStyle/>
          <a:p>
            <a:pPr marL="0" indent="0">
              <a:buNone/>
            </a:pPr>
            <a:r>
              <a:rPr lang="en-US" sz="2400" b="1" dirty="0">
                <a:solidFill>
                  <a:srgbClr val="2C3E50"/>
                </a:solidFill>
              </a:rPr>
              <a:t>7. UMLS - Structure</a:t>
            </a:r>
            <a:endParaRPr lang="en-US" sz="2400" dirty="0"/>
          </a:p>
        </p:txBody>
      </p:sp>
      <p:sp>
        <p:nvSpPr>
          <p:cNvPr id="4" name="Text 2"/>
          <p:cNvSpPr/>
          <p:nvPr/>
        </p:nvSpPr>
        <p:spPr>
          <a:xfrm>
            <a:off x="640080" y="629848"/>
            <a:ext cx="3657600" cy="256032"/>
          </a:xfrm>
          <a:prstGeom prst="rect">
            <a:avLst/>
          </a:prstGeom>
          <a:noFill/>
          <a:ln/>
        </p:spPr>
        <p:txBody>
          <a:bodyPr wrap="square" rtlCol="0" anchor="ctr"/>
          <a:lstStyle/>
          <a:p>
            <a:pPr marL="0" indent="0">
              <a:buNone/>
            </a:pPr>
            <a:r>
              <a:rPr lang="en-US" sz="1300" b="1" dirty="0">
                <a:solidFill>
                  <a:srgbClr val="27AE60"/>
                </a:solidFill>
              </a:rPr>
              <a:t>Nodes:</a:t>
            </a:r>
            <a:endParaRPr lang="en-US" sz="1300" dirty="0"/>
          </a:p>
        </p:txBody>
      </p:sp>
      <p:sp>
        <p:nvSpPr>
          <p:cNvPr id="5" name="Text 3"/>
          <p:cNvSpPr/>
          <p:nvPr/>
        </p:nvSpPr>
        <p:spPr>
          <a:xfrm>
            <a:off x="822960" y="1463040"/>
            <a:ext cx="3474720" cy="1097280"/>
          </a:xfrm>
          <a:prstGeom prst="rect">
            <a:avLst/>
          </a:prstGeom>
          <a:noFill/>
          <a:ln/>
        </p:spPr>
        <p:txBody>
          <a:bodyPr wrap="square" rtlCol="0" anchor="ctr"/>
          <a:lstStyle/>
          <a:p>
            <a:pPr marL="0" indent="0">
              <a:lnSpc>
                <a:spcPts val="1700"/>
              </a:lnSpc>
              <a:buNone/>
            </a:pPr>
            <a:endParaRPr lang="en-US" sz="1100" dirty="0"/>
          </a:p>
        </p:txBody>
      </p:sp>
      <p:sp>
        <p:nvSpPr>
          <p:cNvPr id="6" name="Text 4"/>
          <p:cNvSpPr/>
          <p:nvPr/>
        </p:nvSpPr>
        <p:spPr>
          <a:xfrm>
            <a:off x="4663440" y="651404"/>
            <a:ext cx="3657600" cy="256032"/>
          </a:xfrm>
          <a:prstGeom prst="rect">
            <a:avLst/>
          </a:prstGeom>
          <a:noFill/>
          <a:ln/>
        </p:spPr>
        <p:txBody>
          <a:bodyPr wrap="square" rtlCol="0" anchor="ctr"/>
          <a:lstStyle/>
          <a:p>
            <a:pPr marL="0" indent="0">
              <a:buNone/>
            </a:pPr>
            <a:r>
              <a:rPr lang="en-US" sz="1300" b="1" dirty="0">
                <a:solidFill>
                  <a:srgbClr val="5DADE2"/>
                </a:solidFill>
              </a:rPr>
              <a:t>Edges:</a:t>
            </a:r>
            <a:endParaRPr lang="en-US" sz="1300" dirty="0"/>
          </a:p>
        </p:txBody>
      </p:sp>
      <p:sp>
        <p:nvSpPr>
          <p:cNvPr id="7" name="Text 5"/>
          <p:cNvSpPr/>
          <p:nvPr/>
        </p:nvSpPr>
        <p:spPr>
          <a:xfrm>
            <a:off x="4663440" y="927720"/>
            <a:ext cx="3474720" cy="1097280"/>
          </a:xfrm>
          <a:prstGeom prst="rect">
            <a:avLst/>
          </a:prstGeom>
          <a:noFill/>
          <a:ln/>
        </p:spPr>
        <p:txBody>
          <a:bodyPr wrap="square" rtlCol="0" anchor="ctr"/>
          <a:lstStyle/>
          <a:p>
            <a:pPr marL="0" indent="0">
              <a:lnSpc>
                <a:spcPts val="1700"/>
              </a:lnSpc>
              <a:buNone/>
            </a:pPr>
            <a:endParaRPr lang="en-US" sz="1100" dirty="0"/>
          </a:p>
        </p:txBody>
      </p:sp>
      <p:sp>
        <p:nvSpPr>
          <p:cNvPr id="9" name="Text 7"/>
          <p:cNvSpPr/>
          <p:nvPr/>
        </p:nvSpPr>
        <p:spPr>
          <a:xfrm>
            <a:off x="640080" y="4440718"/>
            <a:ext cx="7498080" cy="228600"/>
          </a:xfrm>
          <a:prstGeom prst="rect">
            <a:avLst/>
          </a:prstGeom>
          <a:noFill/>
          <a:ln/>
        </p:spPr>
        <p:txBody>
          <a:bodyPr wrap="square" rtlCol="0" anchor="ctr"/>
          <a:lstStyle/>
          <a:p>
            <a:pPr marL="0" indent="0">
              <a:buNone/>
            </a:pPr>
            <a:r>
              <a:rPr lang="en-US" sz="1100" b="1" dirty="0">
                <a:solidFill>
                  <a:srgbClr val="3498DB"/>
                </a:solidFill>
              </a:rPr>
              <a:t>Paper:</a:t>
            </a:r>
            <a:endParaRPr lang="en-US" sz="1100" dirty="0"/>
          </a:p>
        </p:txBody>
      </p:sp>
      <p:sp>
        <p:nvSpPr>
          <p:cNvPr id="10" name="Text 8"/>
          <p:cNvSpPr/>
          <p:nvPr/>
        </p:nvSpPr>
        <p:spPr>
          <a:xfrm>
            <a:off x="1097280" y="4401820"/>
            <a:ext cx="7498080" cy="320040"/>
          </a:xfrm>
          <a:prstGeom prst="rect">
            <a:avLst/>
          </a:prstGeom>
          <a:noFill/>
          <a:ln/>
        </p:spPr>
        <p:txBody>
          <a:bodyPr wrap="square" rtlCol="0" anchor="ctr"/>
          <a:lstStyle/>
          <a:p>
            <a:pPr>
              <a:lnSpc>
                <a:spcPts val="1400"/>
              </a:lnSpc>
            </a:pPr>
            <a:r>
              <a:rPr lang="en-US" sz="1000" dirty="0">
                <a:solidFill>
                  <a:srgbClr val="34495E"/>
                </a:solidFill>
              </a:rPr>
              <a:t>Bodenreider (2004). “The Unified Medical Language System (UMLS): integrating biomedical terminology.'</a:t>
            </a:r>
            <a:endParaRPr lang="en-US" sz="1000" dirty="0"/>
          </a:p>
        </p:txBody>
      </p:sp>
      <p:sp>
        <p:nvSpPr>
          <p:cNvPr id="11" name="Text 9">
            <a:hlinkClick r:id="rId3"/>
          </p:cNvPr>
          <p:cNvSpPr/>
          <p:nvPr/>
        </p:nvSpPr>
        <p:spPr>
          <a:xfrm>
            <a:off x="1097280" y="4634738"/>
            <a:ext cx="7498080" cy="182880"/>
          </a:xfrm>
          <a:prstGeom prst="rect">
            <a:avLst/>
          </a:prstGeom>
          <a:noFill/>
          <a:ln/>
        </p:spPr>
        <p:txBody>
          <a:bodyPr wrap="square" rtlCol="0" anchor="ctr"/>
          <a:lstStyle/>
          <a:p>
            <a:pPr marL="0" indent="0">
              <a:buNone/>
            </a:pPr>
            <a:r>
              <a:rPr lang="en-US" sz="900" u="sng" dirty="0">
                <a:solidFill>
                  <a:srgbClr val="3498DB"/>
                </a:solidFill>
                <a:hlinkClick r:id="rId3">
                  <a:extLst>
                    <a:ext uri="{A12FA001-AC4F-418D-AE19-62706E023703}">
                      <ahyp:hlinkClr xmlns:ahyp="http://schemas.microsoft.com/office/drawing/2018/hyperlinkcolor" val="tx"/>
                    </a:ext>
                  </a:extLst>
                </a:hlinkClick>
              </a:rPr>
              <a:t>https://doi.org/10.1093/nar/gkh061</a:t>
            </a:r>
            <a:endParaRPr lang="en-US" sz="900" dirty="0"/>
          </a:p>
        </p:txBody>
      </p:sp>
      <p:sp>
        <p:nvSpPr>
          <p:cNvPr id="13" name="Text 11">
            <a:hlinkClick r:id="rId4"/>
          </p:cNvPr>
          <p:cNvSpPr/>
          <p:nvPr/>
        </p:nvSpPr>
        <p:spPr>
          <a:xfrm>
            <a:off x="1097280" y="4757384"/>
            <a:ext cx="7498080" cy="320040"/>
          </a:xfrm>
          <a:prstGeom prst="rect">
            <a:avLst/>
          </a:prstGeom>
          <a:noFill/>
          <a:ln/>
        </p:spPr>
        <p:txBody>
          <a:bodyPr wrap="square" rtlCol="0" anchor="ctr"/>
          <a:lstStyle/>
          <a:p>
            <a:pPr marL="0" indent="0">
              <a:buNone/>
            </a:pPr>
            <a:r>
              <a:rPr lang="en-US" sz="900" u="sng" dirty="0">
                <a:solidFill>
                  <a:srgbClr val="3498DB"/>
                </a:solidFill>
                <a:hlinkClick r:id="rId4">
                  <a:extLst>
                    <a:ext uri="{A12FA001-AC4F-418D-AE19-62706E023703}">
                      <ahyp:hlinkClr xmlns:ahyp="http://schemas.microsoft.com/office/drawing/2018/hyperlinkcolor" val="tx"/>
                    </a:ext>
                  </a:extLst>
                </a:hlinkClick>
              </a:rPr>
              <a:t>https://www.nlm.nih.gov/research/umls/</a:t>
            </a:r>
            <a:endParaRPr lang="en-US" sz="900" dirty="0"/>
          </a:p>
        </p:txBody>
      </p:sp>
      <p:sp>
        <p:nvSpPr>
          <p:cNvPr id="14" name="TextBox 13">
            <a:extLst>
              <a:ext uri="{FF2B5EF4-FFF2-40B4-BE49-F238E27FC236}">
                <a16:creationId xmlns:a16="http://schemas.microsoft.com/office/drawing/2014/main" id="{982146B2-912B-4E17-8E1F-3B3C530D7B98}"/>
              </a:ext>
            </a:extLst>
          </p:cNvPr>
          <p:cNvSpPr txBox="1"/>
          <p:nvPr/>
        </p:nvSpPr>
        <p:spPr>
          <a:xfrm>
            <a:off x="640080" y="885880"/>
            <a:ext cx="2819400" cy="3016210"/>
          </a:xfrm>
          <a:prstGeom prst="rect">
            <a:avLst/>
          </a:prstGeom>
          <a:noFill/>
        </p:spPr>
        <p:txBody>
          <a:bodyPr wrap="square" rtlCol="0">
            <a:spAutoFit/>
          </a:bodyPr>
          <a:lstStyle/>
          <a:p>
            <a:r>
              <a:rPr lang="en-IN" sz="1000" b="1" dirty="0"/>
              <a:t>Concept Entities</a:t>
            </a:r>
          </a:p>
          <a:p>
            <a:r>
              <a:rPr lang="en-IN" sz="1000" dirty="0"/>
              <a:t>Concept (CUI – Concept Unique Identifier)</a:t>
            </a:r>
          </a:p>
          <a:p>
            <a:r>
              <a:rPr lang="en-IN" sz="1000" dirty="0"/>
              <a:t>Term</a:t>
            </a:r>
          </a:p>
          <a:p>
            <a:r>
              <a:rPr lang="en-IN" sz="1000" dirty="0"/>
              <a:t>Synonym</a:t>
            </a:r>
          </a:p>
          <a:p>
            <a:r>
              <a:rPr lang="en-IN" sz="1000" dirty="0"/>
              <a:t>Preferred Name</a:t>
            </a:r>
          </a:p>
          <a:p>
            <a:r>
              <a:rPr lang="en-IN" sz="1000" b="1" dirty="0"/>
              <a:t>Biomedical Entities</a:t>
            </a:r>
          </a:p>
          <a:p>
            <a:r>
              <a:rPr lang="en-IN" sz="1000" dirty="0"/>
              <a:t>Disease</a:t>
            </a:r>
          </a:p>
          <a:p>
            <a:r>
              <a:rPr lang="en-IN" sz="1000" dirty="0"/>
              <a:t>Drug</a:t>
            </a:r>
          </a:p>
          <a:p>
            <a:r>
              <a:rPr lang="en-IN" sz="1000" dirty="0"/>
              <a:t>Procedure</a:t>
            </a:r>
          </a:p>
          <a:p>
            <a:r>
              <a:rPr lang="en-IN" sz="1000" dirty="0"/>
              <a:t>Gene / Protein</a:t>
            </a:r>
          </a:p>
          <a:p>
            <a:r>
              <a:rPr lang="en-IN" sz="1000" dirty="0"/>
              <a:t>Anatomy</a:t>
            </a:r>
          </a:p>
          <a:p>
            <a:r>
              <a:rPr lang="en-IN" sz="1000" dirty="0"/>
              <a:t>Symptom</a:t>
            </a:r>
          </a:p>
          <a:p>
            <a:r>
              <a:rPr lang="en-IN" sz="1000" b="1" dirty="0"/>
              <a:t>Semantic Entities</a:t>
            </a:r>
          </a:p>
          <a:p>
            <a:r>
              <a:rPr lang="en-IN" sz="1000" dirty="0"/>
              <a:t>Semantic Type</a:t>
            </a:r>
          </a:p>
          <a:p>
            <a:r>
              <a:rPr lang="en-IN" sz="1000" dirty="0"/>
              <a:t>Semantic Group</a:t>
            </a:r>
          </a:p>
          <a:p>
            <a:r>
              <a:rPr lang="en-IN" sz="1000" b="1" dirty="0"/>
              <a:t>Knowledge Sources</a:t>
            </a:r>
          </a:p>
          <a:p>
            <a:r>
              <a:rPr lang="en-IN" sz="1000" dirty="0"/>
              <a:t>External Vocabulary (SNOMED CT, </a:t>
            </a:r>
            <a:r>
              <a:rPr lang="en-IN" sz="1000" dirty="0" err="1"/>
              <a:t>MeSH</a:t>
            </a:r>
            <a:r>
              <a:rPr lang="en-IN" sz="1000" dirty="0"/>
              <a:t>, ICD, etc.)</a:t>
            </a:r>
          </a:p>
          <a:p>
            <a:r>
              <a:rPr lang="en-IN" sz="1000" dirty="0"/>
              <a:t>Scientific Literature</a:t>
            </a:r>
          </a:p>
          <a:p>
            <a:endParaRPr lang="en-IN" sz="1000" dirty="0"/>
          </a:p>
        </p:txBody>
      </p:sp>
      <p:sp>
        <p:nvSpPr>
          <p:cNvPr id="15" name="TextBox 14">
            <a:extLst>
              <a:ext uri="{FF2B5EF4-FFF2-40B4-BE49-F238E27FC236}">
                <a16:creationId xmlns:a16="http://schemas.microsoft.com/office/drawing/2014/main" id="{B777512D-6842-4EDE-9956-BFA5880FB4A4}"/>
              </a:ext>
            </a:extLst>
          </p:cNvPr>
          <p:cNvSpPr txBox="1"/>
          <p:nvPr/>
        </p:nvSpPr>
        <p:spPr>
          <a:xfrm>
            <a:off x="4663440" y="966618"/>
            <a:ext cx="3268844" cy="1631216"/>
          </a:xfrm>
          <a:prstGeom prst="rect">
            <a:avLst/>
          </a:prstGeom>
          <a:noFill/>
        </p:spPr>
        <p:txBody>
          <a:bodyPr wrap="none" rtlCol="0">
            <a:spAutoFit/>
          </a:bodyPr>
          <a:lstStyle/>
          <a:p>
            <a:pPr marL="285750" indent="-285750">
              <a:buFont typeface="Arial" panose="020B0604020202020204" pitchFamily="34" charset="0"/>
              <a:buChar char="•"/>
            </a:pPr>
            <a:r>
              <a:rPr lang="en-IN" sz="1000" dirty="0" err="1"/>
              <a:t>isa</a:t>
            </a:r>
            <a:r>
              <a:rPr lang="en-IN" sz="1000" dirty="0"/>
              <a:t> (Hierarchical relation)</a:t>
            </a:r>
          </a:p>
          <a:p>
            <a:pPr marL="285750" indent="-285750">
              <a:buFont typeface="Arial" panose="020B0604020202020204" pitchFamily="34" charset="0"/>
              <a:buChar char="•"/>
            </a:pPr>
            <a:r>
              <a:rPr lang="en-IN" sz="1000" dirty="0" err="1"/>
              <a:t>associated_with</a:t>
            </a:r>
            <a:r>
              <a:rPr lang="en-IN" sz="1000" dirty="0"/>
              <a:t> (General association)</a:t>
            </a:r>
          </a:p>
          <a:p>
            <a:pPr marL="285750" indent="-285750">
              <a:buFont typeface="Arial" panose="020B0604020202020204" pitchFamily="34" charset="0"/>
              <a:buChar char="•"/>
            </a:pPr>
            <a:r>
              <a:rPr lang="en-IN" sz="1000" dirty="0"/>
              <a:t>treats (Drug treats disease)</a:t>
            </a:r>
          </a:p>
          <a:p>
            <a:pPr marL="285750" indent="-285750">
              <a:buFont typeface="Arial" panose="020B0604020202020204" pitchFamily="34" charset="0"/>
              <a:buChar char="•"/>
            </a:pPr>
            <a:r>
              <a:rPr lang="en-IN" sz="1000" dirty="0"/>
              <a:t>causes (Factor causes disease)</a:t>
            </a:r>
          </a:p>
          <a:p>
            <a:pPr marL="285750" indent="-285750">
              <a:buFont typeface="Arial" panose="020B0604020202020204" pitchFamily="34" charset="0"/>
              <a:buChar char="•"/>
            </a:pPr>
            <a:r>
              <a:rPr lang="en-IN" sz="1000" dirty="0" err="1"/>
              <a:t>part_of</a:t>
            </a:r>
            <a:r>
              <a:rPr lang="en-IN" sz="1000" dirty="0"/>
              <a:t> (Anatomical relationship</a:t>
            </a:r>
            <a:r>
              <a:rPr lang="en-US" sz="1000" dirty="0"/>
              <a:t>)</a:t>
            </a:r>
          </a:p>
          <a:p>
            <a:pPr marL="285750" indent="-285750">
              <a:buFont typeface="Arial" panose="020B0604020202020204" pitchFamily="34" charset="0"/>
              <a:buChar char="•"/>
            </a:pPr>
            <a:r>
              <a:rPr lang="en-IN" sz="1000" dirty="0" err="1"/>
              <a:t>mapped_to</a:t>
            </a:r>
            <a:r>
              <a:rPr lang="en-IN" sz="1000" dirty="0"/>
              <a:t> (</a:t>
            </a:r>
            <a:r>
              <a:rPr lang="en-US" sz="1000" dirty="0"/>
              <a:t>Concept mapped to external vocabulary</a:t>
            </a:r>
            <a:r>
              <a:rPr lang="en-IN" sz="1000" dirty="0"/>
              <a:t>)</a:t>
            </a:r>
          </a:p>
          <a:p>
            <a:pPr marL="285750" indent="-285750">
              <a:buFont typeface="Arial" panose="020B0604020202020204" pitchFamily="34" charset="0"/>
              <a:buChar char="•"/>
            </a:pPr>
            <a:r>
              <a:rPr lang="en-IN" sz="1000" dirty="0" err="1"/>
              <a:t>synonym_of</a:t>
            </a:r>
            <a:r>
              <a:rPr lang="en-IN" sz="1000" dirty="0"/>
              <a:t> (Terms representing same concept)</a:t>
            </a:r>
          </a:p>
          <a:p>
            <a:pPr marL="285750" indent="-285750">
              <a:buFont typeface="Arial" panose="020B0604020202020204" pitchFamily="34" charset="0"/>
              <a:buChar char="•"/>
            </a:pPr>
            <a:r>
              <a:rPr lang="en-IN" sz="1000" dirty="0" err="1"/>
              <a:t>interacts_with</a:t>
            </a:r>
            <a:r>
              <a:rPr lang="en-IN" sz="1000" dirty="0"/>
              <a:t> (Biological interaction)</a:t>
            </a:r>
          </a:p>
          <a:p>
            <a:endParaRPr lang="en-IN" sz="1000" dirty="0"/>
          </a:p>
          <a:p>
            <a:endParaRPr lang="en-IN"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320040"/>
          </a:xfrm>
          <a:prstGeom prst="rect">
            <a:avLst/>
          </a:prstGeom>
          <a:noFill/>
          <a:ln/>
        </p:spPr>
        <p:txBody>
          <a:bodyPr wrap="square" rtlCol="0" anchor="ctr"/>
          <a:lstStyle/>
          <a:p>
            <a:pPr marL="0" indent="0">
              <a:buNone/>
            </a:pPr>
            <a:r>
              <a:rPr lang="en-US" sz="2200" b="1" dirty="0">
                <a:solidFill>
                  <a:srgbClr val="2C3E50"/>
                </a:solidFill>
              </a:rPr>
              <a:t>7. UMLS - Visual Example</a:t>
            </a:r>
            <a:endParaRPr lang="en-US" sz="2200" dirty="0"/>
          </a:p>
        </p:txBody>
      </p:sp>
      <p:sp>
        <p:nvSpPr>
          <p:cNvPr id="18" name="TextBox 17">
            <a:extLst>
              <a:ext uri="{FF2B5EF4-FFF2-40B4-BE49-F238E27FC236}">
                <a16:creationId xmlns:a16="http://schemas.microsoft.com/office/drawing/2014/main" id="{12437C48-35F8-4A60-8FAE-D33426FB6C1B}"/>
              </a:ext>
            </a:extLst>
          </p:cNvPr>
          <p:cNvSpPr txBox="1"/>
          <p:nvPr/>
        </p:nvSpPr>
        <p:spPr>
          <a:xfrm>
            <a:off x="552450" y="977900"/>
            <a:ext cx="3613150" cy="2862322"/>
          </a:xfrm>
          <a:prstGeom prst="rect">
            <a:avLst/>
          </a:prstGeom>
          <a:noFill/>
        </p:spPr>
        <p:txBody>
          <a:bodyPr wrap="square" rtlCol="0">
            <a:spAutoFit/>
          </a:bodyPr>
          <a:lstStyle/>
          <a:p>
            <a:r>
              <a:rPr lang="en-IN" sz="1000" dirty="0"/>
              <a:t>Concept</a:t>
            </a:r>
            <a:br>
              <a:rPr lang="en-IN" sz="1000" dirty="0"/>
            </a:br>
            <a:r>
              <a:rPr lang="en-IN" sz="1000" dirty="0"/>
              <a:t>→ </a:t>
            </a:r>
            <a:r>
              <a:rPr lang="en-IN" sz="1000" dirty="0" err="1"/>
              <a:t>has_term</a:t>
            </a:r>
            <a:r>
              <a:rPr lang="en-IN" sz="1000" dirty="0"/>
              <a:t> → Synonym</a:t>
            </a:r>
          </a:p>
          <a:p>
            <a:r>
              <a:rPr lang="en-IN" sz="1000" dirty="0"/>
              <a:t>Concept</a:t>
            </a:r>
            <a:br>
              <a:rPr lang="en-IN" sz="1000" dirty="0"/>
            </a:br>
            <a:r>
              <a:rPr lang="en-IN" sz="1000" dirty="0"/>
              <a:t>→ </a:t>
            </a:r>
            <a:r>
              <a:rPr lang="en-IN" sz="1000" dirty="0" err="1"/>
              <a:t>belongs_to</a:t>
            </a:r>
            <a:r>
              <a:rPr lang="en-IN" sz="1000" dirty="0"/>
              <a:t> → </a:t>
            </a:r>
            <a:r>
              <a:rPr lang="en-IN" sz="1000" dirty="0" err="1"/>
              <a:t>Semantic_Type</a:t>
            </a:r>
            <a:endParaRPr lang="en-IN" sz="1000" dirty="0"/>
          </a:p>
          <a:p>
            <a:r>
              <a:rPr lang="en-IN" sz="1000" dirty="0" err="1"/>
              <a:t>Semantic_Type</a:t>
            </a:r>
            <a:br>
              <a:rPr lang="en-IN" sz="1000" dirty="0"/>
            </a:br>
            <a:r>
              <a:rPr lang="en-IN" sz="1000" dirty="0"/>
              <a:t>→ </a:t>
            </a:r>
            <a:r>
              <a:rPr lang="en-IN" sz="1000" dirty="0" err="1"/>
              <a:t>part_of</a:t>
            </a:r>
            <a:r>
              <a:rPr lang="en-IN" sz="1000" dirty="0"/>
              <a:t> → </a:t>
            </a:r>
            <a:r>
              <a:rPr lang="en-IN" sz="1000" dirty="0" err="1"/>
              <a:t>Semantic_Group</a:t>
            </a:r>
            <a:endParaRPr lang="en-IN" sz="1000" dirty="0"/>
          </a:p>
          <a:p>
            <a:r>
              <a:rPr lang="en-IN" sz="1000" dirty="0"/>
              <a:t>Concept</a:t>
            </a:r>
            <a:br>
              <a:rPr lang="en-IN" sz="1000" dirty="0"/>
            </a:br>
            <a:r>
              <a:rPr lang="en-IN" sz="1000" dirty="0"/>
              <a:t>→ </a:t>
            </a:r>
            <a:r>
              <a:rPr lang="en-IN" sz="1000" dirty="0" err="1"/>
              <a:t>mapped_to</a:t>
            </a:r>
            <a:r>
              <a:rPr lang="en-IN" sz="1000" dirty="0"/>
              <a:t> → </a:t>
            </a:r>
            <a:r>
              <a:rPr lang="en-IN" sz="1000" dirty="0" err="1"/>
              <a:t>External_Vocabulary</a:t>
            </a:r>
            <a:endParaRPr lang="en-IN" sz="1000" dirty="0"/>
          </a:p>
          <a:p>
            <a:r>
              <a:rPr lang="en-IN" sz="1000" dirty="0"/>
              <a:t>Disease</a:t>
            </a:r>
            <a:br>
              <a:rPr lang="en-IN" sz="1000" dirty="0"/>
            </a:br>
            <a:r>
              <a:rPr lang="en-IN" sz="1000" dirty="0"/>
              <a:t>→ </a:t>
            </a:r>
            <a:r>
              <a:rPr lang="en-IN" sz="1000" dirty="0" err="1"/>
              <a:t>associated_with</a:t>
            </a:r>
            <a:r>
              <a:rPr lang="en-IN" sz="1000" dirty="0"/>
              <a:t> → Gene</a:t>
            </a:r>
          </a:p>
          <a:p>
            <a:r>
              <a:rPr lang="en-IN" sz="1000" dirty="0"/>
              <a:t>Drug</a:t>
            </a:r>
            <a:br>
              <a:rPr lang="en-IN" sz="1000" dirty="0"/>
            </a:br>
            <a:r>
              <a:rPr lang="en-IN" sz="1000" dirty="0"/>
              <a:t>→ treats → Disease</a:t>
            </a:r>
          </a:p>
          <a:p>
            <a:r>
              <a:rPr lang="en-IN" sz="1000" dirty="0"/>
              <a:t>Disease</a:t>
            </a:r>
            <a:br>
              <a:rPr lang="en-IN" sz="1000" dirty="0"/>
            </a:br>
            <a:r>
              <a:rPr lang="en-IN" sz="1000" dirty="0"/>
              <a:t>→ </a:t>
            </a:r>
            <a:r>
              <a:rPr lang="en-IN" sz="1000" dirty="0" err="1"/>
              <a:t>diagnosed_by</a:t>
            </a:r>
            <a:r>
              <a:rPr lang="en-IN" sz="1000" dirty="0"/>
              <a:t> → </a:t>
            </a:r>
            <a:r>
              <a:rPr lang="en-IN" sz="1000" dirty="0" err="1"/>
              <a:t>Clinical_Procedure</a:t>
            </a:r>
            <a:endParaRPr lang="en-IN" sz="1000" dirty="0"/>
          </a:p>
          <a:p>
            <a:r>
              <a:rPr lang="en-IN" sz="1000" dirty="0"/>
              <a:t>Gene</a:t>
            </a:r>
            <a:br>
              <a:rPr lang="en-IN" sz="1000" dirty="0"/>
            </a:br>
            <a:r>
              <a:rPr lang="en-IN" sz="1000" dirty="0"/>
              <a:t>→ </a:t>
            </a:r>
            <a:r>
              <a:rPr lang="en-IN" sz="1000" dirty="0" err="1"/>
              <a:t>expressed_in</a:t>
            </a:r>
            <a:r>
              <a:rPr lang="en-IN" sz="1000" dirty="0"/>
              <a:t> → Anatomy</a:t>
            </a:r>
          </a:p>
          <a:p>
            <a:r>
              <a:rPr lang="en-IN" sz="1000" dirty="0"/>
              <a:t>Concept</a:t>
            </a:r>
            <a:br>
              <a:rPr lang="en-IN" sz="1000" dirty="0"/>
            </a:br>
            <a:r>
              <a:rPr lang="en-IN" sz="1000" dirty="0"/>
              <a:t>→ </a:t>
            </a:r>
            <a:r>
              <a:rPr lang="en-IN" sz="1000" dirty="0" err="1"/>
              <a:t>linked_to</a:t>
            </a:r>
            <a:r>
              <a:rPr lang="en-IN" sz="1000" dirty="0"/>
              <a:t> → </a:t>
            </a:r>
            <a:r>
              <a:rPr lang="en-IN" sz="1000" dirty="0" err="1"/>
              <a:t>Biomedical_Concept</a:t>
            </a:r>
            <a:endParaRPr lang="en-IN" sz="1000" dirty="0"/>
          </a:p>
        </p:txBody>
      </p:sp>
      <p:sp>
        <p:nvSpPr>
          <p:cNvPr id="19" name="TextBox 18">
            <a:extLst>
              <a:ext uri="{FF2B5EF4-FFF2-40B4-BE49-F238E27FC236}">
                <a16:creationId xmlns:a16="http://schemas.microsoft.com/office/drawing/2014/main" id="{FF32EA52-409F-4096-B3C8-CCE7B7876997}"/>
              </a:ext>
            </a:extLst>
          </p:cNvPr>
          <p:cNvSpPr txBox="1"/>
          <p:nvPr/>
        </p:nvSpPr>
        <p:spPr>
          <a:xfrm>
            <a:off x="5315583" y="977900"/>
            <a:ext cx="3613150" cy="1938992"/>
          </a:xfrm>
          <a:prstGeom prst="rect">
            <a:avLst/>
          </a:prstGeom>
          <a:noFill/>
        </p:spPr>
        <p:txBody>
          <a:bodyPr wrap="square" rtlCol="0">
            <a:spAutoFit/>
          </a:bodyPr>
          <a:lstStyle/>
          <a:p>
            <a:r>
              <a:rPr lang="en-IN" sz="1000" dirty="0" err="1"/>
              <a:t>Diabetes_Mellitus</a:t>
            </a:r>
            <a:br>
              <a:rPr lang="en-IN" sz="1000" dirty="0"/>
            </a:br>
            <a:r>
              <a:rPr lang="en-IN" sz="1000" dirty="0"/>
              <a:t>→ </a:t>
            </a:r>
            <a:r>
              <a:rPr lang="en-IN" sz="1000" dirty="0" err="1"/>
              <a:t>mapped_to</a:t>
            </a:r>
            <a:r>
              <a:rPr lang="en-IN" sz="1000" dirty="0"/>
              <a:t> → </a:t>
            </a:r>
            <a:r>
              <a:rPr lang="en-IN" sz="1000" dirty="0" err="1"/>
              <a:t>ICD_Code</a:t>
            </a:r>
            <a:endParaRPr lang="en-IN" sz="1000" dirty="0"/>
          </a:p>
          <a:p>
            <a:r>
              <a:rPr lang="en-IN" sz="1000" dirty="0" err="1"/>
              <a:t>Diabetes_Mellitus</a:t>
            </a:r>
            <a:br>
              <a:rPr lang="en-IN" sz="1000" dirty="0"/>
            </a:br>
            <a:r>
              <a:rPr lang="en-IN" sz="1000" dirty="0"/>
              <a:t>→ </a:t>
            </a:r>
            <a:r>
              <a:rPr lang="en-IN" sz="1000" dirty="0" err="1"/>
              <a:t>associated_with</a:t>
            </a:r>
            <a:r>
              <a:rPr lang="en-IN" sz="1000" dirty="0"/>
              <a:t> → </a:t>
            </a:r>
            <a:r>
              <a:rPr lang="en-IN" sz="1000" dirty="0" err="1"/>
              <a:t>Insulin_Gene</a:t>
            </a:r>
            <a:endParaRPr lang="en-IN" sz="1000" dirty="0"/>
          </a:p>
          <a:p>
            <a:r>
              <a:rPr lang="en-IN" sz="1000" dirty="0" err="1"/>
              <a:t>Insulin_Gene</a:t>
            </a:r>
            <a:br>
              <a:rPr lang="en-IN" sz="1000" dirty="0"/>
            </a:br>
            <a:r>
              <a:rPr lang="en-IN" sz="1000" dirty="0"/>
              <a:t>→ </a:t>
            </a:r>
            <a:r>
              <a:rPr lang="en-IN" sz="1000" dirty="0" err="1"/>
              <a:t>expressed_in</a:t>
            </a:r>
            <a:r>
              <a:rPr lang="en-IN" sz="1000" dirty="0"/>
              <a:t> → Pancreas</a:t>
            </a:r>
          </a:p>
          <a:p>
            <a:r>
              <a:rPr lang="en-IN" sz="1000" dirty="0" err="1"/>
              <a:t>Diabetes_Mellitus</a:t>
            </a:r>
            <a:br>
              <a:rPr lang="en-IN" sz="1000" dirty="0"/>
            </a:br>
            <a:r>
              <a:rPr lang="en-IN" sz="1000" dirty="0"/>
              <a:t>→ </a:t>
            </a:r>
            <a:r>
              <a:rPr lang="en-IN" sz="1000" dirty="0" err="1"/>
              <a:t>treated_with</a:t>
            </a:r>
            <a:r>
              <a:rPr lang="en-IN" sz="1000" dirty="0"/>
              <a:t> → Insulin</a:t>
            </a:r>
          </a:p>
          <a:p>
            <a:r>
              <a:rPr lang="en-IN" sz="1000" dirty="0"/>
              <a:t>Insulin</a:t>
            </a:r>
            <a:br>
              <a:rPr lang="en-IN" sz="1000" dirty="0"/>
            </a:br>
            <a:r>
              <a:rPr lang="en-IN" sz="1000" dirty="0"/>
              <a:t>→ </a:t>
            </a:r>
            <a:r>
              <a:rPr lang="en-IN" sz="1000" dirty="0" err="1"/>
              <a:t>classified_as</a:t>
            </a:r>
            <a:r>
              <a:rPr lang="en-IN" sz="1000" dirty="0"/>
              <a:t> → </a:t>
            </a:r>
            <a:r>
              <a:rPr lang="en-IN" sz="1000" dirty="0" err="1"/>
              <a:t>Pharmacologic_Substance</a:t>
            </a:r>
            <a:endParaRPr lang="en-IN" sz="1000" dirty="0"/>
          </a:p>
          <a:p>
            <a:r>
              <a:rPr lang="en-IN" sz="1000" dirty="0"/>
              <a:t>Pancreas</a:t>
            </a:r>
            <a:br>
              <a:rPr lang="en-IN" sz="1000" dirty="0"/>
            </a:br>
            <a:r>
              <a:rPr lang="en-IN" sz="1000" dirty="0"/>
              <a:t>→ </a:t>
            </a:r>
            <a:r>
              <a:rPr lang="en-IN" sz="1000" dirty="0" err="1"/>
              <a:t>part_of</a:t>
            </a:r>
            <a:r>
              <a:rPr lang="en-IN" sz="1000" dirty="0"/>
              <a:t> → </a:t>
            </a:r>
            <a:r>
              <a:rPr lang="en-IN" sz="1000" dirty="0" err="1"/>
              <a:t>Digestive_System</a:t>
            </a:r>
            <a:endParaRPr lang="en-IN" sz="1000" dirty="0"/>
          </a:p>
        </p:txBody>
      </p:sp>
      <p:sp>
        <p:nvSpPr>
          <p:cNvPr id="20" name="TextBox 19">
            <a:extLst>
              <a:ext uri="{FF2B5EF4-FFF2-40B4-BE49-F238E27FC236}">
                <a16:creationId xmlns:a16="http://schemas.microsoft.com/office/drawing/2014/main" id="{4F2625A4-92FB-44C1-82BE-A1D657A2BB02}"/>
              </a:ext>
            </a:extLst>
          </p:cNvPr>
          <p:cNvSpPr txBox="1"/>
          <p:nvPr/>
        </p:nvSpPr>
        <p:spPr>
          <a:xfrm>
            <a:off x="5315583" y="670123"/>
            <a:ext cx="1390648" cy="307777"/>
          </a:xfrm>
          <a:prstGeom prst="rect">
            <a:avLst/>
          </a:prstGeom>
          <a:noFill/>
        </p:spPr>
        <p:txBody>
          <a:bodyPr wrap="square" rtlCol="0">
            <a:spAutoFit/>
          </a:bodyPr>
          <a:lstStyle/>
          <a:p>
            <a:r>
              <a:rPr lang="en-US" sz="1400" u="sng" dirty="0"/>
              <a:t>Example</a:t>
            </a:r>
            <a:endParaRPr lang="en-IN" sz="1400" u="sng" dirty="0"/>
          </a:p>
        </p:txBody>
      </p:sp>
      <p:sp>
        <p:nvSpPr>
          <p:cNvPr id="21" name="TextBox 20">
            <a:extLst>
              <a:ext uri="{FF2B5EF4-FFF2-40B4-BE49-F238E27FC236}">
                <a16:creationId xmlns:a16="http://schemas.microsoft.com/office/drawing/2014/main" id="{2B2A38BE-AF21-43CB-96CA-CBB3D9A55D0A}"/>
              </a:ext>
            </a:extLst>
          </p:cNvPr>
          <p:cNvSpPr txBox="1"/>
          <p:nvPr/>
        </p:nvSpPr>
        <p:spPr>
          <a:xfrm>
            <a:off x="3244852" y="1947396"/>
            <a:ext cx="3467100" cy="3016210"/>
          </a:xfrm>
          <a:prstGeom prst="rect">
            <a:avLst/>
          </a:prstGeom>
          <a:noFill/>
        </p:spPr>
        <p:txBody>
          <a:bodyPr wrap="square" rtlCol="0">
            <a:spAutoFit/>
          </a:bodyPr>
          <a:lstStyle/>
          <a:p>
            <a:r>
              <a:rPr lang="en-IN" sz="1000" dirty="0"/>
              <a:t>       Drug</a:t>
            </a:r>
          </a:p>
          <a:p>
            <a:r>
              <a:rPr lang="en-IN" sz="1000" dirty="0"/>
              <a:t>           │</a:t>
            </a:r>
          </a:p>
          <a:p>
            <a:r>
              <a:rPr lang="en-IN" sz="1000" dirty="0"/>
              <a:t>           │ treats</a:t>
            </a:r>
          </a:p>
          <a:p>
            <a:r>
              <a:rPr lang="en-IN" sz="1000" dirty="0"/>
              <a:t>           ▼</a:t>
            </a:r>
          </a:p>
          <a:p>
            <a:r>
              <a:rPr lang="en-IN" sz="1000" dirty="0"/>
              <a:t>         Disease</a:t>
            </a:r>
          </a:p>
          <a:p>
            <a:r>
              <a:rPr lang="en-IN" sz="1000" dirty="0"/>
              <a:t>           │</a:t>
            </a:r>
          </a:p>
          <a:p>
            <a:r>
              <a:rPr lang="en-IN" sz="1000" dirty="0"/>
              <a:t>           │ </a:t>
            </a:r>
            <a:r>
              <a:rPr lang="en-IN" sz="1000" dirty="0" err="1"/>
              <a:t>associated_with</a:t>
            </a:r>
            <a:endParaRPr lang="en-IN" sz="1000" dirty="0"/>
          </a:p>
          <a:p>
            <a:r>
              <a:rPr lang="en-IN" sz="1000" dirty="0"/>
              <a:t>           ▼</a:t>
            </a:r>
          </a:p>
          <a:p>
            <a:r>
              <a:rPr lang="en-IN" sz="1000" dirty="0"/>
              <a:t>           Gene</a:t>
            </a:r>
          </a:p>
          <a:p>
            <a:r>
              <a:rPr lang="en-IN" sz="1000" dirty="0"/>
              <a:t>           │</a:t>
            </a:r>
          </a:p>
          <a:p>
            <a:r>
              <a:rPr lang="en-IN" sz="1000" dirty="0"/>
              <a:t>           │ </a:t>
            </a:r>
            <a:r>
              <a:rPr lang="en-IN" sz="1000" dirty="0" err="1"/>
              <a:t>expressed_in</a:t>
            </a:r>
            <a:endParaRPr lang="en-IN" sz="1000" dirty="0"/>
          </a:p>
          <a:p>
            <a:r>
              <a:rPr lang="en-IN" sz="1000" dirty="0"/>
              <a:t>           ▼</a:t>
            </a:r>
          </a:p>
          <a:p>
            <a:r>
              <a:rPr lang="en-IN" sz="1000" dirty="0"/>
              <a:t>         Anatomy</a:t>
            </a:r>
          </a:p>
          <a:p>
            <a:r>
              <a:rPr lang="en-IN" sz="1000" dirty="0"/>
              <a:t>           </a:t>
            </a:r>
          </a:p>
          <a:p>
            <a:r>
              <a:rPr lang="en-IN" sz="1000" dirty="0"/>
              <a:t>Disease</a:t>
            </a:r>
          </a:p>
          <a:p>
            <a:r>
              <a:rPr lang="en-IN" sz="1000" dirty="0"/>
              <a:t>   │</a:t>
            </a:r>
          </a:p>
          <a:p>
            <a:r>
              <a:rPr lang="en-IN" sz="1000" dirty="0"/>
              <a:t>   │ </a:t>
            </a:r>
            <a:r>
              <a:rPr lang="en-IN" sz="1000" dirty="0" err="1"/>
              <a:t>mapped_to</a:t>
            </a:r>
            <a:endParaRPr lang="en-IN" sz="1000" dirty="0"/>
          </a:p>
          <a:p>
            <a:r>
              <a:rPr lang="en-IN" sz="1000" dirty="0"/>
              <a:t>   ▼</a:t>
            </a:r>
          </a:p>
          <a:p>
            <a:r>
              <a:rPr lang="en-IN" sz="1000" dirty="0"/>
              <a:t>External Vocabulary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7AE60"/>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8. NCIt</a:t>
            </a:r>
            <a:endParaRPr lang="en-US" sz="2600" dirty="0"/>
          </a:p>
        </p:txBody>
      </p:sp>
      <p:sp>
        <p:nvSpPr>
          <p:cNvPr id="4" name="Text 2"/>
          <p:cNvSpPr/>
          <p:nvPr/>
        </p:nvSpPr>
        <p:spPr>
          <a:xfrm>
            <a:off x="457200" y="960120"/>
            <a:ext cx="8229600" cy="274320"/>
          </a:xfrm>
          <a:prstGeom prst="rect">
            <a:avLst/>
          </a:prstGeom>
          <a:noFill/>
          <a:ln/>
        </p:spPr>
        <p:txBody>
          <a:bodyPr wrap="square" rtlCol="0" anchor="ctr"/>
          <a:lstStyle/>
          <a:p>
            <a:r>
              <a:rPr lang="en-US" sz="1400" i="1" dirty="0">
                <a:solidFill>
                  <a:srgbClr val="7B8894"/>
                </a:solidFill>
              </a:rPr>
              <a:t>The National Cancer Institute Thesaurus (</a:t>
            </a:r>
            <a:r>
              <a:rPr lang="en-US" sz="1400" i="1" dirty="0" err="1">
                <a:solidFill>
                  <a:srgbClr val="7B8894"/>
                </a:solidFill>
              </a:rPr>
              <a:t>NCIt</a:t>
            </a:r>
            <a:r>
              <a:rPr lang="en-US" sz="1400" i="1" dirty="0">
                <a:solidFill>
                  <a:srgbClr val="7B8894"/>
                </a:solidFill>
              </a:rPr>
              <a:t>)</a:t>
            </a:r>
            <a:endParaRPr lang="en-US" sz="1400" dirty="0"/>
          </a:p>
        </p:txBody>
      </p:sp>
      <p:sp>
        <p:nvSpPr>
          <p:cNvPr id="5" name="Text 3"/>
          <p:cNvSpPr/>
          <p:nvPr/>
        </p:nvSpPr>
        <p:spPr>
          <a:xfrm>
            <a:off x="640080" y="1417320"/>
            <a:ext cx="7863840" cy="256032"/>
          </a:xfrm>
          <a:prstGeom prst="rect">
            <a:avLst/>
          </a:prstGeom>
          <a:noFill/>
          <a:ln/>
        </p:spPr>
        <p:txBody>
          <a:bodyPr wrap="square" rtlCol="0" anchor="ctr"/>
          <a:lstStyle/>
          <a:p>
            <a:r>
              <a:rPr lang="en-US" sz="1300" b="1" dirty="0">
                <a:solidFill>
                  <a:srgbClr val="34495E"/>
                </a:solidFill>
              </a:rPr>
              <a:t>What is it?</a:t>
            </a:r>
          </a:p>
        </p:txBody>
      </p:sp>
      <p:sp>
        <p:nvSpPr>
          <p:cNvPr id="6" name="Text 4"/>
          <p:cNvSpPr/>
          <p:nvPr/>
        </p:nvSpPr>
        <p:spPr>
          <a:xfrm>
            <a:off x="640080" y="1719072"/>
            <a:ext cx="7863840" cy="594360"/>
          </a:xfrm>
          <a:prstGeom prst="rect">
            <a:avLst/>
          </a:prstGeom>
          <a:noFill/>
          <a:ln/>
        </p:spPr>
        <p:txBody>
          <a:bodyPr wrap="square" rtlCol="0" anchor="ctr"/>
          <a:lstStyle/>
          <a:p>
            <a:pPr>
              <a:lnSpc>
                <a:spcPts val="1800"/>
              </a:lnSpc>
            </a:pPr>
            <a:r>
              <a:rPr lang="en-US" sz="1200" dirty="0">
                <a:solidFill>
                  <a:srgbClr val="34495E"/>
                </a:solidFill>
              </a:rPr>
              <a:t>is a biomedical ontology developed by the National Cancer Institute to represent structured knowledge about cancer biology, clinical care, drugs, genes, and molecular mechanisms.</a:t>
            </a:r>
            <a:endParaRPr lang="en-US" sz="1200" dirty="0"/>
          </a:p>
        </p:txBody>
      </p:sp>
      <p:sp>
        <p:nvSpPr>
          <p:cNvPr id="7" name="Text 5"/>
          <p:cNvSpPr/>
          <p:nvPr/>
        </p:nvSpPr>
        <p:spPr>
          <a:xfrm>
            <a:off x="640080" y="2468880"/>
            <a:ext cx="7863840" cy="256032"/>
          </a:xfrm>
          <a:prstGeom prst="rect">
            <a:avLst/>
          </a:prstGeom>
          <a:noFill/>
          <a:ln/>
        </p:spPr>
        <p:txBody>
          <a:bodyPr wrap="square" rtlCol="0" anchor="ctr"/>
          <a:lstStyle/>
          <a:p>
            <a:pPr marL="0" indent="0">
              <a:buNone/>
            </a:pPr>
            <a:r>
              <a:rPr lang="en-US" sz="1300" b="1" dirty="0">
                <a:solidFill>
                  <a:srgbClr val="34495E"/>
                </a:solidFill>
              </a:rPr>
              <a:t>Why it matters:</a:t>
            </a:r>
            <a:endParaRPr lang="en-US" sz="1300" dirty="0"/>
          </a:p>
        </p:txBody>
      </p:sp>
      <p:sp>
        <p:nvSpPr>
          <p:cNvPr id="8" name="Text 6"/>
          <p:cNvSpPr/>
          <p:nvPr/>
        </p:nvSpPr>
        <p:spPr>
          <a:xfrm>
            <a:off x="640080" y="2688336"/>
            <a:ext cx="7863840" cy="411480"/>
          </a:xfrm>
          <a:prstGeom prst="rect">
            <a:avLst/>
          </a:prstGeom>
          <a:noFill/>
          <a:ln/>
        </p:spPr>
        <p:txBody>
          <a:bodyPr wrap="square" rtlCol="0" anchor="ctr"/>
          <a:lstStyle/>
          <a:p>
            <a:pPr marL="0" indent="0">
              <a:lnSpc>
                <a:spcPts val="1800"/>
              </a:lnSpc>
              <a:buNone/>
            </a:pPr>
            <a:r>
              <a:rPr lang="en-US" sz="1200" dirty="0">
                <a:solidFill>
                  <a:srgbClr val="34495E"/>
                </a:solidFill>
              </a:rPr>
              <a:t>Standard terminology for grants and publications. Most detailed cancer-specific terms.</a:t>
            </a:r>
            <a:endParaRPr lang="en-US" sz="1200" dirty="0"/>
          </a:p>
        </p:txBody>
      </p:sp>
      <p:sp>
        <p:nvSpPr>
          <p:cNvPr id="10" name="Text 8"/>
          <p:cNvSpPr/>
          <p:nvPr/>
        </p:nvSpPr>
        <p:spPr>
          <a:xfrm>
            <a:off x="640080" y="3182112"/>
            <a:ext cx="7498080" cy="228600"/>
          </a:xfrm>
          <a:prstGeom prst="rect">
            <a:avLst/>
          </a:prstGeom>
          <a:noFill/>
          <a:ln/>
        </p:spPr>
        <p:txBody>
          <a:bodyPr wrap="square" rtlCol="0" anchor="ctr"/>
          <a:lstStyle/>
          <a:p>
            <a:pPr marL="0" indent="0">
              <a:buNone/>
            </a:pPr>
            <a:r>
              <a:rPr lang="en-US" sz="1200" b="1" dirty="0">
                <a:solidFill>
                  <a:srgbClr val="27AE60"/>
                </a:solidFill>
              </a:rPr>
              <a:t>Properties:</a:t>
            </a:r>
            <a:endParaRPr lang="en-US" sz="1200" dirty="0"/>
          </a:p>
        </p:txBody>
      </p:sp>
      <p:sp>
        <p:nvSpPr>
          <p:cNvPr id="11" name="Text 9"/>
          <p:cNvSpPr/>
          <p:nvPr/>
        </p:nvSpPr>
        <p:spPr>
          <a:xfrm>
            <a:off x="640080" y="3425190"/>
            <a:ext cx="7498080" cy="146304"/>
          </a:xfrm>
          <a:prstGeom prst="rect">
            <a:avLst/>
          </a:prstGeom>
          <a:noFill/>
          <a:ln/>
        </p:spPr>
        <p:txBody>
          <a:bodyPr wrap="square" rtlCol="0" anchor="ctr"/>
          <a:lstStyle/>
          <a:p>
            <a:r>
              <a:rPr lang="en-US" sz="1100" dirty="0">
                <a:solidFill>
                  <a:srgbClr val="34495E"/>
                </a:solidFill>
              </a:rPr>
              <a:t>• A reference terminology and ontology for cancer research</a:t>
            </a:r>
            <a:endParaRPr lang="en-US" sz="1100" dirty="0"/>
          </a:p>
        </p:txBody>
      </p:sp>
      <p:sp>
        <p:nvSpPr>
          <p:cNvPr id="12" name="Text 10"/>
          <p:cNvSpPr/>
          <p:nvPr/>
        </p:nvSpPr>
        <p:spPr>
          <a:xfrm>
            <a:off x="640080" y="3630168"/>
            <a:ext cx="7498080" cy="146304"/>
          </a:xfrm>
          <a:prstGeom prst="rect">
            <a:avLst/>
          </a:prstGeom>
          <a:noFill/>
          <a:ln/>
        </p:spPr>
        <p:txBody>
          <a:bodyPr wrap="square" rtlCol="0" anchor="ctr"/>
          <a:lstStyle/>
          <a:p>
            <a:r>
              <a:rPr lang="en-US" sz="1100" dirty="0">
                <a:solidFill>
                  <a:srgbClr val="34495E"/>
                </a:solidFill>
              </a:rPr>
              <a:t>• Integrates diseases, drugs, genes, anatomy, and clinical concepts</a:t>
            </a:r>
            <a:endParaRPr lang="en-US" sz="1100" dirty="0"/>
          </a:p>
        </p:txBody>
      </p:sp>
      <p:sp>
        <p:nvSpPr>
          <p:cNvPr id="13" name="Text 11"/>
          <p:cNvSpPr/>
          <p:nvPr/>
        </p:nvSpPr>
        <p:spPr>
          <a:xfrm>
            <a:off x="640080" y="3849624"/>
            <a:ext cx="7498080" cy="146304"/>
          </a:xfrm>
          <a:prstGeom prst="rect">
            <a:avLst/>
          </a:prstGeom>
          <a:noFill/>
          <a:ln/>
        </p:spPr>
        <p:txBody>
          <a:bodyPr wrap="square" rtlCol="0" anchor="ctr"/>
          <a:lstStyle/>
          <a:p>
            <a:r>
              <a:rPr lang="en-US" sz="1100">
                <a:solidFill>
                  <a:srgbClr val="34495E"/>
                </a:solidFill>
              </a:rPr>
              <a:t>• Contains hundreds of thousands of biomedical concepts and relationships used in cancer informatics systems.</a:t>
            </a:r>
            <a:endParaRPr lang="en-US" sz="1100" dirty="0"/>
          </a:p>
        </p:txBody>
      </p:sp>
      <p:sp>
        <p:nvSpPr>
          <p:cNvPr id="17" name="Text 11">
            <a:extLst>
              <a:ext uri="{FF2B5EF4-FFF2-40B4-BE49-F238E27FC236}">
                <a16:creationId xmlns:a16="http://schemas.microsoft.com/office/drawing/2014/main" id="{64CEB3E5-A442-4C2B-9094-FEE7C5856BA4}"/>
              </a:ext>
            </a:extLst>
          </p:cNvPr>
          <p:cNvSpPr/>
          <p:nvPr/>
        </p:nvSpPr>
        <p:spPr>
          <a:xfrm>
            <a:off x="1433830" y="8629904"/>
            <a:ext cx="7498080" cy="146304"/>
          </a:xfrm>
          <a:prstGeom prst="rect">
            <a:avLst/>
          </a:prstGeom>
          <a:noFill/>
          <a:ln/>
        </p:spPr>
        <p:txBody>
          <a:bodyPr wrap="square" rtlCol="0" anchor="ctr"/>
          <a:lstStyle/>
          <a:p>
            <a:r>
              <a:rPr lang="en-US" sz="1100" dirty="0">
                <a:solidFill>
                  <a:srgbClr val="34495E"/>
                </a:solidFill>
              </a:rPr>
              <a:t>• </a:t>
            </a:r>
            <a:r>
              <a:rPr lang="en-IN" sz="1100" dirty="0"/>
              <a:t>Modern versions contain:</a:t>
            </a:r>
          </a:p>
          <a:p>
            <a:endParaRPr lang="en-IN" sz="1100" dirty="0"/>
          </a:p>
          <a:p>
            <a:pPr marL="171450" indent="-171450">
              <a:buFont typeface="Arial" panose="020B0604020202020204" pitchFamily="34" charset="0"/>
              <a:buChar char="•"/>
            </a:pPr>
            <a:endParaRPr lang="en-US" sz="1100" dirty="0"/>
          </a:p>
        </p:txBody>
      </p:sp>
      <p:sp>
        <p:nvSpPr>
          <p:cNvPr id="20" name="Rectangle 3">
            <a:extLst>
              <a:ext uri="{FF2B5EF4-FFF2-40B4-BE49-F238E27FC236}">
                <a16:creationId xmlns:a16="http://schemas.microsoft.com/office/drawing/2014/main" id="{27F2279A-7B02-496F-A467-FCA71EDBFFC4}"/>
              </a:ext>
            </a:extLst>
          </p:cNvPr>
          <p:cNvSpPr>
            <a:spLocks noChangeArrowheads="1"/>
          </p:cNvSpPr>
          <p:nvPr/>
        </p:nvSpPr>
        <p:spPr bwMode="auto">
          <a:xfrm>
            <a:off x="853440" y="4131425"/>
            <a:ext cx="219002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Arial" panose="020B0604020202020204" pitchFamily="34" charset="0"/>
              </a:rPr>
              <a:t>192,000 concepts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Arial" panose="020B0604020202020204" pitchFamily="34" charset="0"/>
              </a:rPr>
              <a:t>630,000 relationships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Arial" panose="020B0604020202020204" pitchFamily="34" charset="0"/>
              </a:rPr>
              <a:t>623,000 synonyms and definitions.</a:t>
            </a:r>
          </a:p>
        </p:txBody>
      </p:sp>
      <p:sp>
        <p:nvSpPr>
          <p:cNvPr id="21" name="Text 11">
            <a:extLst>
              <a:ext uri="{FF2B5EF4-FFF2-40B4-BE49-F238E27FC236}">
                <a16:creationId xmlns:a16="http://schemas.microsoft.com/office/drawing/2014/main" id="{F245D712-B15D-478C-9375-3722430CCE7F}"/>
              </a:ext>
            </a:extLst>
          </p:cNvPr>
          <p:cNvSpPr/>
          <p:nvPr/>
        </p:nvSpPr>
        <p:spPr>
          <a:xfrm>
            <a:off x="640080" y="4037076"/>
            <a:ext cx="7498080" cy="146304"/>
          </a:xfrm>
          <a:prstGeom prst="rect">
            <a:avLst/>
          </a:prstGeom>
          <a:noFill/>
          <a:ln/>
        </p:spPr>
        <p:txBody>
          <a:bodyPr wrap="square" rtlCol="0" anchor="ctr"/>
          <a:lstStyle/>
          <a:p>
            <a:r>
              <a:rPr lang="en-US" sz="1100" dirty="0">
                <a:solidFill>
                  <a:srgbClr val="34495E"/>
                </a:solidFill>
              </a:rPr>
              <a:t>• </a:t>
            </a:r>
            <a:r>
              <a:rPr lang="en-IN" sz="1100" dirty="0"/>
              <a:t>Modern versions contains: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4830" y="114300"/>
            <a:ext cx="7863840" cy="365760"/>
          </a:xfrm>
          <a:prstGeom prst="rect">
            <a:avLst/>
          </a:prstGeom>
          <a:noFill/>
          <a:ln/>
        </p:spPr>
        <p:txBody>
          <a:bodyPr wrap="square" rtlCol="0" anchor="ctr"/>
          <a:lstStyle/>
          <a:p>
            <a:pPr marL="0" indent="0">
              <a:buNone/>
            </a:pPr>
            <a:r>
              <a:rPr lang="en-US" sz="2400" b="1" dirty="0">
                <a:solidFill>
                  <a:srgbClr val="2C3E50"/>
                </a:solidFill>
              </a:rPr>
              <a:t>8. NCIt - Structure</a:t>
            </a:r>
            <a:endParaRPr lang="en-US" sz="2400" dirty="0"/>
          </a:p>
        </p:txBody>
      </p:sp>
      <p:sp>
        <p:nvSpPr>
          <p:cNvPr id="4" name="Text 2"/>
          <p:cNvSpPr/>
          <p:nvPr/>
        </p:nvSpPr>
        <p:spPr>
          <a:xfrm>
            <a:off x="640080" y="489204"/>
            <a:ext cx="3657600" cy="256032"/>
          </a:xfrm>
          <a:prstGeom prst="rect">
            <a:avLst/>
          </a:prstGeom>
          <a:noFill/>
          <a:ln/>
        </p:spPr>
        <p:txBody>
          <a:bodyPr wrap="square" rtlCol="0" anchor="ctr"/>
          <a:lstStyle/>
          <a:p>
            <a:pPr marL="0" indent="0">
              <a:buNone/>
            </a:pPr>
            <a:r>
              <a:rPr lang="en-US" sz="1300" b="1" dirty="0">
                <a:solidFill>
                  <a:srgbClr val="27AE60"/>
                </a:solidFill>
              </a:rPr>
              <a:t>Nodes:</a:t>
            </a:r>
            <a:endParaRPr lang="en-US" sz="1300" dirty="0"/>
          </a:p>
        </p:txBody>
      </p:sp>
      <p:sp>
        <p:nvSpPr>
          <p:cNvPr id="5" name="Text 3"/>
          <p:cNvSpPr/>
          <p:nvPr/>
        </p:nvSpPr>
        <p:spPr>
          <a:xfrm>
            <a:off x="640081" y="2093976"/>
            <a:ext cx="3474720" cy="1097280"/>
          </a:xfrm>
          <a:prstGeom prst="rect">
            <a:avLst/>
          </a:prstGeom>
          <a:noFill/>
          <a:ln/>
        </p:spPr>
        <p:txBody>
          <a:bodyPr wrap="square" rtlCol="0" anchor="ctr"/>
          <a:lstStyle/>
          <a:p>
            <a:r>
              <a:rPr lang="en-IN" sz="1000" b="1" dirty="0"/>
              <a:t>Disease Entities</a:t>
            </a:r>
          </a:p>
          <a:p>
            <a:r>
              <a:rPr lang="en-IN" sz="1000" dirty="0"/>
              <a:t>Cancer</a:t>
            </a:r>
          </a:p>
          <a:p>
            <a:r>
              <a:rPr lang="en-IN" sz="1000" dirty="0" err="1"/>
              <a:t>Tumor</a:t>
            </a:r>
            <a:r>
              <a:rPr lang="en-IN" sz="1000" dirty="0"/>
              <a:t> Type</a:t>
            </a:r>
          </a:p>
          <a:p>
            <a:r>
              <a:rPr lang="en-IN" sz="1000" dirty="0"/>
              <a:t>Neoplasm</a:t>
            </a:r>
          </a:p>
          <a:p>
            <a:r>
              <a:rPr lang="en-IN" sz="1000" dirty="0"/>
              <a:t>Disease Subtype</a:t>
            </a:r>
          </a:p>
          <a:p>
            <a:r>
              <a:rPr lang="en-IN" sz="1000" b="1" dirty="0"/>
              <a:t>Molecular Biology Entities</a:t>
            </a:r>
          </a:p>
          <a:p>
            <a:r>
              <a:rPr lang="en-IN" sz="1000" dirty="0"/>
              <a:t>Gene</a:t>
            </a:r>
          </a:p>
          <a:p>
            <a:r>
              <a:rPr lang="en-IN" sz="1000" dirty="0"/>
              <a:t>Protein</a:t>
            </a:r>
          </a:p>
          <a:p>
            <a:r>
              <a:rPr lang="en-IN" sz="1000" dirty="0"/>
              <a:t>Molecular Abnormality</a:t>
            </a:r>
          </a:p>
          <a:p>
            <a:r>
              <a:rPr lang="en-IN" sz="1000" dirty="0"/>
              <a:t>Mutation</a:t>
            </a:r>
          </a:p>
          <a:p>
            <a:r>
              <a:rPr lang="en-IN" sz="1000" b="1" dirty="0"/>
              <a:t>Treatment Entities</a:t>
            </a:r>
          </a:p>
          <a:p>
            <a:r>
              <a:rPr lang="en-IN" sz="1000" dirty="0"/>
              <a:t>Drug</a:t>
            </a:r>
          </a:p>
          <a:p>
            <a:r>
              <a:rPr lang="en-IN" sz="1000" dirty="0"/>
              <a:t>Chemotherapy Agent</a:t>
            </a:r>
          </a:p>
          <a:p>
            <a:r>
              <a:rPr lang="en-IN" sz="1000" dirty="0"/>
              <a:t>Radiation Therapy</a:t>
            </a:r>
          </a:p>
          <a:p>
            <a:r>
              <a:rPr lang="en-IN" sz="1000" dirty="0"/>
              <a:t>Targeted Therapy</a:t>
            </a:r>
          </a:p>
          <a:p>
            <a:r>
              <a:rPr lang="en-IN" sz="1000" b="1" dirty="0"/>
              <a:t>Clinical Entities</a:t>
            </a:r>
          </a:p>
          <a:p>
            <a:r>
              <a:rPr lang="en-IN" sz="1000" dirty="0"/>
              <a:t>Diagnostic Procedure</a:t>
            </a:r>
          </a:p>
          <a:p>
            <a:r>
              <a:rPr lang="en-IN" sz="1000" dirty="0"/>
              <a:t>Biomarker</a:t>
            </a:r>
          </a:p>
          <a:p>
            <a:r>
              <a:rPr lang="en-IN" sz="1000" dirty="0"/>
              <a:t>Clinical Trial</a:t>
            </a:r>
          </a:p>
          <a:p>
            <a:r>
              <a:rPr lang="en-IN" sz="1000" dirty="0"/>
              <a:t>Treatment Response</a:t>
            </a:r>
          </a:p>
          <a:p>
            <a:r>
              <a:rPr lang="en-IN" sz="1000" b="1" dirty="0"/>
              <a:t>Biological Entities</a:t>
            </a:r>
          </a:p>
          <a:p>
            <a:r>
              <a:rPr lang="en-IN" sz="1000" dirty="0"/>
              <a:t>Biological Process</a:t>
            </a:r>
          </a:p>
          <a:p>
            <a:r>
              <a:rPr lang="en-IN" sz="1000" dirty="0"/>
              <a:t>Pathway</a:t>
            </a:r>
          </a:p>
          <a:p>
            <a:r>
              <a:rPr lang="en-IN" sz="1000" dirty="0"/>
              <a:t>Cell Type</a:t>
            </a:r>
          </a:p>
          <a:p>
            <a:r>
              <a:rPr lang="en-IN" sz="1000" dirty="0"/>
              <a:t>Anatomy</a:t>
            </a:r>
          </a:p>
        </p:txBody>
      </p:sp>
      <p:sp>
        <p:nvSpPr>
          <p:cNvPr id="6" name="Text 4"/>
          <p:cNvSpPr/>
          <p:nvPr/>
        </p:nvSpPr>
        <p:spPr>
          <a:xfrm>
            <a:off x="3505200" y="446913"/>
            <a:ext cx="3657600" cy="256032"/>
          </a:xfrm>
          <a:prstGeom prst="rect">
            <a:avLst/>
          </a:prstGeom>
          <a:noFill/>
          <a:ln/>
        </p:spPr>
        <p:txBody>
          <a:bodyPr wrap="square" rtlCol="0" anchor="ctr"/>
          <a:lstStyle/>
          <a:p>
            <a:pPr marL="0" indent="0">
              <a:buNone/>
            </a:pPr>
            <a:r>
              <a:rPr lang="en-US" sz="1300" b="1" dirty="0">
                <a:solidFill>
                  <a:srgbClr val="5DADE2"/>
                </a:solidFill>
              </a:rPr>
              <a:t>Edges:</a:t>
            </a:r>
            <a:endParaRPr lang="en-US" sz="1300" dirty="0"/>
          </a:p>
        </p:txBody>
      </p:sp>
      <p:sp>
        <p:nvSpPr>
          <p:cNvPr id="9" name="Text 7"/>
          <p:cNvSpPr/>
          <p:nvPr/>
        </p:nvSpPr>
        <p:spPr>
          <a:xfrm>
            <a:off x="441960" y="4687316"/>
            <a:ext cx="7498080" cy="228600"/>
          </a:xfrm>
          <a:prstGeom prst="rect">
            <a:avLst/>
          </a:prstGeom>
          <a:noFill/>
          <a:ln/>
        </p:spPr>
        <p:txBody>
          <a:bodyPr wrap="square" rtlCol="0" anchor="ctr"/>
          <a:lstStyle/>
          <a:p>
            <a:pPr marL="0" indent="0">
              <a:buNone/>
            </a:pPr>
            <a:r>
              <a:rPr lang="en-US" sz="1100" b="1" dirty="0">
                <a:solidFill>
                  <a:srgbClr val="3498DB"/>
                </a:solidFill>
              </a:rPr>
              <a:t>Paper:</a:t>
            </a:r>
            <a:endParaRPr lang="en-US" sz="1100" dirty="0"/>
          </a:p>
        </p:txBody>
      </p:sp>
      <p:sp>
        <p:nvSpPr>
          <p:cNvPr id="10" name="Text 8"/>
          <p:cNvSpPr/>
          <p:nvPr/>
        </p:nvSpPr>
        <p:spPr>
          <a:xfrm>
            <a:off x="910590" y="4736846"/>
            <a:ext cx="7498080" cy="320040"/>
          </a:xfrm>
          <a:prstGeom prst="rect">
            <a:avLst/>
          </a:prstGeom>
          <a:noFill/>
          <a:ln/>
        </p:spPr>
        <p:txBody>
          <a:bodyPr wrap="square" rtlCol="0" anchor="ctr"/>
          <a:lstStyle/>
          <a:p>
            <a:pPr marL="0" indent="0">
              <a:lnSpc>
                <a:spcPts val="1400"/>
              </a:lnSpc>
              <a:buNone/>
            </a:pPr>
            <a:r>
              <a:rPr lang="en-US" sz="1000" dirty="0">
                <a:solidFill>
                  <a:srgbClr val="34495E"/>
                </a:solidFill>
              </a:rPr>
              <a:t>Sioutos et al. (2007). 'NCI Thesaurus: A semantic model integrating cancer-related clinical and molecular information.' Journal of Biomedical Informatics.</a:t>
            </a:r>
            <a:endParaRPr lang="en-US" sz="1000" dirty="0"/>
          </a:p>
        </p:txBody>
      </p:sp>
      <p:sp>
        <p:nvSpPr>
          <p:cNvPr id="11" name="Text 9">
            <a:hlinkClick r:id="rId3"/>
          </p:cNvPr>
          <p:cNvSpPr/>
          <p:nvPr/>
        </p:nvSpPr>
        <p:spPr>
          <a:xfrm>
            <a:off x="1584960" y="4894961"/>
            <a:ext cx="7498080" cy="182880"/>
          </a:xfrm>
          <a:prstGeom prst="rect">
            <a:avLst/>
          </a:prstGeom>
          <a:noFill/>
          <a:ln/>
        </p:spPr>
        <p:txBody>
          <a:bodyPr wrap="square" rtlCol="0" anchor="ctr"/>
          <a:lstStyle/>
          <a:p>
            <a:r>
              <a:rPr lang="en-US" sz="900" u="sng" dirty="0">
                <a:solidFill>
                  <a:srgbClr val="3498DB"/>
                </a:solidFill>
              </a:rPr>
              <a:t>https://doi.org/10.1016/j.jbi.2006.02.013</a:t>
            </a:r>
            <a:endParaRPr lang="en-US" sz="900" dirty="0"/>
          </a:p>
        </p:txBody>
      </p:sp>
      <p:sp>
        <p:nvSpPr>
          <p:cNvPr id="14" name="TextBox 13">
            <a:extLst>
              <a:ext uri="{FF2B5EF4-FFF2-40B4-BE49-F238E27FC236}">
                <a16:creationId xmlns:a16="http://schemas.microsoft.com/office/drawing/2014/main" id="{27E8BD21-CE86-4380-83E7-829776F0FBF6}"/>
              </a:ext>
            </a:extLst>
          </p:cNvPr>
          <p:cNvSpPr txBox="1"/>
          <p:nvPr/>
        </p:nvSpPr>
        <p:spPr>
          <a:xfrm>
            <a:off x="3507969" y="754380"/>
            <a:ext cx="4900701" cy="1785104"/>
          </a:xfrm>
          <a:prstGeom prst="rect">
            <a:avLst/>
          </a:prstGeom>
          <a:noFill/>
        </p:spPr>
        <p:txBody>
          <a:bodyPr wrap="none" rtlCol="0">
            <a:spAutoFit/>
          </a:bodyPr>
          <a:lstStyle/>
          <a:p>
            <a:pPr marL="285750" indent="-285750">
              <a:buFont typeface="Arial" panose="020B0604020202020204" pitchFamily="34" charset="0"/>
              <a:buChar char="•"/>
            </a:pPr>
            <a:r>
              <a:rPr lang="en-IN" sz="1000" dirty="0" err="1"/>
              <a:t>isa</a:t>
            </a:r>
            <a:r>
              <a:rPr lang="en-IN" sz="1000" dirty="0"/>
              <a:t> (Hierarchical relation)</a:t>
            </a:r>
          </a:p>
          <a:p>
            <a:pPr marL="285750" indent="-285750">
              <a:buFont typeface="Arial" panose="020B0604020202020204" pitchFamily="34" charset="0"/>
              <a:buChar char="•"/>
            </a:pPr>
            <a:r>
              <a:rPr lang="en-IN" sz="1000" dirty="0" err="1"/>
              <a:t>part_of</a:t>
            </a:r>
            <a:r>
              <a:rPr lang="en-IN" sz="1000" dirty="0"/>
              <a:t> (Anatomical relationship)</a:t>
            </a:r>
          </a:p>
          <a:p>
            <a:pPr marL="285750" indent="-285750">
              <a:buFont typeface="Arial" panose="020B0604020202020204" pitchFamily="34" charset="0"/>
              <a:buChar char="•"/>
            </a:pPr>
            <a:r>
              <a:rPr lang="en-IN" sz="1000" dirty="0" err="1"/>
              <a:t>associated_with</a:t>
            </a:r>
            <a:r>
              <a:rPr lang="en-IN" sz="1000" dirty="0"/>
              <a:t> (Disease association)</a:t>
            </a:r>
          </a:p>
          <a:p>
            <a:pPr marL="285750" indent="-285750">
              <a:buFont typeface="Arial" panose="020B0604020202020204" pitchFamily="34" charset="0"/>
              <a:buChar char="•"/>
            </a:pPr>
            <a:r>
              <a:rPr lang="en-IN" sz="1000" dirty="0" err="1"/>
              <a:t>has_abnormality</a:t>
            </a:r>
            <a:r>
              <a:rPr lang="en-IN" sz="1000" dirty="0"/>
              <a:t> (Mutation in cancer)</a:t>
            </a:r>
          </a:p>
          <a:p>
            <a:pPr marL="285750" indent="-285750">
              <a:buFont typeface="Arial" panose="020B0604020202020204" pitchFamily="34" charset="0"/>
              <a:buChar char="•"/>
            </a:pPr>
            <a:r>
              <a:rPr lang="en-IN" sz="1000" dirty="0"/>
              <a:t>treats (Drug treats disease</a:t>
            </a:r>
            <a:r>
              <a:rPr lang="en-US" sz="1000" dirty="0"/>
              <a:t>)</a:t>
            </a:r>
          </a:p>
          <a:p>
            <a:pPr marL="285750" indent="-285750">
              <a:buFont typeface="Arial" panose="020B0604020202020204" pitchFamily="34" charset="0"/>
              <a:buChar char="•"/>
            </a:pPr>
            <a:r>
              <a:rPr lang="en-IN" sz="1000" dirty="0" err="1"/>
              <a:t>participates_in</a:t>
            </a:r>
            <a:r>
              <a:rPr lang="en-IN" sz="1000" dirty="0"/>
              <a:t> (Gene in pathway)</a:t>
            </a:r>
          </a:p>
          <a:p>
            <a:pPr marL="285750" indent="-285750">
              <a:buFont typeface="Arial" panose="020B0604020202020204" pitchFamily="34" charset="0"/>
              <a:buChar char="•"/>
            </a:pPr>
            <a:r>
              <a:rPr lang="en-IN" sz="1000" dirty="0" err="1"/>
              <a:t>expressed_in</a:t>
            </a:r>
            <a:r>
              <a:rPr lang="en-IN" sz="1000" dirty="0"/>
              <a:t> (Gene expressed in tissue)</a:t>
            </a:r>
          </a:p>
          <a:p>
            <a:pPr marL="285750" indent="-285750">
              <a:buFont typeface="Arial" panose="020B0604020202020204" pitchFamily="34" charset="0"/>
              <a:buChar char="•"/>
            </a:pPr>
            <a:r>
              <a:rPr lang="en-IN" sz="1000" dirty="0" err="1"/>
              <a:t>has_biomarker</a:t>
            </a:r>
            <a:r>
              <a:rPr lang="en-IN" sz="1000" dirty="0"/>
              <a:t> (Disease biomarker)</a:t>
            </a:r>
          </a:p>
          <a:p>
            <a:r>
              <a:rPr lang="en-US" sz="1000" dirty="0" err="1"/>
              <a:t>NCIt</a:t>
            </a:r>
            <a:r>
              <a:rPr lang="en-US" sz="1000" dirty="0"/>
              <a:t> contains dozens of relation types linking biomedical concepts in a semantic network.</a:t>
            </a:r>
            <a:endParaRPr lang="en-IN" sz="1000" dirty="0"/>
          </a:p>
          <a:p>
            <a:endParaRPr lang="en-IN" sz="1000" dirty="0"/>
          </a:p>
          <a:p>
            <a:endParaRPr lang="en-IN"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320040"/>
          </a:xfrm>
          <a:prstGeom prst="rect">
            <a:avLst/>
          </a:prstGeom>
          <a:noFill/>
          <a:ln/>
        </p:spPr>
        <p:txBody>
          <a:bodyPr wrap="square" rtlCol="0" anchor="ctr"/>
          <a:lstStyle/>
          <a:p>
            <a:pPr marL="0" indent="0">
              <a:buNone/>
            </a:pPr>
            <a:r>
              <a:rPr lang="en-US" sz="2200" b="1" dirty="0">
                <a:solidFill>
                  <a:srgbClr val="2C3E50"/>
                </a:solidFill>
              </a:rPr>
              <a:t>8. NCIt - Visual Example</a:t>
            </a:r>
            <a:endParaRPr lang="en-US" sz="2200" dirty="0"/>
          </a:p>
        </p:txBody>
      </p:sp>
      <p:sp>
        <p:nvSpPr>
          <p:cNvPr id="39" name="TextBox 38">
            <a:extLst>
              <a:ext uri="{FF2B5EF4-FFF2-40B4-BE49-F238E27FC236}">
                <a16:creationId xmlns:a16="http://schemas.microsoft.com/office/drawing/2014/main" id="{F049E2D5-560C-479A-AC84-5A11E5AE783D}"/>
              </a:ext>
            </a:extLst>
          </p:cNvPr>
          <p:cNvSpPr txBox="1"/>
          <p:nvPr/>
        </p:nvSpPr>
        <p:spPr>
          <a:xfrm>
            <a:off x="552450" y="977900"/>
            <a:ext cx="3613150" cy="2862322"/>
          </a:xfrm>
          <a:prstGeom prst="rect">
            <a:avLst/>
          </a:prstGeom>
          <a:noFill/>
        </p:spPr>
        <p:txBody>
          <a:bodyPr wrap="square" rtlCol="0">
            <a:spAutoFit/>
          </a:bodyPr>
          <a:lstStyle/>
          <a:p>
            <a:r>
              <a:rPr lang="en-IN" sz="1000" dirty="0"/>
              <a:t>Cancer</a:t>
            </a:r>
            <a:br>
              <a:rPr lang="en-IN" sz="1000" dirty="0"/>
            </a:br>
            <a:r>
              <a:rPr lang="en-IN" sz="1000" dirty="0"/>
              <a:t>→ </a:t>
            </a:r>
            <a:r>
              <a:rPr lang="en-IN" sz="1000" dirty="0" err="1"/>
              <a:t>associated_with</a:t>
            </a:r>
            <a:r>
              <a:rPr lang="en-IN" sz="1000" dirty="0"/>
              <a:t> → Gene</a:t>
            </a:r>
          </a:p>
          <a:p>
            <a:r>
              <a:rPr lang="en-IN" sz="1000" dirty="0"/>
              <a:t>Gene</a:t>
            </a:r>
            <a:br>
              <a:rPr lang="en-IN" sz="1000" dirty="0"/>
            </a:br>
            <a:r>
              <a:rPr lang="en-IN" sz="1000" dirty="0"/>
              <a:t>→ </a:t>
            </a:r>
            <a:r>
              <a:rPr lang="en-IN" sz="1000" dirty="0" err="1"/>
              <a:t>has_mutation</a:t>
            </a:r>
            <a:r>
              <a:rPr lang="en-IN" sz="1000" dirty="0"/>
              <a:t> → </a:t>
            </a:r>
            <a:r>
              <a:rPr lang="en-IN" sz="1000" dirty="0" err="1"/>
              <a:t>Molecular_Abnormality</a:t>
            </a:r>
            <a:endParaRPr lang="en-IN" sz="1000" dirty="0"/>
          </a:p>
          <a:p>
            <a:r>
              <a:rPr lang="en-IN" sz="1000" dirty="0" err="1"/>
              <a:t>Molecular_Abnormality</a:t>
            </a:r>
            <a:br>
              <a:rPr lang="en-IN" sz="1000" dirty="0"/>
            </a:br>
            <a:r>
              <a:rPr lang="en-IN" sz="1000" dirty="0"/>
              <a:t>→ </a:t>
            </a:r>
            <a:r>
              <a:rPr lang="en-IN" sz="1000" dirty="0" err="1"/>
              <a:t>contributes_to</a:t>
            </a:r>
            <a:r>
              <a:rPr lang="en-IN" sz="1000" dirty="0"/>
              <a:t> → Cancer</a:t>
            </a:r>
          </a:p>
          <a:p>
            <a:r>
              <a:rPr lang="en-IN" sz="1000" dirty="0"/>
              <a:t>Cancer</a:t>
            </a:r>
            <a:br>
              <a:rPr lang="en-IN" sz="1000" dirty="0"/>
            </a:br>
            <a:r>
              <a:rPr lang="en-IN" sz="1000" dirty="0"/>
              <a:t>→ </a:t>
            </a:r>
            <a:r>
              <a:rPr lang="en-IN" sz="1000" dirty="0" err="1"/>
              <a:t>diagnosed_by</a:t>
            </a:r>
            <a:r>
              <a:rPr lang="en-IN" sz="1000" dirty="0"/>
              <a:t> → </a:t>
            </a:r>
            <a:r>
              <a:rPr lang="en-IN" sz="1000" dirty="0" err="1"/>
              <a:t>Diagnostic_Procedure</a:t>
            </a:r>
            <a:endParaRPr lang="en-IN" sz="1000" dirty="0"/>
          </a:p>
          <a:p>
            <a:r>
              <a:rPr lang="en-IN" sz="1000" dirty="0"/>
              <a:t>Cancer</a:t>
            </a:r>
            <a:br>
              <a:rPr lang="en-IN" sz="1000" dirty="0"/>
            </a:br>
            <a:r>
              <a:rPr lang="en-IN" sz="1000" dirty="0"/>
              <a:t>→ </a:t>
            </a:r>
            <a:r>
              <a:rPr lang="en-IN" sz="1000" dirty="0" err="1"/>
              <a:t>treated_with</a:t>
            </a:r>
            <a:r>
              <a:rPr lang="en-IN" sz="1000" dirty="0"/>
              <a:t> → Drug</a:t>
            </a:r>
          </a:p>
          <a:p>
            <a:r>
              <a:rPr lang="en-IN" sz="1000" dirty="0"/>
              <a:t>Drug</a:t>
            </a:r>
            <a:br>
              <a:rPr lang="en-IN" sz="1000" dirty="0"/>
            </a:br>
            <a:r>
              <a:rPr lang="en-IN" sz="1000" dirty="0"/>
              <a:t>→ </a:t>
            </a:r>
            <a:r>
              <a:rPr lang="en-IN" sz="1000" dirty="0" err="1"/>
              <a:t>classified_as</a:t>
            </a:r>
            <a:r>
              <a:rPr lang="en-IN" sz="1000" dirty="0"/>
              <a:t> → </a:t>
            </a:r>
            <a:r>
              <a:rPr lang="en-IN" sz="1000" dirty="0" err="1"/>
              <a:t>Pharmacologic_Class</a:t>
            </a:r>
            <a:endParaRPr lang="en-IN" sz="1000" dirty="0"/>
          </a:p>
          <a:p>
            <a:r>
              <a:rPr lang="en-IN" sz="1000" dirty="0"/>
              <a:t>Gene</a:t>
            </a:r>
            <a:br>
              <a:rPr lang="en-IN" sz="1000" dirty="0"/>
            </a:br>
            <a:r>
              <a:rPr lang="en-IN" sz="1000" dirty="0"/>
              <a:t>→ </a:t>
            </a:r>
            <a:r>
              <a:rPr lang="en-IN" sz="1000" dirty="0" err="1"/>
              <a:t>participates_in</a:t>
            </a:r>
            <a:r>
              <a:rPr lang="en-IN" sz="1000" dirty="0"/>
              <a:t> → </a:t>
            </a:r>
            <a:r>
              <a:rPr lang="en-IN" sz="1000" dirty="0" err="1"/>
              <a:t>Biological_Pathway</a:t>
            </a:r>
            <a:endParaRPr lang="en-IN" sz="1000" dirty="0"/>
          </a:p>
          <a:p>
            <a:r>
              <a:rPr lang="en-IN" sz="1000" dirty="0"/>
              <a:t>Gene</a:t>
            </a:r>
            <a:br>
              <a:rPr lang="en-IN" sz="1000" dirty="0"/>
            </a:br>
            <a:r>
              <a:rPr lang="en-IN" sz="1000" dirty="0"/>
              <a:t>→ </a:t>
            </a:r>
            <a:r>
              <a:rPr lang="en-IN" sz="1000" dirty="0" err="1"/>
              <a:t>expressed_in</a:t>
            </a:r>
            <a:r>
              <a:rPr lang="en-IN" sz="1000" dirty="0"/>
              <a:t> → Tissue</a:t>
            </a:r>
          </a:p>
          <a:p>
            <a:r>
              <a:rPr lang="en-IN" sz="1000" dirty="0"/>
              <a:t>Biomarker</a:t>
            </a:r>
            <a:br>
              <a:rPr lang="en-IN" sz="1000" dirty="0"/>
            </a:br>
            <a:r>
              <a:rPr lang="en-IN" sz="1000" dirty="0"/>
              <a:t>→ indicates → Cancer</a:t>
            </a:r>
          </a:p>
        </p:txBody>
      </p:sp>
      <p:sp>
        <p:nvSpPr>
          <p:cNvPr id="40" name="TextBox 39">
            <a:extLst>
              <a:ext uri="{FF2B5EF4-FFF2-40B4-BE49-F238E27FC236}">
                <a16:creationId xmlns:a16="http://schemas.microsoft.com/office/drawing/2014/main" id="{8B992CA9-0597-40A7-BF06-1A47005AD7E5}"/>
              </a:ext>
            </a:extLst>
          </p:cNvPr>
          <p:cNvSpPr txBox="1"/>
          <p:nvPr/>
        </p:nvSpPr>
        <p:spPr>
          <a:xfrm>
            <a:off x="5315583" y="977900"/>
            <a:ext cx="3613150" cy="1938992"/>
          </a:xfrm>
          <a:prstGeom prst="rect">
            <a:avLst/>
          </a:prstGeom>
          <a:noFill/>
        </p:spPr>
        <p:txBody>
          <a:bodyPr wrap="square" rtlCol="0">
            <a:spAutoFit/>
          </a:bodyPr>
          <a:lstStyle/>
          <a:p>
            <a:r>
              <a:rPr lang="en-IN" sz="1000" dirty="0" err="1"/>
              <a:t>Breast_Cancer</a:t>
            </a:r>
            <a:br>
              <a:rPr lang="en-IN" sz="1000" dirty="0"/>
            </a:br>
            <a:r>
              <a:rPr lang="en-IN" sz="1000" dirty="0"/>
              <a:t>→ </a:t>
            </a:r>
            <a:r>
              <a:rPr lang="en-IN" sz="1000" dirty="0" err="1"/>
              <a:t>associated_with</a:t>
            </a:r>
            <a:r>
              <a:rPr lang="en-IN" sz="1000" dirty="0"/>
              <a:t> → BRCA1</a:t>
            </a:r>
          </a:p>
          <a:p>
            <a:r>
              <a:rPr lang="en-IN" sz="1000" dirty="0"/>
              <a:t>BRCA1</a:t>
            </a:r>
            <a:br>
              <a:rPr lang="en-IN" sz="1000" dirty="0"/>
            </a:br>
            <a:r>
              <a:rPr lang="en-IN" sz="1000" dirty="0"/>
              <a:t>→ </a:t>
            </a:r>
            <a:r>
              <a:rPr lang="en-IN" sz="1000" dirty="0" err="1"/>
              <a:t>has_mutation</a:t>
            </a:r>
            <a:r>
              <a:rPr lang="en-IN" sz="1000" dirty="0"/>
              <a:t> → BRCA1_Mutation</a:t>
            </a:r>
          </a:p>
          <a:p>
            <a:r>
              <a:rPr lang="en-IN" sz="1000" dirty="0"/>
              <a:t>BRCA1_Mutation</a:t>
            </a:r>
            <a:br>
              <a:rPr lang="en-IN" sz="1000" dirty="0"/>
            </a:br>
            <a:r>
              <a:rPr lang="en-IN" sz="1000" dirty="0"/>
              <a:t>→ </a:t>
            </a:r>
            <a:r>
              <a:rPr lang="en-IN" sz="1000" dirty="0" err="1"/>
              <a:t>contributes_to</a:t>
            </a:r>
            <a:r>
              <a:rPr lang="en-IN" sz="1000" dirty="0"/>
              <a:t> → </a:t>
            </a:r>
            <a:r>
              <a:rPr lang="en-IN" sz="1000" dirty="0" err="1"/>
              <a:t>Breast_Cancer</a:t>
            </a:r>
            <a:endParaRPr lang="en-IN" sz="1000" dirty="0"/>
          </a:p>
          <a:p>
            <a:r>
              <a:rPr lang="en-IN" sz="1000" dirty="0" err="1"/>
              <a:t>Breast_Cancer</a:t>
            </a:r>
            <a:br>
              <a:rPr lang="en-IN" sz="1000" dirty="0"/>
            </a:br>
            <a:r>
              <a:rPr lang="en-IN" sz="1000" dirty="0"/>
              <a:t>→ </a:t>
            </a:r>
            <a:r>
              <a:rPr lang="en-IN" sz="1000" dirty="0" err="1"/>
              <a:t>treated_with</a:t>
            </a:r>
            <a:r>
              <a:rPr lang="en-IN" sz="1000" dirty="0"/>
              <a:t> → Tamoxifen</a:t>
            </a:r>
          </a:p>
          <a:p>
            <a:r>
              <a:rPr lang="en-IN" sz="1000" dirty="0"/>
              <a:t>Tamoxifen</a:t>
            </a:r>
            <a:br>
              <a:rPr lang="en-IN" sz="1000" dirty="0"/>
            </a:br>
            <a:r>
              <a:rPr lang="en-IN" sz="1000" dirty="0"/>
              <a:t>→ </a:t>
            </a:r>
            <a:r>
              <a:rPr lang="en-IN" sz="1000" dirty="0" err="1"/>
              <a:t>classified_as</a:t>
            </a:r>
            <a:r>
              <a:rPr lang="en-IN" sz="1000" dirty="0"/>
              <a:t> → </a:t>
            </a:r>
            <a:r>
              <a:rPr lang="en-IN" sz="1000" dirty="0" err="1"/>
              <a:t>Hormone_Therapy</a:t>
            </a:r>
            <a:endParaRPr lang="en-IN" sz="1000" dirty="0"/>
          </a:p>
          <a:p>
            <a:r>
              <a:rPr lang="en-IN" sz="1000" dirty="0"/>
              <a:t>BRCA1</a:t>
            </a:r>
            <a:br>
              <a:rPr lang="en-IN" sz="1000" dirty="0"/>
            </a:br>
            <a:r>
              <a:rPr lang="en-IN" sz="1000" dirty="0"/>
              <a:t>→ </a:t>
            </a:r>
            <a:r>
              <a:rPr lang="en-IN" sz="1000" dirty="0" err="1"/>
              <a:t>participates_in</a:t>
            </a:r>
            <a:r>
              <a:rPr lang="en-IN" sz="1000" dirty="0"/>
              <a:t> → </a:t>
            </a:r>
            <a:r>
              <a:rPr lang="en-IN" sz="1000" dirty="0" err="1"/>
              <a:t>DNA_Repair_Pathway</a:t>
            </a:r>
            <a:endParaRPr lang="en-IN" sz="1000" dirty="0"/>
          </a:p>
        </p:txBody>
      </p:sp>
      <p:sp>
        <p:nvSpPr>
          <p:cNvPr id="41" name="TextBox 40">
            <a:extLst>
              <a:ext uri="{FF2B5EF4-FFF2-40B4-BE49-F238E27FC236}">
                <a16:creationId xmlns:a16="http://schemas.microsoft.com/office/drawing/2014/main" id="{29878AEB-F73E-4020-9644-D38282BA8A96}"/>
              </a:ext>
            </a:extLst>
          </p:cNvPr>
          <p:cNvSpPr txBox="1"/>
          <p:nvPr/>
        </p:nvSpPr>
        <p:spPr>
          <a:xfrm>
            <a:off x="5315583" y="670123"/>
            <a:ext cx="1390648" cy="307777"/>
          </a:xfrm>
          <a:prstGeom prst="rect">
            <a:avLst/>
          </a:prstGeom>
          <a:noFill/>
        </p:spPr>
        <p:txBody>
          <a:bodyPr wrap="square" rtlCol="0">
            <a:spAutoFit/>
          </a:bodyPr>
          <a:lstStyle/>
          <a:p>
            <a:r>
              <a:rPr lang="en-US" sz="1400" u="sng" dirty="0"/>
              <a:t>Example</a:t>
            </a:r>
            <a:endParaRPr lang="en-IN" sz="1400" u="sng" dirty="0"/>
          </a:p>
        </p:txBody>
      </p:sp>
      <p:sp>
        <p:nvSpPr>
          <p:cNvPr id="42" name="TextBox 41">
            <a:extLst>
              <a:ext uri="{FF2B5EF4-FFF2-40B4-BE49-F238E27FC236}">
                <a16:creationId xmlns:a16="http://schemas.microsoft.com/office/drawing/2014/main" id="{04695174-DDAF-4D89-8950-6D1E1661BA56}"/>
              </a:ext>
            </a:extLst>
          </p:cNvPr>
          <p:cNvSpPr txBox="1"/>
          <p:nvPr/>
        </p:nvSpPr>
        <p:spPr>
          <a:xfrm>
            <a:off x="3314702" y="2409061"/>
            <a:ext cx="3467100" cy="2400657"/>
          </a:xfrm>
          <a:prstGeom prst="rect">
            <a:avLst/>
          </a:prstGeom>
          <a:noFill/>
        </p:spPr>
        <p:txBody>
          <a:bodyPr wrap="square" rtlCol="0">
            <a:spAutoFit/>
          </a:bodyPr>
          <a:lstStyle/>
          <a:p>
            <a:r>
              <a:rPr lang="en-IN" sz="1000" dirty="0"/>
              <a:t>       Gene</a:t>
            </a:r>
          </a:p>
          <a:p>
            <a:r>
              <a:rPr lang="en-IN" sz="1000" dirty="0"/>
              <a:t>           │</a:t>
            </a:r>
          </a:p>
          <a:p>
            <a:r>
              <a:rPr lang="en-IN" sz="1000" dirty="0"/>
              <a:t>           │ </a:t>
            </a:r>
            <a:r>
              <a:rPr lang="en-IN" sz="1000" dirty="0" err="1"/>
              <a:t>has_mutation</a:t>
            </a:r>
            <a:endParaRPr lang="en-IN" sz="1000" dirty="0"/>
          </a:p>
          <a:p>
            <a:r>
              <a:rPr lang="en-IN" sz="1000" dirty="0"/>
              <a:t>           ▼</a:t>
            </a:r>
          </a:p>
          <a:p>
            <a:r>
              <a:rPr lang="en-IN" sz="1000" dirty="0"/>
              <a:t> </a:t>
            </a:r>
            <a:r>
              <a:rPr lang="en-IN" sz="1000" dirty="0" err="1"/>
              <a:t>Molecular_Abnormality</a:t>
            </a:r>
            <a:endParaRPr lang="en-IN" sz="1000" dirty="0"/>
          </a:p>
          <a:p>
            <a:r>
              <a:rPr lang="en-IN" sz="1000" dirty="0"/>
              <a:t>           │</a:t>
            </a:r>
          </a:p>
          <a:p>
            <a:r>
              <a:rPr lang="en-IN" sz="1000" dirty="0"/>
              <a:t>           │ </a:t>
            </a:r>
            <a:r>
              <a:rPr lang="en-IN" sz="1000" dirty="0" err="1"/>
              <a:t>contributes_to</a:t>
            </a:r>
            <a:endParaRPr lang="en-IN" sz="1000" dirty="0"/>
          </a:p>
          <a:p>
            <a:r>
              <a:rPr lang="en-IN" sz="1000" dirty="0"/>
              <a:t>           ▼</a:t>
            </a:r>
          </a:p>
          <a:p>
            <a:r>
              <a:rPr lang="en-IN" sz="1000" dirty="0"/>
              <a:t>          Cancer</a:t>
            </a:r>
          </a:p>
          <a:p>
            <a:r>
              <a:rPr lang="en-IN" sz="1000" dirty="0"/>
              <a:t>        /                \</a:t>
            </a:r>
          </a:p>
          <a:p>
            <a:r>
              <a:rPr lang="en-IN" sz="1000" dirty="0"/>
              <a:t>       /                    \</a:t>
            </a:r>
          </a:p>
          <a:p>
            <a:r>
              <a:rPr lang="en-IN" sz="1000" dirty="0"/>
              <a:t> </a:t>
            </a:r>
            <a:r>
              <a:rPr lang="en-IN" sz="1000" dirty="0" err="1"/>
              <a:t>diagnosed_by</a:t>
            </a:r>
            <a:r>
              <a:rPr lang="en-IN" sz="1000" dirty="0"/>
              <a:t>   </a:t>
            </a:r>
            <a:r>
              <a:rPr lang="en-IN" sz="1000" dirty="0" err="1"/>
              <a:t>treated_with</a:t>
            </a:r>
            <a:endParaRPr lang="en-IN" sz="1000" dirty="0"/>
          </a:p>
          <a:p>
            <a:r>
              <a:rPr lang="en-IN" sz="1000" dirty="0"/>
              <a:t>     │              	           │</a:t>
            </a:r>
          </a:p>
          <a:p>
            <a:r>
              <a:rPr lang="en-IN" sz="1000" dirty="0"/>
              <a:t>     ▼              	           ▼</a:t>
            </a:r>
          </a:p>
          <a:p>
            <a:r>
              <a:rPr lang="en-IN" sz="1000" dirty="0" err="1"/>
              <a:t>Diagnostic_Procedure</a:t>
            </a:r>
            <a:r>
              <a:rPr lang="en-IN" sz="1000" dirty="0"/>
              <a:t>   Drug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74C3C"/>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9. CancerMine</a:t>
            </a:r>
            <a:endParaRPr lang="en-US" sz="2600" dirty="0"/>
          </a:p>
        </p:txBody>
      </p:sp>
      <p:sp>
        <p:nvSpPr>
          <p:cNvPr id="4" name="Text 2"/>
          <p:cNvSpPr/>
          <p:nvPr/>
        </p:nvSpPr>
        <p:spPr>
          <a:xfrm>
            <a:off x="457200" y="960120"/>
            <a:ext cx="8229600" cy="274320"/>
          </a:xfrm>
          <a:prstGeom prst="rect">
            <a:avLst/>
          </a:prstGeom>
          <a:noFill/>
          <a:ln/>
        </p:spPr>
        <p:txBody>
          <a:bodyPr wrap="square" rtlCol="0" anchor="ctr"/>
          <a:lstStyle/>
          <a:p>
            <a:pPr marL="0" indent="0">
              <a:buNone/>
            </a:pPr>
            <a:r>
              <a:rPr lang="en-US" sz="1400" i="1" dirty="0">
                <a:solidFill>
                  <a:srgbClr val="7B8894"/>
                </a:solidFill>
              </a:rPr>
              <a:t>Gene Role Classifier</a:t>
            </a:r>
            <a:endParaRPr lang="en-US" sz="1400" dirty="0"/>
          </a:p>
        </p:txBody>
      </p:sp>
      <p:sp>
        <p:nvSpPr>
          <p:cNvPr id="5" name="Text 3"/>
          <p:cNvSpPr/>
          <p:nvPr/>
        </p:nvSpPr>
        <p:spPr>
          <a:xfrm>
            <a:off x="640080" y="1417320"/>
            <a:ext cx="7863840" cy="256032"/>
          </a:xfrm>
          <a:prstGeom prst="rect">
            <a:avLst/>
          </a:prstGeom>
          <a:noFill/>
          <a:ln/>
        </p:spPr>
        <p:txBody>
          <a:bodyPr wrap="square" rtlCol="0" anchor="ctr"/>
          <a:lstStyle/>
          <a:p>
            <a:pPr marL="0" indent="0">
              <a:buNone/>
            </a:pPr>
            <a:r>
              <a:rPr lang="en-US" sz="1300" b="1" dirty="0">
                <a:solidFill>
                  <a:srgbClr val="34495E"/>
                </a:solidFill>
              </a:rPr>
              <a:t>What is it?</a:t>
            </a:r>
            <a:endParaRPr lang="en-US" sz="1300" dirty="0"/>
          </a:p>
        </p:txBody>
      </p:sp>
      <p:sp>
        <p:nvSpPr>
          <p:cNvPr id="6" name="Text 4"/>
          <p:cNvSpPr/>
          <p:nvPr/>
        </p:nvSpPr>
        <p:spPr>
          <a:xfrm>
            <a:off x="640080" y="1719072"/>
            <a:ext cx="7863840" cy="594360"/>
          </a:xfrm>
          <a:prstGeom prst="rect">
            <a:avLst/>
          </a:prstGeom>
          <a:noFill/>
          <a:ln/>
        </p:spPr>
        <p:txBody>
          <a:bodyPr wrap="square" rtlCol="0" anchor="ctr"/>
          <a:lstStyle/>
          <a:p>
            <a:pPr>
              <a:lnSpc>
                <a:spcPts val="1800"/>
              </a:lnSpc>
            </a:pPr>
            <a:r>
              <a:rPr lang="en-US" sz="1200" dirty="0" err="1">
                <a:solidFill>
                  <a:srgbClr val="34495E"/>
                </a:solidFill>
              </a:rPr>
              <a:t>CancerMine</a:t>
            </a:r>
            <a:r>
              <a:rPr lang="en-US" sz="1200" dirty="0">
                <a:solidFill>
                  <a:srgbClr val="34495E"/>
                </a:solidFill>
              </a:rPr>
              <a:t> is a biomedical knowledge resource created by mining the scientific literature to identify genes involved in cancer and classify their roles. The system automatically extracts relationships between genes and cancer types using text-mining and machine learning methods</a:t>
            </a:r>
            <a:endParaRPr lang="en-US" sz="1200" dirty="0"/>
          </a:p>
        </p:txBody>
      </p:sp>
      <p:sp>
        <p:nvSpPr>
          <p:cNvPr id="7" name="Text 5"/>
          <p:cNvSpPr/>
          <p:nvPr/>
        </p:nvSpPr>
        <p:spPr>
          <a:xfrm>
            <a:off x="640080" y="2468880"/>
            <a:ext cx="7863840" cy="256032"/>
          </a:xfrm>
          <a:prstGeom prst="rect">
            <a:avLst/>
          </a:prstGeom>
          <a:noFill/>
          <a:ln/>
        </p:spPr>
        <p:txBody>
          <a:bodyPr wrap="square" rtlCol="0" anchor="ctr"/>
          <a:lstStyle/>
          <a:p>
            <a:pPr marL="0" indent="0">
              <a:buNone/>
            </a:pPr>
            <a:r>
              <a:rPr lang="en-US" sz="1300" b="1" dirty="0">
                <a:solidFill>
                  <a:srgbClr val="34495E"/>
                </a:solidFill>
              </a:rPr>
              <a:t>Why it matters:</a:t>
            </a:r>
            <a:endParaRPr lang="en-US" sz="1300" dirty="0"/>
          </a:p>
        </p:txBody>
      </p:sp>
      <p:sp>
        <p:nvSpPr>
          <p:cNvPr id="8" name="Text 6"/>
          <p:cNvSpPr/>
          <p:nvPr/>
        </p:nvSpPr>
        <p:spPr>
          <a:xfrm>
            <a:off x="640080" y="2770632"/>
            <a:ext cx="7863840" cy="411480"/>
          </a:xfrm>
          <a:prstGeom prst="rect">
            <a:avLst/>
          </a:prstGeom>
          <a:noFill/>
          <a:ln/>
        </p:spPr>
        <p:txBody>
          <a:bodyPr wrap="square" rtlCol="0" anchor="ctr"/>
          <a:lstStyle/>
          <a:p>
            <a:pPr>
              <a:lnSpc>
                <a:spcPts val="1800"/>
              </a:lnSpc>
            </a:pPr>
            <a:r>
              <a:rPr lang="en-US" sz="1200" dirty="0" err="1">
                <a:solidFill>
                  <a:srgbClr val="34495E"/>
                </a:solidFill>
              </a:rPr>
              <a:t>CancerMine</a:t>
            </a:r>
            <a:r>
              <a:rPr lang="en-US" sz="1200" dirty="0">
                <a:solidFill>
                  <a:srgbClr val="34495E"/>
                </a:solidFill>
              </a:rPr>
              <a:t> is continuously updated from biomedical literature and provides downloadable datasets for cancer genomics research</a:t>
            </a:r>
            <a:endParaRPr lang="en-US" sz="1200" dirty="0"/>
          </a:p>
        </p:txBody>
      </p:sp>
      <p:sp>
        <p:nvSpPr>
          <p:cNvPr id="10" name="Text 8"/>
          <p:cNvSpPr/>
          <p:nvPr/>
        </p:nvSpPr>
        <p:spPr>
          <a:xfrm>
            <a:off x="640080" y="3300984"/>
            <a:ext cx="7498080" cy="228600"/>
          </a:xfrm>
          <a:prstGeom prst="rect">
            <a:avLst/>
          </a:prstGeom>
          <a:noFill/>
          <a:ln/>
        </p:spPr>
        <p:txBody>
          <a:bodyPr wrap="square" rtlCol="0" anchor="ctr"/>
          <a:lstStyle/>
          <a:p>
            <a:pPr marL="0" indent="0">
              <a:buNone/>
            </a:pPr>
            <a:r>
              <a:rPr lang="en-US" sz="1200" b="1" dirty="0">
                <a:solidFill>
                  <a:srgbClr val="E74C3C"/>
                </a:solidFill>
              </a:rPr>
              <a:t>Properties:</a:t>
            </a:r>
            <a:endParaRPr lang="en-US" sz="1200" dirty="0"/>
          </a:p>
        </p:txBody>
      </p:sp>
      <p:sp>
        <p:nvSpPr>
          <p:cNvPr id="11" name="Text 9"/>
          <p:cNvSpPr/>
          <p:nvPr/>
        </p:nvSpPr>
        <p:spPr>
          <a:xfrm>
            <a:off x="640080" y="3570732"/>
            <a:ext cx="7498080" cy="146304"/>
          </a:xfrm>
          <a:prstGeom prst="rect">
            <a:avLst/>
          </a:prstGeom>
          <a:noFill/>
          <a:ln/>
        </p:spPr>
        <p:txBody>
          <a:bodyPr wrap="square" rtlCol="0" anchor="ctr"/>
          <a:lstStyle/>
          <a:p>
            <a:pPr marL="0" indent="0">
              <a:buNone/>
            </a:pPr>
            <a:r>
              <a:rPr lang="en-US" sz="1100" dirty="0">
                <a:solidFill>
                  <a:srgbClr val="34495E"/>
                </a:solidFill>
              </a:rPr>
              <a:t>• 22,742 genes classified</a:t>
            </a:r>
            <a:endParaRPr lang="en-US" sz="1100" dirty="0"/>
          </a:p>
        </p:txBody>
      </p:sp>
      <p:sp>
        <p:nvSpPr>
          <p:cNvPr id="12" name="Text 10"/>
          <p:cNvSpPr/>
          <p:nvPr/>
        </p:nvSpPr>
        <p:spPr>
          <a:xfrm>
            <a:off x="640080" y="3782060"/>
            <a:ext cx="7498080" cy="146304"/>
          </a:xfrm>
          <a:prstGeom prst="rect">
            <a:avLst/>
          </a:prstGeom>
          <a:noFill/>
          <a:ln/>
        </p:spPr>
        <p:txBody>
          <a:bodyPr wrap="square" rtlCol="0" anchor="ctr"/>
          <a:lstStyle/>
          <a:p>
            <a:pPr marL="0" indent="0">
              <a:buNone/>
            </a:pPr>
            <a:r>
              <a:rPr lang="en-US" sz="1100" dirty="0">
                <a:solidFill>
                  <a:srgbClr val="34495E"/>
                </a:solidFill>
              </a:rPr>
              <a:t>• 34 million papers analyzed</a:t>
            </a:r>
            <a:endParaRPr lang="en-US" sz="1100" dirty="0"/>
          </a:p>
        </p:txBody>
      </p:sp>
      <p:sp>
        <p:nvSpPr>
          <p:cNvPr id="13" name="Text 11"/>
          <p:cNvSpPr/>
          <p:nvPr/>
        </p:nvSpPr>
        <p:spPr>
          <a:xfrm>
            <a:off x="640080" y="3993388"/>
            <a:ext cx="7498080" cy="146304"/>
          </a:xfrm>
          <a:prstGeom prst="rect">
            <a:avLst/>
          </a:prstGeom>
          <a:noFill/>
          <a:ln/>
        </p:spPr>
        <p:txBody>
          <a:bodyPr wrap="square" rtlCol="0" anchor="ctr"/>
          <a:lstStyle/>
          <a:p>
            <a:pPr marL="0" indent="0">
              <a:buNone/>
            </a:pPr>
            <a:r>
              <a:rPr lang="en-US" sz="1100" dirty="0">
                <a:solidFill>
                  <a:srgbClr val="34495E"/>
                </a:solidFill>
              </a:rPr>
              <a:t>• Citation counts provided</a:t>
            </a:r>
            <a:endParaRPr lang="en-US" sz="1100" dirty="0"/>
          </a:p>
        </p:txBody>
      </p:sp>
      <p:sp>
        <p:nvSpPr>
          <p:cNvPr id="15" name="Text 13"/>
          <p:cNvSpPr/>
          <p:nvPr/>
        </p:nvSpPr>
        <p:spPr>
          <a:xfrm>
            <a:off x="3821430" y="3202178"/>
            <a:ext cx="3681838" cy="228600"/>
          </a:xfrm>
          <a:prstGeom prst="rect">
            <a:avLst/>
          </a:prstGeom>
          <a:noFill/>
          <a:ln/>
        </p:spPr>
        <p:txBody>
          <a:bodyPr wrap="square" rtlCol="0" anchor="ctr"/>
          <a:lstStyle/>
          <a:p>
            <a:pPr marL="0" indent="0">
              <a:buNone/>
            </a:pPr>
            <a:r>
              <a:rPr lang="en-US" sz="1200" b="1" dirty="0">
                <a:solidFill>
                  <a:srgbClr val="E74C3C"/>
                </a:solidFill>
              </a:rPr>
              <a:t>How we'll use it:</a:t>
            </a:r>
            <a:endParaRPr lang="en-US" sz="1200" dirty="0"/>
          </a:p>
        </p:txBody>
      </p:sp>
      <p:sp>
        <p:nvSpPr>
          <p:cNvPr id="16" name="Text 14"/>
          <p:cNvSpPr/>
          <p:nvPr/>
        </p:nvSpPr>
        <p:spPr>
          <a:xfrm>
            <a:off x="3870960" y="3622040"/>
            <a:ext cx="2328802" cy="320040"/>
          </a:xfrm>
          <a:prstGeom prst="rect">
            <a:avLst/>
          </a:prstGeom>
          <a:noFill/>
          <a:ln/>
        </p:spPr>
        <p:txBody>
          <a:bodyPr wrap="square" rtlCol="0" anchor="ctr"/>
          <a:lstStyle/>
          <a:p>
            <a:pPr marL="0" indent="0">
              <a:lnSpc>
                <a:spcPts val="1600"/>
              </a:lnSpc>
              <a:buNone/>
            </a:pPr>
            <a:r>
              <a:rPr lang="en-US" sz="1100" dirty="0">
                <a:solidFill>
                  <a:srgbClr val="34495E"/>
                </a:solidFill>
              </a:rPr>
              <a:t>Gene classification</a:t>
            </a:r>
            <a:endParaRPr lang="en-US" sz="1100" dirty="0"/>
          </a:p>
          <a:p>
            <a:pPr marL="0" indent="0">
              <a:lnSpc>
                <a:spcPts val="1600"/>
              </a:lnSpc>
              <a:buNone/>
            </a:pPr>
            <a:r>
              <a:rPr lang="en-US" sz="1100" dirty="0">
                <a:solidFill>
                  <a:srgbClr val="34495E"/>
                </a:solidFill>
              </a:rPr>
              <a:t>Literature counts</a:t>
            </a:r>
            <a:endParaRPr lang="en-US" sz="1100" dirty="0"/>
          </a:p>
          <a:p>
            <a:pPr marL="0" indent="0">
              <a:lnSpc>
                <a:spcPts val="1600"/>
              </a:lnSpc>
              <a:buNone/>
            </a:pPr>
            <a:r>
              <a:rPr lang="en-US" sz="1100" dirty="0">
                <a:solidFill>
                  <a:srgbClr val="34495E"/>
                </a:solidFill>
              </a:rPr>
              <a:t>Role validation</a:t>
            </a:r>
            <a:endParaRPr lang="en-US" sz="1100" dirty="0"/>
          </a:p>
          <a:p>
            <a:pPr marL="0" indent="0">
              <a:lnSpc>
                <a:spcPts val="1600"/>
              </a:lnSpc>
              <a:buNone/>
            </a:pPr>
            <a:r>
              <a:rPr lang="en-US" sz="1100" dirty="0">
                <a:solidFill>
                  <a:srgbClr val="34495E"/>
                </a:solidFill>
              </a:rPr>
              <a:t>Trend analysis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0710" y="105156"/>
            <a:ext cx="7863840" cy="365760"/>
          </a:xfrm>
          <a:prstGeom prst="rect">
            <a:avLst/>
          </a:prstGeom>
          <a:noFill/>
          <a:ln/>
        </p:spPr>
        <p:txBody>
          <a:bodyPr wrap="square" rtlCol="0" anchor="ctr"/>
          <a:lstStyle/>
          <a:p>
            <a:pPr marL="0" indent="0">
              <a:buNone/>
            </a:pPr>
            <a:r>
              <a:rPr lang="en-US" sz="2400" b="1" dirty="0">
                <a:solidFill>
                  <a:srgbClr val="2C3E50"/>
                </a:solidFill>
              </a:rPr>
              <a:t>9. CancerMine - Structure</a:t>
            </a:r>
            <a:endParaRPr lang="en-US" sz="2400" dirty="0"/>
          </a:p>
        </p:txBody>
      </p:sp>
      <p:sp>
        <p:nvSpPr>
          <p:cNvPr id="4" name="Text 2"/>
          <p:cNvSpPr/>
          <p:nvPr/>
        </p:nvSpPr>
        <p:spPr>
          <a:xfrm>
            <a:off x="640080" y="562356"/>
            <a:ext cx="3657600" cy="256032"/>
          </a:xfrm>
          <a:prstGeom prst="rect">
            <a:avLst/>
          </a:prstGeom>
          <a:noFill/>
          <a:ln/>
        </p:spPr>
        <p:txBody>
          <a:bodyPr wrap="square" rtlCol="0" anchor="ctr"/>
          <a:lstStyle/>
          <a:p>
            <a:pPr marL="0" indent="0">
              <a:buNone/>
            </a:pPr>
            <a:r>
              <a:rPr lang="en-US" sz="1000" b="1" dirty="0">
                <a:solidFill>
                  <a:srgbClr val="27AE60"/>
                </a:solidFill>
              </a:rPr>
              <a:t>Nodes:</a:t>
            </a:r>
            <a:endParaRPr lang="en-US" sz="1000" dirty="0"/>
          </a:p>
        </p:txBody>
      </p:sp>
      <p:sp>
        <p:nvSpPr>
          <p:cNvPr id="5" name="Text 3"/>
          <p:cNvSpPr/>
          <p:nvPr/>
        </p:nvSpPr>
        <p:spPr>
          <a:xfrm>
            <a:off x="640081" y="950976"/>
            <a:ext cx="3474720" cy="1097280"/>
          </a:xfrm>
          <a:prstGeom prst="rect">
            <a:avLst/>
          </a:prstGeom>
          <a:noFill/>
          <a:ln/>
        </p:spPr>
        <p:txBody>
          <a:bodyPr wrap="square" rtlCol="0" anchor="ctr"/>
          <a:lstStyle/>
          <a:p>
            <a:pPr marL="0" indent="0">
              <a:lnSpc>
                <a:spcPts val="1700"/>
              </a:lnSpc>
              <a:buNone/>
            </a:pPr>
            <a:endParaRPr lang="en-US" sz="1000" dirty="0"/>
          </a:p>
        </p:txBody>
      </p:sp>
      <p:sp>
        <p:nvSpPr>
          <p:cNvPr id="6" name="Text 4"/>
          <p:cNvSpPr/>
          <p:nvPr/>
        </p:nvSpPr>
        <p:spPr>
          <a:xfrm>
            <a:off x="4114801" y="588264"/>
            <a:ext cx="3657600" cy="256032"/>
          </a:xfrm>
          <a:prstGeom prst="rect">
            <a:avLst/>
          </a:prstGeom>
          <a:noFill/>
          <a:ln/>
        </p:spPr>
        <p:txBody>
          <a:bodyPr wrap="square" rtlCol="0" anchor="ctr"/>
          <a:lstStyle/>
          <a:p>
            <a:pPr marL="0" indent="0">
              <a:buNone/>
            </a:pPr>
            <a:r>
              <a:rPr lang="en-US" sz="1000" b="1" dirty="0">
                <a:solidFill>
                  <a:srgbClr val="5DADE2"/>
                </a:solidFill>
              </a:rPr>
              <a:t>Edges:</a:t>
            </a:r>
            <a:endParaRPr lang="en-US" sz="1000" dirty="0"/>
          </a:p>
        </p:txBody>
      </p:sp>
      <p:sp>
        <p:nvSpPr>
          <p:cNvPr id="9" name="Text 7"/>
          <p:cNvSpPr/>
          <p:nvPr/>
        </p:nvSpPr>
        <p:spPr>
          <a:xfrm>
            <a:off x="772160" y="4201668"/>
            <a:ext cx="7498080" cy="228600"/>
          </a:xfrm>
          <a:prstGeom prst="rect">
            <a:avLst/>
          </a:prstGeom>
          <a:noFill/>
          <a:ln/>
        </p:spPr>
        <p:txBody>
          <a:bodyPr wrap="square" rtlCol="0" anchor="ctr"/>
          <a:lstStyle/>
          <a:p>
            <a:pPr marL="0" indent="0">
              <a:buNone/>
            </a:pPr>
            <a:r>
              <a:rPr lang="en-US" sz="1000" b="1" dirty="0">
                <a:solidFill>
                  <a:srgbClr val="3498DB"/>
                </a:solidFill>
              </a:rPr>
              <a:t>Paper:</a:t>
            </a:r>
            <a:endParaRPr lang="en-US" sz="1000" dirty="0"/>
          </a:p>
        </p:txBody>
      </p:sp>
      <p:sp>
        <p:nvSpPr>
          <p:cNvPr id="10" name="Text 8"/>
          <p:cNvSpPr/>
          <p:nvPr/>
        </p:nvSpPr>
        <p:spPr>
          <a:xfrm>
            <a:off x="1235710" y="4155948"/>
            <a:ext cx="7498080" cy="320040"/>
          </a:xfrm>
          <a:prstGeom prst="rect">
            <a:avLst/>
          </a:prstGeom>
          <a:noFill/>
          <a:ln/>
        </p:spPr>
        <p:txBody>
          <a:bodyPr wrap="square" rtlCol="0" anchor="ctr"/>
          <a:lstStyle/>
          <a:p>
            <a:pPr marL="0" indent="0">
              <a:lnSpc>
                <a:spcPts val="1400"/>
              </a:lnSpc>
              <a:buNone/>
            </a:pPr>
            <a:r>
              <a:rPr lang="en-US" sz="1000" dirty="0">
                <a:solidFill>
                  <a:srgbClr val="34495E"/>
                </a:solidFill>
              </a:rPr>
              <a:t>Lever et al. (2019). 'CancerMine: a literature-mined resource for drivers, oncogenes and tumor suppressors in cancer.' Nature Methods.</a:t>
            </a:r>
            <a:endParaRPr lang="en-US" sz="1000" dirty="0"/>
          </a:p>
        </p:txBody>
      </p:sp>
      <p:sp>
        <p:nvSpPr>
          <p:cNvPr id="11" name="Text 9">
            <a:hlinkClick r:id="rId4"/>
          </p:cNvPr>
          <p:cNvSpPr/>
          <p:nvPr/>
        </p:nvSpPr>
        <p:spPr>
          <a:xfrm>
            <a:off x="1235710" y="4420616"/>
            <a:ext cx="7498080" cy="182880"/>
          </a:xfrm>
          <a:prstGeom prst="rect">
            <a:avLst/>
          </a:prstGeom>
          <a:noFill/>
          <a:ln/>
        </p:spPr>
        <p:txBody>
          <a:bodyPr wrap="square" rtlCol="0" anchor="ctr"/>
          <a:lstStyle/>
          <a:p>
            <a:pPr marL="0" indent="0">
              <a:buNone/>
            </a:pPr>
            <a:r>
              <a:rPr lang="en-US" sz="1000" u="sng" dirty="0">
                <a:solidFill>
                  <a:srgbClr val="3498DB"/>
                </a:solidFill>
                <a:hlinkClick r:id="rId4">
                  <a:extLst>
                    <a:ext uri="{A12FA001-AC4F-418D-AE19-62706E023703}">
                      <ahyp:hlinkClr xmlns:ahyp="http://schemas.microsoft.com/office/drawing/2018/hyperlinkcolor" val="tx"/>
                    </a:ext>
                  </a:extLst>
                </a:hlinkClick>
              </a:rPr>
              <a:t>https://doi.org/10.1038/s41592-019-0422-y</a:t>
            </a:r>
            <a:endParaRPr lang="en-US" sz="1000" dirty="0"/>
          </a:p>
        </p:txBody>
      </p:sp>
      <p:sp>
        <p:nvSpPr>
          <p:cNvPr id="14" name="TextBox 13">
            <a:extLst>
              <a:ext uri="{FF2B5EF4-FFF2-40B4-BE49-F238E27FC236}">
                <a16:creationId xmlns:a16="http://schemas.microsoft.com/office/drawing/2014/main" id="{8F860C53-F285-4251-95D5-9D775A791C70}"/>
              </a:ext>
            </a:extLst>
          </p:cNvPr>
          <p:cNvSpPr txBox="1"/>
          <p:nvPr/>
        </p:nvSpPr>
        <p:spPr>
          <a:xfrm>
            <a:off x="640080" y="783376"/>
            <a:ext cx="3049269" cy="3016210"/>
          </a:xfrm>
          <a:prstGeom prst="rect">
            <a:avLst/>
          </a:prstGeom>
          <a:noFill/>
        </p:spPr>
        <p:txBody>
          <a:bodyPr wrap="square" rtlCol="0">
            <a:spAutoFit/>
          </a:bodyPr>
          <a:lstStyle/>
          <a:p>
            <a:r>
              <a:rPr lang="en-IN" sz="1000" b="1" dirty="0"/>
              <a:t>Gene Entities</a:t>
            </a:r>
          </a:p>
          <a:p>
            <a:r>
              <a:rPr lang="en-IN" sz="1000" dirty="0"/>
              <a:t>Gene</a:t>
            </a:r>
          </a:p>
          <a:p>
            <a:r>
              <a:rPr lang="en-IN" sz="1000" dirty="0"/>
              <a:t>Oncogene</a:t>
            </a:r>
          </a:p>
          <a:p>
            <a:r>
              <a:rPr lang="en-IN" sz="1000" dirty="0" err="1"/>
              <a:t>Tumor</a:t>
            </a:r>
            <a:r>
              <a:rPr lang="en-IN" sz="1000" dirty="0"/>
              <a:t> Suppressor Gene</a:t>
            </a:r>
          </a:p>
          <a:p>
            <a:r>
              <a:rPr lang="en-IN" sz="1000" dirty="0"/>
              <a:t>Cancer Driver Gene</a:t>
            </a:r>
          </a:p>
          <a:p>
            <a:r>
              <a:rPr lang="en-IN" sz="1000" b="1" dirty="0"/>
              <a:t>Disease Entities</a:t>
            </a:r>
          </a:p>
          <a:p>
            <a:r>
              <a:rPr lang="en-IN" sz="1000" dirty="0"/>
              <a:t>Cancer</a:t>
            </a:r>
          </a:p>
          <a:p>
            <a:r>
              <a:rPr lang="en-IN" sz="1000" dirty="0"/>
              <a:t>Cancer Type</a:t>
            </a:r>
          </a:p>
          <a:p>
            <a:r>
              <a:rPr lang="en-IN" sz="1000" dirty="0" err="1"/>
              <a:t>Tumor</a:t>
            </a:r>
            <a:endParaRPr lang="en-IN" sz="1000" dirty="0"/>
          </a:p>
          <a:p>
            <a:r>
              <a:rPr lang="en-IN" sz="1000" b="1" dirty="0"/>
              <a:t>Evidence Entities</a:t>
            </a:r>
          </a:p>
          <a:p>
            <a:r>
              <a:rPr lang="en-IN" sz="1000" dirty="0"/>
              <a:t>Scientific Publication</a:t>
            </a:r>
          </a:p>
          <a:p>
            <a:r>
              <a:rPr lang="en-IN" sz="1000" dirty="0"/>
              <a:t>Sentence Evidence</a:t>
            </a:r>
          </a:p>
          <a:p>
            <a:r>
              <a:rPr lang="en-IN" sz="1000" dirty="0"/>
              <a:t>Literature Source</a:t>
            </a:r>
          </a:p>
          <a:p>
            <a:r>
              <a:rPr lang="en-IN" sz="1000" b="1" dirty="0"/>
              <a:t>Functional Entities</a:t>
            </a:r>
          </a:p>
          <a:p>
            <a:r>
              <a:rPr lang="en-IN" sz="1000" dirty="0"/>
              <a:t>Gene Role</a:t>
            </a:r>
          </a:p>
          <a:p>
            <a:r>
              <a:rPr lang="en-IN" sz="1000" dirty="0"/>
              <a:t>Mutation</a:t>
            </a:r>
          </a:p>
          <a:p>
            <a:r>
              <a:rPr lang="en-IN" sz="1000" dirty="0"/>
              <a:t>Molecular Mechanism</a:t>
            </a:r>
          </a:p>
          <a:p>
            <a:r>
              <a:rPr lang="en-IN" sz="1000" dirty="0"/>
              <a:t>These nodes capture the gene &amp; cancer relationships discovered from literature mining.</a:t>
            </a:r>
          </a:p>
        </p:txBody>
      </p:sp>
      <p:sp>
        <p:nvSpPr>
          <p:cNvPr id="15" name="TextBox 14">
            <a:extLst>
              <a:ext uri="{FF2B5EF4-FFF2-40B4-BE49-F238E27FC236}">
                <a16:creationId xmlns:a16="http://schemas.microsoft.com/office/drawing/2014/main" id="{E0E5E7A3-0A43-4F8A-B7D4-73B99813923A}"/>
              </a:ext>
            </a:extLst>
          </p:cNvPr>
          <p:cNvSpPr txBox="1"/>
          <p:nvPr/>
        </p:nvSpPr>
        <p:spPr>
          <a:xfrm>
            <a:off x="4114801" y="846836"/>
            <a:ext cx="4320413" cy="1323439"/>
          </a:xfrm>
          <a:prstGeom prst="rect">
            <a:avLst/>
          </a:prstGeom>
          <a:noFill/>
        </p:spPr>
        <p:txBody>
          <a:bodyPr wrap="none" rtlCol="0">
            <a:spAutoFit/>
          </a:bodyPr>
          <a:lstStyle/>
          <a:p>
            <a:pPr marL="285750" indent="-285750">
              <a:buFont typeface="Arial" panose="020B0604020202020204" pitchFamily="34" charset="0"/>
              <a:buChar char="•"/>
            </a:pPr>
            <a:r>
              <a:rPr lang="en-IN" sz="1000" dirty="0"/>
              <a:t>drives (</a:t>
            </a:r>
            <a:r>
              <a:rPr lang="en-US" sz="1000" dirty="0"/>
              <a:t>Gene acts as cancer driver</a:t>
            </a:r>
            <a:r>
              <a:rPr lang="en-IN" sz="1000" dirty="0"/>
              <a:t>)</a:t>
            </a:r>
          </a:p>
          <a:p>
            <a:pPr marL="285750" indent="-285750">
              <a:buFont typeface="Arial" panose="020B0604020202020204" pitchFamily="34" charset="0"/>
              <a:buChar char="•"/>
            </a:pPr>
            <a:r>
              <a:rPr lang="en-IN" sz="1000" dirty="0" err="1"/>
              <a:t>oncogene_in</a:t>
            </a:r>
            <a:r>
              <a:rPr lang="en-IN" sz="1000" dirty="0"/>
              <a:t> (Gene functions as oncogene)</a:t>
            </a:r>
          </a:p>
          <a:p>
            <a:pPr marL="285750" indent="-285750">
              <a:buFont typeface="Arial" panose="020B0604020202020204" pitchFamily="34" charset="0"/>
              <a:buChar char="•"/>
            </a:pPr>
            <a:r>
              <a:rPr lang="en-IN" sz="1000" dirty="0"/>
              <a:t>suppresses (</a:t>
            </a:r>
            <a:r>
              <a:rPr lang="en-US" sz="1000" dirty="0"/>
              <a:t>Gene acts as tumor suppressor</a:t>
            </a:r>
            <a:r>
              <a:rPr lang="en-IN" sz="1000" dirty="0"/>
              <a:t>)</a:t>
            </a:r>
          </a:p>
          <a:p>
            <a:pPr marL="285750" indent="-285750">
              <a:buFont typeface="Arial" panose="020B0604020202020204" pitchFamily="34" charset="0"/>
              <a:buChar char="•"/>
            </a:pPr>
            <a:r>
              <a:rPr lang="en-IN" sz="1000" dirty="0" err="1"/>
              <a:t>associated_with</a:t>
            </a:r>
            <a:r>
              <a:rPr lang="en-IN" sz="1000" dirty="0"/>
              <a:t> (Gene linked to cancer)</a:t>
            </a:r>
          </a:p>
          <a:p>
            <a:pPr marL="285750" indent="-285750">
              <a:buFont typeface="Arial" panose="020B0604020202020204" pitchFamily="34" charset="0"/>
              <a:buChar char="•"/>
            </a:pPr>
            <a:r>
              <a:rPr lang="en-IN" sz="1000" dirty="0" err="1"/>
              <a:t>mentioned_in</a:t>
            </a:r>
            <a:r>
              <a:rPr lang="en-IN" sz="1000" dirty="0"/>
              <a:t> (Relation supported by literature</a:t>
            </a:r>
            <a:r>
              <a:rPr lang="en-US" sz="1000" dirty="0"/>
              <a:t>)</a:t>
            </a:r>
          </a:p>
          <a:p>
            <a:pPr marL="285750" indent="-285750">
              <a:buFont typeface="Arial" panose="020B0604020202020204" pitchFamily="34" charset="0"/>
              <a:buChar char="•"/>
            </a:pPr>
            <a:r>
              <a:rPr lang="en-IN" sz="1000" dirty="0" err="1"/>
              <a:t>extracted_from</a:t>
            </a:r>
            <a:r>
              <a:rPr lang="en-IN" sz="1000" dirty="0"/>
              <a:t> (Evidence sentence from publication)</a:t>
            </a:r>
          </a:p>
          <a:p>
            <a:r>
              <a:rPr lang="en-US" sz="1000" dirty="0"/>
              <a:t>Each relationship is derived from text-mined statements in biomedical papers.</a:t>
            </a:r>
            <a:endParaRPr lang="en-IN" sz="1000" dirty="0"/>
          </a:p>
          <a:p>
            <a:endParaRPr lang="en-IN" sz="1000" dirty="0"/>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320040"/>
          </a:xfrm>
          <a:prstGeom prst="rect">
            <a:avLst/>
          </a:prstGeom>
          <a:noFill/>
          <a:ln/>
        </p:spPr>
        <p:txBody>
          <a:bodyPr wrap="square" rtlCol="0" anchor="ctr"/>
          <a:lstStyle/>
          <a:p>
            <a:pPr marL="0" indent="0">
              <a:buNone/>
            </a:pPr>
            <a:r>
              <a:rPr lang="en-US" sz="2200" b="1" dirty="0">
                <a:solidFill>
                  <a:srgbClr val="2C3E50"/>
                </a:solidFill>
              </a:rPr>
              <a:t>9. CancerMine - Visual Example</a:t>
            </a:r>
            <a:endParaRPr lang="en-US" sz="2200" dirty="0"/>
          </a:p>
        </p:txBody>
      </p:sp>
      <p:sp>
        <p:nvSpPr>
          <p:cNvPr id="18" name="TextBox 17">
            <a:extLst>
              <a:ext uri="{FF2B5EF4-FFF2-40B4-BE49-F238E27FC236}">
                <a16:creationId xmlns:a16="http://schemas.microsoft.com/office/drawing/2014/main" id="{851B29EB-BEB3-4608-B237-FAC1A3F82BB7}"/>
              </a:ext>
            </a:extLst>
          </p:cNvPr>
          <p:cNvSpPr txBox="1"/>
          <p:nvPr/>
        </p:nvSpPr>
        <p:spPr>
          <a:xfrm>
            <a:off x="552450" y="977900"/>
            <a:ext cx="3613150" cy="2862322"/>
          </a:xfrm>
          <a:prstGeom prst="rect">
            <a:avLst/>
          </a:prstGeom>
          <a:noFill/>
        </p:spPr>
        <p:txBody>
          <a:bodyPr wrap="square" rtlCol="0">
            <a:spAutoFit/>
          </a:bodyPr>
          <a:lstStyle/>
          <a:p>
            <a:r>
              <a:rPr lang="en-IN" sz="1000" dirty="0"/>
              <a:t>Gene</a:t>
            </a:r>
            <a:br>
              <a:rPr lang="en-IN" sz="1000" dirty="0"/>
            </a:br>
            <a:r>
              <a:rPr lang="en-IN" sz="1000" dirty="0"/>
              <a:t>→ </a:t>
            </a:r>
            <a:r>
              <a:rPr lang="en-IN" sz="1000" dirty="0" err="1"/>
              <a:t>has_role</a:t>
            </a:r>
            <a:r>
              <a:rPr lang="en-IN" sz="1000" dirty="0"/>
              <a:t> → Oncogene</a:t>
            </a:r>
          </a:p>
          <a:p>
            <a:r>
              <a:rPr lang="en-IN" sz="1000" dirty="0"/>
              <a:t>Gene</a:t>
            </a:r>
            <a:br>
              <a:rPr lang="en-IN" sz="1000" dirty="0"/>
            </a:br>
            <a:r>
              <a:rPr lang="en-IN" sz="1000" dirty="0"/>
              <a:t>→ </a:t>
            </a:r>
            <a:r>
              <a:rPr lang="en-IN" sz="1000" dirty="0" err="1"/>
              <a:t>has_role</a:t>
            </a:r>
            <a:r>
              <a:rPr lang="en-IN" sz="1000" dirty="0"/>
              <a:t> → </a:t>
            </a:r>
            <a:r>
              <a:rPr lang="en-IN" sz="1000" dirty="0" err="1"/>
              <a:t>Tumor_Suppressor</a:t>
            </a:r>
            <a:endParaRPr lang="en-IN" sz="1000" dirty="0"/>
          </a:p>
          <a:p>
            <a:r>
              <a:rPr lang="en-IN" sz="1000" dirty="0"/>
              <a:t>Gene</a:t>
            </a:r>
            <a:br>
              <a:rPr lang="en-IN" sz="1000" dirty="0"/>
            </a:br>
            <a:r>
              <a:rPr lang="en-IN" sz="1000" dirty="0"/>
              <a:t>→ drives → Cancer</a:t>
            </a:r>
          </a:p>
          <a:p>
            <a:r>
              <a:rPr lang="en-IN" sz="1000" dirty="0"/>
              <a:t>Gene</a:t>
            </a:r>
            <a:br>
              <a:rPr lang="en-IN" sz="1000" dirty="0"/>
            </a:br>
            <a:r>
              <a:rPr lang="en-IN" sz="1000" dirty="0"/>
              <a:t>→ </a:t>
            </a:r>
            <a:r>
              <a:rPr lang="en-IN" sz="1000" dirty="0" err="1"/>
              <a:t>associated_with</a:t>
            </a:r>
            <a:r>
              <a:rPr lang="en-IN" sz="1000" dirty="0"/>
              <a:t> → </a:t>
            </a:r>
            <a:r>
              <a:rPr lang="en-IN" sz="1000" dirty="0" err="1"/>
              <a:t>Cancer_Type</a:t>
            </a:r>
            <a:endParaRPr lang="en-IN" sz="1000" dirty="0"/>
          </a:p>
          <a:p>
            <a:r>
              <a:rPr lang="en-IN" sz="1000" dirty="0"/>
              <a:t>Gene</a:t>
            </a:r>
            <a:br>
              <a:rPr lang="en-IN" sz="1000" dirty="0"/>
            </a:br>
            <a:r>
              <a:rPr lang="en-IN" sz="1000" dirty="0"/>
              <a:t>→ </a:t>
            </a:r>
            <a:r>
              <a:rPr lang="en-IN" sz="1000" dirty="0" err="1"/>
              <a:t>mutated_in</a:t>
            </a:r>
            <a:r>
              <a:rPr lang="en-IN" sz="1000" dirty="0"/>
              <a:t> → </a:t>
            </a:r>
            <a:r>
              <a:rPr lang="en-IN" sz="1000" dirty="0" err="1"/>
              <a:t>Tumor</a:t>
            </a:r>
            <a:endParaRPr lang="en-IN" sz="1000" dirty="0"/>
          </a:p>
          <a:p>
            <a:r>
              <a:rPr lang="en-IN" sz="1000" dirty="0"/>
              <a:t>Gene</a:t>
            </a:r>
            <a:br>
              <a:rPr lang="en-IN" sz="1000" dirty="0"/>
            </a:br>
            <a:r>
              <a:rPr lang="en-IN" sz="1000" dirty="0"/>
              <a:t>→ </a:t>
            </a:r>
            <a:r>
              <a:rPr lang="en-IN" sz="1000" dirty="0" err="1"/>
              <a:t>mentioned_in</a:t>
            </a:r>
            <a:r>
              <a:rPr lang="en-IN" sz="1000" dirty="0"/>
              <a:t> → </a:t>
            </a:r>
            <a:r>
              <a:rPr lang="en-IN" sz="1000" dirty="0" err="1"/>
              <a:t>Scientific_Publication</a:t>
            </a:r>
            <a:endParaRPr lang="en-IN" sz="1000" dirty="0"/>
          </a:p>
          <a:p>
            <a:r>
              <a:rPr lang="en-IN" sz="1000" dirty="0" err="1"/>
              <a:t>Scientific_Publication</a:t>
            </a:r>
            <a:br>
              <a:rPr lang="en-IN" sz="1000" dirty="0"/>
            </a:br>
            <a:r>
              <a:rPr lang="en-IN" sz="1000" dirty="0"/>
              <a:t>→ contains → </a:t>
            </a:r>
            <a:r>
              <a:rPr lang="en-IN" sz="1000" dirty="0" err="1"/>
              <a:t>Evidence_Sentence</a:t>
            </a:r>
            <a:endParaRPr lang="en-IN" sz="1000" dirty="0"/>
          </a:p>
          <a:p>
            <a:r>
              <a:rPr lang="en-IN" sz="1000" dirty="0" err="1"/>
              <a:t>Evidence_Sentence</a:t>
            </a:r>
            <a:br>
              <a:rPr lang="en-IN" sz="1000" dirty="0"/>
            </a:br>
            <a:r>
              <a:rPr lang="en-IN" sz="1000" dirty="0"/>
              <a:t>→ </a:t>
            </a:r>
            <a:r>
              <a:rPr lang="en-IN" sz="1000" dirty="0" err="1"/>
              <a:t>extracted_as</a:t>
            </a:r>
            <a:r>
              <a:rPr lang="en-IN" sz="1000" dirty="0"/>
              <a:t> → </a:t>
            </a:r>
            <a:r>
              <a:rPr lang="en-IN" sz="1000" dirty="0" err="1"/>
              <a:t>Gene_Cancer_Relationship</a:t>
            </a:r>
            <a:endParaRPr lang="en-IN" sz="1000" dirty="0"/>
          </a:p>
          <a:p>
            <a:r>
              <a:rPr lang="en-IN" sz="1000" dirty="0" err="1"/>
              <a:t>Gene_Cancer_Relationship</a:t>
            </a:r>
            <a:br>
              <a:rPr lang="en-IN" sz="1000" dirty="0"/>
            </a:br>
            <a:r>
              <a:rPr lang="en-IN" sz="1000" dirty="0"/>
              <a:t>→ </a:t>
            </a:r>
            <a:r>
              <a:rPr lang="en-IN" sz="1000" dirty="0" err="1"/>
              <a:t>stored_in</a:t>
            </a:r>
            <a:r>
              <a:rPr lang="en-IN" sz="1000" dirty="0"/>
              <a:t> → </a:t>
            </a:r>
            <a:r>
              <a:rPr lang="en-IN" sz="1000" dirty="0" err="1"/>
              <a:t>CancerMine_Database</a:t>
            </a:r>
            <a:endParaRPr lang="en-IN" sz="1000" dirty="0"/>
          </a:p>
        </p:txBody>
      </p:sp>
      <p:sp>
        <p:nvSpPr>
          <p:cNvPr id="19" name="TextBox 18">
            <a:extLst>
              <a:ext uri="{FF2B5EF4-FFF2-40B4-BE49-F238E27FC236}">
                <a16:creationId xmlns:a16="http://schemas.microsoft.com/office/drawing/2014/main" id="{62EE65F6-659B-4550-8988-3661ECBD2125}"/>
              </a:ext>
            </a:extLst>
          </p:cNvPr>
          <p:cNvSpPr txBox="1"/>
          <p:nvPr/>
        </p:nvSpPr>
        <p:spPr>
          <a:xfrm>
            <a:off x="5315583" y="977900"/>
            <a:ext cx="3613150" cy="1938992"/>
          </a:xfrm>
          <a:prstGeom prst="rect">
            <a:avLst/>
          </a:prstGeom>
          <a:noFill/>
        </p:spPr>
        <p:txBody>
          <a:bodyPr wrap="square" rtlCol="0">
            <a:spAutoFit/>
          </a:bodyPr>
          <a:lstStyle/>
          <a:p>
            <a:r>
              <a:rPr lang="en-IN" sz="1000" dirty="0"/>
              <a:t>TP53</a:t>
            </a:r>
            <a:br>
              <a:rPr lang="en-IN" sz="1000" dirty="0"/>
            </a:br>
            <a:r>
              <a:rPr lang="en-IN" sz="1000" dirty="0"/>
              <a:t>→ </a:t>
            </a:r>
            <a:r>
              <a:rPr lang="en-IN" sz="1000" dirty="0" err="1"/>
              <a:t>has_role</a:t>
            </a:r>
            <a:r>
              <a:rPr lang="en-IN" sz="1000" dirty="0"/>
              <a:t> → </a:t>
            </a:r>
            <a:r>
              <a:rPr lang="en-IN" sz="1000" dirty="0" err="1"/>
              <a:t>Tumor_Suppressor</a:t>
            </a:r>
            <a:endParaRPr lang="en-IN" sz="1000" dirty="0"/>
          </a:p>
          <a:p>
            <a:r>
              <a:rPr lang="en-IN" sz="1000" dirty="0"/>
              <a:t>TP53</a:t>
            </a:r>
            <a:br>
              <a:rPr lang="en-IN" sz="1000" dirty="0"/>
            </a:br>
            <a:r>
              <a:rPr lang="en-IN" sz="1000" dirty="0"/>
              <a:t>→ </a:t>
            </a:r>
            <a:r>
              <a:rPr lang="en-IN" sz="1000" dirty="0" err="1"/>
              <a:t>associated_with</a:t>
            </a:r>
            <a:r>
              <a:rPr lang="en-IN" sz="1000" dirty="0"/>
              <a:t> → </a:t>
            </a:r>
            <a:r>
              <a:rPr lang="en-IN" sz="1000" dirty="0" err="1"/>
              <a:t>Lung_Cancer</a:t>
            </a:r>
            <a:endParaRPr lang="en-IN" sz="1000" dirty="0"/>
          </a:p>
          <a:p>
            <a:r>
              <a:rPr lang="en-IN" sz="1000" dirty="0"/>
              <a:t>TP53</a:t>
            </a:r>
            <a:br>
              <a:rPr lang="en-IN" sz="1000" dirty="0"/>
            </a:br>
            <a:r>
              <a:rPr lang="en-IN" sz="1000" dirty="0"/>
              <a:t>→ </a:t>
            </a:r>
            <a:r>
              <a:rPr lang="en-IN" sz="1000" dirty="0" err="1"/>
              <a:t>associated_with</a:t>
            </a:r>
            <a:r>
              <a:rPr lang="en-IN" sz="1000" dirty="0"/>
              <a:t> → </a:t>
            </a:r>
            <a:r>
              <a:rPr lang="en-IN" sz="1000" dirty="0" err="1"/>
              <a:t>Breast_Cancer</a:t>
            </a:r>
            <a:endParaRPr lang="en-IN" sz="1000" dirty="0"/>
          </a:p>
          <a:p>
            <a:r>
              <a:rPr lang="en-IN" sz="1000" dirty="0"/>
              <a:t>KRAS</a:t>
            </a:r>
            <a:br>
              <a:rPr lang="en-IN" sz="1000" dirty="0"/>
            </a:br>
            <a:r>
              <a:rPr lang="en-IN" sz="1000" dirty="0"/>
              <a:t>→ </a:t>
            </a:r>
            <a:r>
              <a:rPr lang="en-IN" sz="1000" dirty="0" err="1"/>
              <a:t>has_role</a:t>
            </a:r>
            <a:r>
              <a:rPr lang="en-IN" sz="1000" dirty="0"/>
              <a:t> → Oncogene</a:t>
            </a:r>
          </a:p>
          <a:p>
            <a:r>
              <a:rPr lang="en-IN" sz="1000" dirty="0"/>
              <a:t>KRAS</a:t>
            </a:r>
            <a:br>
              <a:rPr lang="en-IN" sz="1000" dirty="0"/>
            </a:br>
            <a:r>
              <a:rPr lang="en-IN" sz="1000" dirty="0"/>
              <a:t>→ </a:t>
            </a:r>
            <a:r>
              <a:rPr lang="en-IN" sz="1000" dirty="0" err="1"/>
              <a:t>associated_with</a:t>
            </a:r>
            <a:r>
              <a:rPr lang="en-IN" sz="1000" dirty="0"/>
              <a:t> → </a:t>
            </a:r>
            <a:r>
              <a:rPr lang="en-IN" sz="1000" dirty="0" err="1"/>
              <a:t>Pancreatic_Cancer</a:t>
            </a:r>
            <a:endParaRPr lang="en-IN" sz="1000" dirty="0"/>
          </a:p>
          <a:p>
            <a:r>
              <a:rPr lang="en-IN" sz="1000" dirty="0"/>
              <a:t>KRAS</a:t>
            </a:r>
            <a:br>
              <a:rPr lang="en-IN" sz="1000" dirty="0"/>
            </a:br>
            <a:r>
              <a:rPr lang="en-IN" sz="1000" dirty="0"/>
              <a:t>→ drives → </a:t>
            </a:r>
            <a:r>
              <a:rPr lang="en-IN" sz="1000" dirty="0" err="1"/>
              <a:t>Tumor_Development</a:t>
            </a:r>
            <a:endParaRPr lang="en-IN" sz="1000" dirty="0"/>
          </a:p>
        </p:txBody>
      </p:sp>
      <p:sp>
        <p:nvSpPr>
          <p:cNvPr id="20" name="TextBox 19">
            <a:extLst>
              <a:ext uri="{FF2B5EF4-FFF2-40B4-BE49-F238E27FC236}">
                <a16:creationId xmlns:a16="http://schemas.microsoft.com/office/drawing/2014/main" id="{CE30D3A2-2AFE-4FF8-BB19-1EE3BA65E044}"/>
              </a:ext>
            </a:extLst>
          </p:cNvPr>
          <p:cNvSpPr txBox="1"/>
          <p:nvPr/>
        </p:nvSpPr>
        <p:spPr>
          <a:xfrm>
            <a:off x="5315583" y="670123"/>
            <a:ext cx="1390648" cy="307777"/>
          </a:xfrm>
          <a:prstGeom prst="rect">
            <a:avLst/>
          </a:prstGeom>
          <a:noFill/>
        </p:spPr>
        <p:txBody>
          <a:bodyPr wrap="square" rtlCol="0">
            <a:spAutoFit/>
          </a:bodyPr>
          <a:lstStyle/>
          <a:p>
            <a:r>
              <a:rPr lang="en-US" sz="1400" u="sng" dirty="0"/>
              <a:t>Example</a:t>
            </a:r>
            <a:endParaRPr lang="en-IN" sz="1400" u="sng" dirty="0"/>
          </a:p>
        </p:txBody>
      </p:sp>
      <p:sp>
        <p:nvSpPr>
          <p:cNvPr id="21" name="TextBox 20">
            <a:extLst>
              <a:ext uri="{FF2B5EF4-FFF2-40B4-BE49-F238E27FC236}">
                <a16:creationId xmlns:a16="http://schemas.microsoft.com/office/drawing/2014/main" id="{5B3285F9-4441-46BA-AE53-0311A1008D09}"/>
              </a:ext>
            </a:extLst>
          </p:cNvPr>
          <p:cNvSpPr txBox="1"/>
          <p:nvPr/>
        </p:nvSpPr>
        <p:spPr>
          <a:xfrm>
            <a:off x="3149602" y="2332861"/>
            <a:ext cx="3467100" cy="2708434"/>
          </a:xfrm>
          <a:prstGeom prst="rect">
            <a:avLst/>
          </a:prstGeom>
          <a:noFill/>
        </p:spPr>
        <p:txBody>
          <a:bodyPr wrap="square" rtlCol="0">
            <a:spAutoFit/>
          </a:bodyPr>
          <a:lstStyle/>
          <a:p>
            <a:r>
              <a:rPr lang="en-IN" sz="1000" dirty="0"/>
              <a:t>       Gene</a:t>
            </a:r>
          </a:p>
          <a:p>
            <a:r>
              <a:rPr lang="en-IN" sz="1000" dirty="0"/>
              <a:t>            │</a:t>
            </a:r>
          </a:p>
          <a:p>
            <a:r>
              <a:rPr lang="en-IN" sz="1000" dirty="0"/>
              <a:t>            │ </a:t>
            </a:r>
            <a:r>
              <a:rPr lang="en-IN" sz="1000" dirty="0" err="1"/>
              <a:t>has_role</a:t>
            </a:r>
            <a:endParaRPr lang="en-IN" sz="1000" dirty="0"/>
          </a:p>
          <a:p>
            <a:r>
              <a:rPr lang="en-IN" sz="1000" dirty="0"/>
              <a:t>            ▼</a:t>
            </a:r>
          </a:p>
          <a:p>
            <a:r>
              <a:rPr lang="en-IN" sz="1000" dirty="0"/>
              <a:t>     </a:t>
            </a:r>
            <a:r>
              <a:rPr lang="en-IN" sz="1000" dirty="0" err="1"/>
              <a:t>Gene_Role</a:t>
            </a:r>
            <a:r>
              <a:rPr lang="en-IN" sz="1000" dirty="0"/>
              <a:t> (Oncogene / </a:t>
            </a:r>
            <a:r>
              <a:rPr lang="en-IN" sz="1000" dirty="0" err="1"/>
              <a:t>Tumor_Suppressor</a:t>
            </a:r>
            <a:r>
              <a:rPr lang="en-IN" sz="1000" dirty="0"/>
              <a:t>)</a:t>
            </a:r>
          </a:p>
          <a:p>
            <a:r>
              <a:rPr lang="en-IN" sz="1000" dirty="0"/>
              <a:t>            │</a:t>
            </a:r>
          </a:p>
          <a:p>
            <a:r>
              <a:rPr lang="en-IN" sz="1000" dirty="0"/>
              <a:t>            │ </a:t>
            </a:r>
            <a:r>
              <a:rPr lang="en-IN" sz="1000" dirty="0" err="1"/>
              <a:t>associated_with</a:t>
            </a:r>
            <a:endParaRPr lang="en-IN" sz="1000" dirty="0"/>
          </a:p>
          <a:p>
            <a:r>
              <a:rPr lang="en-IN" sz="1000" dirty="0"/>
              <a:t>            ▼</a:t>
            </a:r>
          </a:p>
          <a:p>
            <a:r>
              <a:rPr lang="en-IN" sz="1000" dirty="0"/>
              <a:t>          Cancer</a:t>
            </a:r>
          </a:p>
          <a:p>
            <a:r>
              <a:rPr lang="en-IN" sz="1000" dirty="0"/>
              <a:t>            │</a:t>
            </a:r>
          </a:p>
          <a:p>
            <a:r>
              <a:rPr lang="en-IN" sz="1000" dirty="0"/>
              <a:t>            │ </a:t>
            </a:r>
            <a:r>
              <a:rPr lang="en-IN" sz="1000" dirty="0" err="1"/>
              <a:t>mentioned_in</a:t>
            </a:r>
            <a:endParaRPr lang="en-IN" sz="1000" dirty="0"/>
          </a:p>
          <a:p>
            <a:r>
              <a:rPr lang="en-IN" sz="1000" dirty="0"/>
              <a:t>            ▼</a:t>
            </a:r>
          </a:p>
          <a:p>
            <a:r>
              <a:rPr lang="en-IN" sz="1000" dirty="0"/>
              <a:t>   </a:t>
            </a:r>
            <a:r>
              <a:rPr lang="en-IN" sz="1000" dirty="0" err="1"/>
              <a:t>Scientific_Publication</a:t>
            </a:r>
            <a:endParaRPr lang="en-IN" sz="1000" dirty="0"/>
          </a:p>
          <a:p>
            <a:r>
              <a:rPr lang="en-IN" sz="1000" dirty="0"/>
              <a:t>            │</a:t>
            </a:r>
          </a:p>
          <a:p>
            <a:r>
              <a:rPr lang="en-IN" sz="1000" dirty="0"/>
              <a:t>            │ contains</a:t>
            </a:r>
          </a:p>
          <a:p>
            <a:r>
              <a:rPr lang="en-IN" sz="1000" dirty="0"/>
              <a:t>            ▼</a:t>
            </a:r>
          </a:p>
          <a:p>
            <a:r>
              <a:rPr lang="en-IN" sz="1000" dirty="0"/>
              <a:t>      </a:t>
            </a:r>
            <a:r>
              <a:rPr lang="en-IN" sz="1000" dirty="0" err="1"/>
              <a:t>Evidence_Sentence</a:t>
            </a:r>
            <a:endParaRPr lang="en-IN"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6A085"/>
          </a:solidFill>
          <a:ln/>
        </p:spPr>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2600" b="1" dirty="0">
                <a:solidFill>
                  <a:srgbClr val="FFFFFF"/>
                </a:solidFill>
              </a:rPr>
              <a:t>10. Bio2RDF</a:t>
            </a:r>
            <a:endParaRPr lang="en-US" sz="2600" dirty="0"/>
          </a:p>
        </p:txBody>
      </p:sp>
      <p:sp>
        <p:nvSpPr>
          <p:cNvPr id="4" name="Text 2"/>
          <p:cNvSpPr/>
          <p:nvPr/>
        </p:nvSpPr>
        <p:spPr>
          <a:xfrm>
            <a:off x="457200" y="960120"/>
            <a:ext cx="8229600" cy="274320"/>
          </a:xfrm>
          <a:prstGeom prst="rect">
            <a:avLst/>
          </a:prstGeom>
          <a:noFill/>
          <a:ln/>
        </p:spPr>
        <p:txBody>
          <a:bodyPr wrap="square" rtlCol="0" anchor="ctr"/>
          <a:lstStyle/>
          <a:p>
            <a:pPr marL="0" indent="0">
              <a:buNone/>
            </a:pPr>
            <a:r>
              <a:rPr lang="en-US" sz="1400" i="1" dirty="0">
                <a:solidFill>
                  <a:srgbClr val="7B8894"/>
                </a:solidFill>
              </a:rPr>
              <a:t>Linked Biomedical Data</a:t>
            </a:r>
            <a:endParaRPr lang="en-US" sz="1400" dirty="0"/>
          </a:p>
        </p:txBody>
      </p:sp>
      <p:sp>
        <p:nvSpPr>
          <p:cNvPr id="5" name="Text 3"/>
          <p:cNvSpPr/>
          <p:nvPr/>
        </p:nvSpPr>
        <p:spPr>
          <a:xfrm>
            <a:off x="640080" y="1417320"/>
            <a:ext cx="7863840" cy="256032"/>
          </a:xfrm>
          <a:prstGeom prst="rect">
            <a:avLst/>
          </a:prstGeom>
          <a:noFill/>
          <a:ln/>
        </p:spPr>
        <p:txBody>
          <a:bodyPr wrap="square" rtlCol="0" anchor="ctr"/>
          <a:lstStyle/>
          <a:p>
            <a:pPr marL="0" indent="0">
              <a:buNone/>
            </a:pPr>
            <a:r>
              <a:rPr lang="en-US" sz="1300" b="1" dirty="0">
                <a:solidFill>
                  <a:srgbClr val="34495E"/>
                </a:solidFill>
              </a:rPr>
              <a:t>What is it?</a:t>
            </a:r>
            <a:endParaRPr lang="en-US" sz="1300" dirty="0"/>
          </a:p>
        </p:txBody>
      </p:sp>
      <p:sp>
        <p:nvSpPr>
          <p:cNvPr id="6" name="Text 4"/>
          <p:cNvSpPr/>
          <p:nvPr/>
        </p:nvSpPr>
        <p:spPr>
          <a:xfrm>
            <a:off x="640080" y="1719072"/>
            <a:ext cx="7863840" cy="594360"/>
          </a:xfrm>
          <a:prstGeom prst="rect">
            <a:avLst/>
          </a:prstGeom>
          <a:noFill/>
          <a:ln/>
        </p:spPr>
        <p:txBody>
          <a:bodyPr wrap="square" rtlCol="0" anchor="ctr"/>
          <a:lstStyle/>
          <a:p>
            <a:pPr>
              <a:lnSpc>
                <a:spcPts val="1800"/>
              </a:lnSpc>
            </a:pPr>
            <a:r>
              <a:rPr lang="en-US" sz="1200" dirty="0">
                <a:solidFill>
                  <a:srgbClr val="34495E"/>
                </a:solidFill>
              </a:rPr>
              <a:t>Bio2RDF is a project that converts many life-science databases into RDF linked data and interconnects them into a unified knowledge graph. The goal is to enable integration and querying of heterogeneous biomedical datasets using semantic web technologies such as RDF, URIs, and SPARQL</a:t>
            </a:r>
            <a:endParaRPr lang="en-US" sz="1200" dirty="0"/>
          </a:p>
        </p:txBody>
      </p:sp>
      <p:sp>
        <p:nvSpPr>
          <p:cNvPr id="7" name="Text 5"/>
          <p:cNvSpPr/>
          <p:nvPr/>
        </p:nvSpPr>
        <p:spPr>
          <a:xfrm>
            <a:off x="640080" y="2468880"/>
            <a:ext cx="7863840" cy="256032"/>
          </a:xfrm>
          <a:prstGeom prst="rect">
            <a:avLst/>
          </a:prstGeom>
          <a:noFill/>
          <a:ln/>
        </p:spPr>
        <p:txBody>
          <a:bodyPr wrap="square" rtlCol="0" anchor="ctr"/>
          <a:lstStyle/>
          <a:p>
            <a:pPr marL="0" indent="0">
              <a:buNone/>
            </a:pPr>
            <a:r>
              <a:rPr lang="en-US" sz="1300" b="1" dirty="0">
                <a:solidFill>
                  <a:srgbClr val="34495E"/>
                </a:solidFill>
              </a:rPr>
              <a:t>Why it matters:</a:t>
            </a:r>
            <a:endParaRPr lang="en-US" sz="1300" dirty="0"/>
          </a:p>
        </p:txBody>
      </p:sp>
      <p:sp>
        <p:nvSpPr>
          <p:cNvPr id="8" name="Text 6"/>
          <p:cNvSpPr/>
          <p:nvPr/>
        </p:nvSpPr>
        <p:spPr>
          <a:xfrm>
            <a:off x="640080" y="2770632"/>
            <a:ext cx="7863840" cy="411480"/>
          </a:xfrm>
          <a:prstGeom prst="rect">
            <a:avLst/>
          </a:prstGeom>
          <a:noFill/>
          <a:ln/>
        </p:spPr>
        <p:txBody>
          <a:bodyPr wrap="square" rtlCol="0" anchor="ctr"/>
          <a:lstStyle/>
          <a:p>
            <a:pPr marL="0" indent="0">
              <a:lnSpc>
                <a:spcPts val="1800"/>
              </a:lnSpc>
              <a:buNone/>
            </a:pPr>
            <a:r>
              <a:rPr lang="en-US" sz="1200" dirty="0">
                <a:solidFill>
                  <a:srgbClr val="34495E"/>
                </a:solidFill>
              </a:rPr>
              <a:t>Query multiple databases with one search. No manual integration needed.</a:t>
            </a:r>
            <a:endParaRPr lang="en-US" sz="1200" dirty="0"/>
          </a:p>
        </p:txBody>
      </p:sp>
      <p:sp>
        <p:nvSpPr>
          <p:cNvPr id="10" name="Text 8"/>
          <p:cNvSpPr/>
          <p:nvPr/>
        </p:nvSpPr>
        <p:spPr>
          <a:xfrm>
            <a:off x="640080" y="3227832"/>
            <a:ext cx="7498080" cy="228600"/>
          </a:xfrm>
          <a:prstGeom prst="rect">
            <a:avLst/>
          </a:prstGeom>
          <a:noFill/>
          <a:ln/>
        </p:spPr>
        <p:txBody>
          <a:bodyPr wrap="square" rtlCol="0" anchor="ctr"/>
          <a:lstStyle/>
          <a:p>
            <a:pPr marL="0" indent="0">
              <a:buNone/>
            </a:pPr>
            <a:r>
              <a:rPr lang="en-US" sz="1200" b="1" dirty="0">
                <a:solidFill>
                  <a:srgbClr val="16A085"/>
                </a:solidFill>
              </a:rPr>
              <a:t>Properties:</a:t>
            </a:r>
            <a:endParaRPr lang="en-US" sz="1200" dirty="0"/>
          </a:p>
        </p:txBody>
      </p:sp>
      <p:sp>
        <p:nvSpPr>
          <p:cNvPr id="11" name="Text 9"/>
          <p:cNvSpPr/>
          <p:nvPr/>
        </p:nvSpPr>
        <p:spPr>
          <a:xfrm>
            <a:off x="594360" y="3483864"/>
            <a:ext cx="7498080" cy="146304"/>
          </a:xfrm>
          <a:prstGeom prst="rect">
            <a:avLst/>
          </a:prstGeom>
          <a:noFill/>
          <a:ln/>
        </p:spPr>
        <p:txBody>
          <a:bodyPr wrap="square" rtlCol="0" anchor="ctr"/>
          <a:lstStyle/>
          <a:p>
            <a:pPr marL="0" indent="0">
              <a:buNone/>
            </a:pPr>
            <a:r>
              <a:rPr lang="en-US" sz="1100" dirty="0">
                <a:solidFill>
                  <a:srgbClr val="34495E"/>
                </a:solidFill>
              </a:rPr>
              <a:t>• 40+ databases linked</a:t>
            </a:r>
            <a:endParaRPr lang="en-US" sz="1100" dirty="0"/>
          </a:p>
        </p:txBody>
      </p:sp>
      <p:sp>
        <p:nvSpPr>
          <p:cNvPr id="12" name="Text 10"/>
          <p:cNvSpPr/>
          <p:nvPr/>
        </p:nvSpPr>
        <p:spPr>
          <a:xfrm>
            <a:off x="594360" y="3690620"/>
            <a:ext cx="7498080" cy="146304"/>
          </a:xfrm>
          <a:prstGeom prst="rect">
            <a:avLst/>
          </a:prstGeom>
          <a:noFill/>
          <a:ln/>
        </p:spPr>
        <p:txBody>
          <a:bodyPr wrap="square" rtlCol="0" anchor="ctr"/>
          <a:lstStyle/>
          <a:p>
            <a:pPr marL="0" indent="0">
              <a:buNone/>
            </a:pPr>
            <a:r>
              <a:rPr lang="en-US" sz="1100" dirty="0">
                <a:solidFill>
                  <a:srgbClr val="34495E"/>
                </a:solidFill>
              </a:rPr>
              <a:t>• RDF standard format</a:t>
            </a:r>
            <a:endParaRPr lang="en-US" sz="1100" dirty="0"/>
          </a:p>
        </p:txBody>
      </p:sp>
      <p:sp>
        <p:nvSpPr>
          <p:cNvPr id="13" name="Text 11"/>
          <p:cNvSpPr/>
          <p:nvPr/>
        </p:nvSpPr>
        <p:spPr>
          <a:xfrm>
            <a:off x="594360" y="3879088"/>
            <a:ext cx="7498080" cy="146304"/>
          </a:xfrm>
          <a:prstGeom prst="rect">
            <a:avLst/>
          </a:prstGeom>
          <a:noFill/>
          <a:ln/>
        </p:spPr>
        <p:txBody>
          <a:bodyPr wrap="square" rtlCol="0" anchor="ctr"/>
          <a:lstStyle/>
          <a:p>
            <a:pPr marL="0" indent="0">
              <a:buNone/>
            </a:pPr>
            <a:r>
              <a:rPr lang="en-US" sz="1100" dirty="0">
                <a:solidFill>
                  <a:srgbClr val="34495E"/>
                </a:solidFill>
              </a:rPr>
              <a:t>• SPARQL queryable</a:t>
            </a:r>
            <a:endParaRPr lang="en-US" sz="1100" dirty="0"/>
          </a:p>
        </p:txBody>
      </p:sp>
      <p:sp>
        <p:nvSpPr>
          <p:cNvPr id="15" name="Text 13"/>
          <p:cNvSpPr/>
          <p:nvPr/>
        </p:nvSpPr>
        <p:spPr>
          <a:xfrm>
            <a:off x="3599180" y="3279140"/>
            <a:ext cx="7863840" cy="228600"/>
          </a:xfrm>
          <a:prstGeom prst="rect">
            <a:avLst/>
          </a:prstGeom>
          <a:noFill/>
          <a:ln/>
        </p:spPr>
        <p:txBody>
          <a:bodyPr wrap="square" rtlCol="0" anchor="ctr"/>
          <a:lstStyle/>
          <a:p>
            <a:pPr marL="0" indent="0">
              <a:buNone/>
            </a:pPr>
            <a:r>
              <a:rPr lang="en-US" sz="1200" b="1" dirty="0">
                <a:solidFill>
                  <a:srgbClr val="E74C3C"/>
                </a:solidFill>
              </a:rPr>
              <a:t>How we'll use it:</a:t>
            </a:r>
            <a:endParaRPr lang="en-US" sz="1200" dirty="0"/>
          </a:p>
        </p:txBody>
      </p:sp>
      <p:sp>
        <p:nvSpPr>
          <p:cNvPr id="16" name="Text 14"/>
          <p:cNvSpPr/>
          <p:nvPr/>
        </p:nvSpPr>
        <p:spPr>
          <a:xfrm>
            <a:off x="3680460" y="3719068"/>
            <a:ext cx="3187268" cy="320040"/>
          </a:xfrm>
          <a:prstGeom prst="rect">
            <a:avLst/>
          </a:prstGeom>
          <a:noFill/>
          <a:ln/>
        </p:spPr>
        <p:txBody>
          <a:bodyPr wrap="square" rtlCol="0" anchor="ctr"/>
          <a:lstStyle/>
          <a:p>
            <a:pPr marL="0" indent="0">
              <a:lnSpc>
                <a:spcPts val="1600"/>
              </a:lnSpc>
              <a:buNone/>
            </a:pPr>
            <a:r>
              <a:rPr lang="en-US" sz="1100" dirty="0">
                <a:solidFill>
                  <a:srgbClr val="34495E"/>
                </a:solidFill>
              </a:rPr>
              <a:t>Cross-database queries</a:t>
            </a:r>
            <a:endParaRPr lang="en-US" sz="1100" dirty="0"/>
          </a:p>
          <a:p>
            <a:pPr marL="0" indent="0">
              <a:lnSpc>
                <a:spcPts val="1600"/>
              </a:lnSpc>
              <a:buNone/>
            </a:pPr>
            <a:r>
              <a:rPr lang="en-US" sz="1100" dirty="0">
                <a:solidFill>
                  <a:srgbClr val="34495E"/>
                </a:solidFill>
              </a:rPr>
              <a:t>ID mapping</a:t>
            </a:r>
            <a:endParaRPr lang="en-US" sz="1100" dirty="0"/>
          </a:p>
          <a:p>
            <a:pPr marL="0" indent="0">
              <a:lnSpc>
                <a:spcPts val="1600"/>
              </a:lnSpc>
              <a:buNone/>
            </a:pPr>
            <a:r>
              <a:rPr lang="en-US" sz="1100" dirty="0">
                <a:solidFill>
                  <a:srgbClr val="34495E"/>
                </a:solidFill>
              </a:rPr>
              <a:t>Federated SPARQL</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9280" y="18288"/>
            <a:ext cx="7863840" cy="365760"/>
          </a:xfrm>
          <a:prstGeom prst="rect">
            <a:avLst/>
          </a:prstGeom>
          <a:noFill/>
          <a:ln/>
        </p:spPr>
        <p:txBody>
          <a:bodyPr wrap="square" rtlCol="0" anchor="ctr"/>
          <a:lstStyle/>
          <a:p>
            <a:pPr marL="0" indent="0">
              <a:buNone/>
            </a:pPr>
            <a:r>
              <a:rPr lang="en-US" sz="2400" b="1" dirty="0">
                <a:solidFill>
                  <a:srgbClr val="2C3E50"/>
                </a:solidFill>
              </a:rPr>
              <a:t>10. Bio2RDF - Structure</a:t>
            </a:r>
            <a:endParaRPr lang="en-US" sz="2400" dirty="0"/>
          </a:p>
        </p:txBody>
      </p:sp>
      <p:sp>
        <p:nvSpPr>
          <p:cNvPr id="4" name="Text 2"/>
          <p:cNvSpPr/>
          <p:nvPr/>
        </p:nvSpPr>
        <p:spPr>
          <a:xfrm>
            <a:off x="631190" y="390906"/>
            <a:ext cx="3657600" cy="256032"/>
          </a:xfrm>
          <a:prstGeom prst="rect">
            <a:avLst/>
          </a:prstGeom>
          <a:noFill/>
          <a:ln/>
        </p:spPr>
        <p:txBody>
          <a:bodyPr wrap="square" rtlCol="0" anchor="ctr"/>
          <a:lstStyle/>
          <a:p>
            <a:pPr marL="0" indent="0">
              <a:buNone/>
            </a:pPr>
            <a:r>
              <a:rPr lang="en-US" sz="1300" b="1" dirty="0">
                <a:solidFill>
                  <a:srgbClr val="27AE60"/>
                </a:solidFill>
              </a:rPr>
              <a:t>Nodes:</a:t>
            </a:r>
            <a:endParaRPr lang="en-US" sz="1300" dirty="0"/>
          </a:p>
        </p:txBody>
      </p:sp>
      <p:sp>
        <p:nvSpPr>
          <p:cNvPr id="5" name="Text 3"/>
          <p:cNvSpPr/>
          <p:nvPr/>
        </p:nvSpPr>
        <p:spPr>
          <a:xfrm>
            <a:off x="631190" y="1975104"/>
            <a:ext cx="3474720" cy="1097280"/>
          </a:xfrm>
          <a:prstGeom prst="rect">
            <a:avLst/>
          </a:prstGeom>
          <a:noFill/>
          <a:ln/>
        </p:spPr>
        <p:txBody>
          <a:bodyPr wrap="square" rtlCol="0" anchor="ctr"/>
          <a:lstStyle/>
          <a:p>
            <a:r>
              <a:rPr lang="en-IN" sz="1000" b="1" dirty="0"/>
              <a:t>Biological Entities</a:t>
            </a:r>
          </a:p>
          <a:p>
            <a:r>
              <a:rPr lang="en-IN" sz="1000" dirty="0"/>
              <a:t>Gene</a:t>
            </a:r>
          </a:p>
          <a:p>
            <a:r>
              <a:rPr lang="en-IN" sz="1000" dirty="0"/>
              <a:t>Protein</a:t>
            </a:r>
          </a:p>
          <a:p>
            <a:r>
              <a:rPr lang="en-IN" sz="1000" dirty="0"/>
              <a:t>Pathway</a:t>
            </a:r>
          </a:p>
          <a:p>
            <a:r>
              <a:rPr lang="en-IN" sz="1000" dirty="0"/>
              <a:t>Disease</a:t>
            </a:r>
          </a:p>
          <a:p>
            <a:r>
              <a:rPr lang="en-IN" sz="1000" dirty="0"/>
              <a:t>Biological Process</a:t>
            </a:r>
          </a:p>
          <a:p>
            <a:r>
              <a:rPr lang="en-IN" sz="1000" b="1" dirty="0"/>
              <a:t>Chemical Entities</a:t>
            </a:r>
          </a:p>
          <a:p>
            <a:r>
              <a:rPr lang="en-IN" sz="1000" dirty="0"/>
              <a:t>Drug</a:t>
            </a:r>
          </a:p>
          <a:p>
            <a:r>
              <a:rPr lang="en-IN" sz="1000" dirty="0"/>
              <a:t>Chemical Compound</a:t>
            </a:r>
          </a:p>
          <a:p>
            <a:r>
              <a:rPr lang="en-IN" sz="1000" dirty="0"/>
              <a:t>Ligand</a:t>
            </a:r>
          </a:p>
          <a:p>
            <a:r>
              <a:rPr lang="en-IN" sz="1000" b="1" dirty="0"/>
              <a:t>Genomic Entities</a:t>
            </a:r>
          </a:p>
          <a:p>
            <a:r>
              <a:rPr lang="en-IN" sz="1000" dirty="0"/>
              <a:t>DNA Sequence</a:t>
            </a:r>
          </a:p>
          <a:p>
            <a:r>
              <a:rPr lang="en-IN" sz="1000" dirty="0"/>
              <a:t>Gene Variant</a:t>
            </a:r>
          </a:p>
          <a:p>
            <a:r>
              <a:rPr lang="en-IN" sz="1000" b="1" dirty="0"/>
              <a:t>Data Source Entities</a:t>
            </a:r>
          </a:p>
          <a:p>
            <a:r>
              <a:rPr lang="en-IN" sz="1000" dirty="0"/>
              <a:t>Database Resource</a:t>
            </a:r>
          </a:p>
          <a:p>
            <a:r>
              <a:rPr lang="en-IN" sz="1000" dirty="0"/>
              <a:t>Dataset</a:t>
            </a:r>
          </a:p>
          <a:p>
            <a:r>
              <a:rPr lang="en-IN" sz="1000" dirty="0"/>
              <a:t>Identifier</a:t>
            </a:r>
          </a:p>
          <a:p>
            <a:r>
              <a:rPr lang="en-IN" sz="1000" b="1" dirty="0"/>
              <a:t>Evidence Entities</a:t>
            </a:r>
          </a:p>
          <a:p>
            <a:r>
              <a:rPr lang="en-IN" sz="1000" dirty="0"/>
              <a:t>Scientific Publication</a:t>
            </a:r>
          </a:p>
          <a:p>
            <a:r>
              <a:rPr lang="en-IN" sz="1000" dirty="0"/>
              <a:t>Literature Reference</a:t>
            </a:r>
          </a:p>
          <a:p>
            <a:r>
              <a:rPr lang="en-IN" sz="1000" dirty="0"/>
              <a:t>These nodes originate from datasets like </a:t>
            </a:r>
            <a:r>
              <a:rPr lang="en-IN" sz="1000" b="1" dirty="0" err="1"/>
              <a:t>UniProt</a:t>
            </a:r>
            <a:r>
              <a:rPr lang="en-IN" sz="1000" b="1" dirty="0"/>
              <a:t>, </a:t>
            </a:r>
            <a:r>
              <a:rPr lang="en-IN" sz="1000" b="1" dirty="0" err="1"/>
              <a:t>DrugBank</a:t>
            </a:r>
            <a:r>
              <a:rPr lang="en-IN" sz="1000" b="1" dirty="0"/>
              <a:t>, KEGG, PubMed, and others</a:t>
            </a:r>
            <a:r>
              <a:rPr lang="en-IN" sz="1000" dirty="0"/>
              <a:t> integrated into the Bio2RDF network.</a:t>
            </a:r>
          </a:p>
          <a:p>
            <a:pPr>
              <a:lnSpc>
                <a:spcPts val="1700"/>
              </a:lnSpc>
            </a:pPr>
            <a:endParaRPr lang="en-US" sz="1000" dirty="0"/>
          </a:p>
        </p:txBody>
      </p:sp>
      <p:sp>
        <p:nvSpPr>
          <p:cNvPr id="6" name="Text 4"/>
          <p:cNvSpPr/>
          <p:nvPr/>
        </p:nvSpPr>
        <p:spPr>
          <a:xfrm>
            <a:off x="4192397" y="395238"/>
            <a:ext cx="3657600" cy="256032"/>
          </a:xfrm>
          <a:prstGeom prst="rect">
            <a:avLst/>
          </a:prstGeom>
          <a:noFill/>
          <a:ln/>
        </p:spPr>
        <p:txBody>
          <a:bodyPr wrap="square" rtlCol="0" anchor="ctr"/>
          <a:lstStyle/>
          <a:p>
            <a:pPr marL="0" indent="0">
              <a:buNone/>
            </a:pPr>
            <a:r>
              <a:rPr lang="en-US" sz="1300" b="1" dirty="0">
                <a:solidFill>
                  <a:srgbClr val="5DADE2"/>
                </a:solidFill>
              </a:rPr>
              <a:t>Edges:</a:t>
            </a:r>
            <a:endParaRPr lang="en-US" sz="1300" dirty="0"/>
          </a:p>
        </p:txBody>
      </p:sp>
      <p:sp>
        <p:nvSpPr>
          <p:cNvPr id="9" name="Text 7"/>
          <p:cNvSpPr/>
          <p:nvPr/>
        </p:nvSpPr>
        <p:spPr>
          <a:xfrm>
            <a:off x="276860" y="4423410"/>
            <a:ext cx="7498080" cy="228600"/>
          </a:xfrm>
          <a:prstGeom prst="rect">
            <a:avLst/>
          </a:prstGeom>
          <a:noFill/>
          <a:ln/>
        </p:spPr>
        <p:txBody>
          <a:bodyPr wrap="square" rtlCol="0" anchor="ctr"/>
          <a:lstStyle/>
          <a:p>
            <a:pPr marL="0" indent="0">
              <a:buNone/>
            </a:pPr>
            <a:r>
              <a:rPr lang="en-US" sz="1100" b="1" dirty="0">
                <a:solidFill>
                  <a:srgbClr val="3498DB"/>
                </a:solidFill>
              </a:rPr>
              <a:t>Paper:</a:t>
            </a:r>
            <a:endParaRPr lang="en-US" sz="1100" dirty="0"/>
          </a:p>
        </p:txBody>
      </p:sp>
      <p:sp>
        <p:nvSpPr>
          <p:cNvPr id="10" name="Text 8"/>
          <p:cNvSpPr/>
          <p:nvPr/>
        </p:nvSpPr>
        <p:spPr>
          <a:xfrm>
            <a:off x="727710" y="4361688"/>
            <a:ext cx="7498080" cy="320040"/>
          </a:xfrm>
          <a:prstGeom prst="rect">
            <a:avLst/>
          </a:prstGeom>
          <a:noFill/>
          <a:ln/>
        </p:spPr>
        <p:txBody>
          <a:bodyPr wrap="square" rtlCol="0" anchor="ctr"/>
          <a:lstStyle/>
          <a:p>
            <a:pPr marL="0" indent="0">
              <a:lnSpc>
                <a:spcPts val="1400"/>
              </a:lnSpc>
              <a:buNone/>
            </a:pPr>
            <a:r>
              <a:rPr lang="en-US" sz="1000" dirty="0">
                <a:solidFill>
                  <a:srgbClr val="34495E"/>
                </a:solidFill>
              </a:rPr>
              <a:t>Callahan et al. (2013). 'Bio2RDF Release 2: Improved Coverage, Interoperability and Provenance of Life Science Linked Data.' ESWC.</a:t>
            </a:r>
            <a:endParaRPr lang="en-US" sz="1000" dirty="0"/>
          </a:p>
        </p:txBody>
      </p:sp>
      <p:sp>
        <p:nvSpPr>
          <p:cNvPr id="11" name="Text 9">
            <a:hlinkClick r:id="rId3"/>
          </p:cNvPr>
          <p:cNvSpPr/>
          <p:nvPr/>
        </p:nvSpPr>
        <p:spPr>
          <a:xfrm>
            <a:off x="772160" y="4681728"/>
            <a:ext cx="7498080" cy="182880"/>
          </a:xfrm>
          <a:prstGeom prst="rect">
            <a:avLst/>
          </a:prstGeom>
          <a:noFill/>
          <a:ln/>
        </p:spPr>
        <p:txBody>
          <a:bodyPr wrap="square" rtlCol="0" anchor="ctr"/>
          <a:lstStyle/>
          <a:p>
            <a:pPr marL="0" indent="0">
              <a:buNone/>
            </a:pPr>
            <a:r>
              <a:rPr lang="en-US" sz="900" u="sng" dirty="0">
                <a:solidFill>
                  <a:srgbClr val="3498DB"/>
                </a:solidFill>
                <a:hlinkClick r:id="rId3">
                  <a:extLst>
                    <a:ext uri="{A12FA001-AC4F-418D-AE19-62706E023703}">
                      <ahyp:hlinkClr xmlns:ahyp="http://schemas.microsoft.com/office/drawing/2018/hyperlinkcolor" val="tx"/>
                    </a:ext>
                  </a:extLst>
                </a:hlinkClick>
              </a:rPr>
              <a:t>https://doi.org/10.1007/978-3-642-38288-8_14</a:t>
            </a:r>
            <a:endParaRPr lang="en-US" sz="900" dirty="0"/>
          </a:p>
        </p:txBody>
      </p:sp>
      <p:sp>
        <p:nvSpPr>
          <p:cNvPr id="13" name="Text 11">
            <a:hlinkClick r:id="rId4"/>
          </p:cNvPr>
          <p:cNvSpPr/>
          <p:nvPr/>
        </p:nvSpPr>
        <p:spPr>
          <a:xfrm>
            <a:off x="772160" y="4766310"/>
            <a:ext cx="7498080" cy="320040"/>
          </a:xfrm>
          <a:prstGeom prst="rect">
            <a:avLst/>
          </a:prstGeom>
          <a:noFill/>
          <a:ln/>
        </p:spPr>
        <p:txBody>
          <a:bodyPr wrap="square" rtlCol="0" anchor="ctr"/>
          <a:lstStyle/>
          <a:p>
            <a:pPr marL="0" indent="0">
              <a:buNone/>
            </a:pPr>
            <a:r>
              <a:rPr lang="en-US" sz="900" u="sng" dirty="0">
                <a:solidFill>
                  <a:srgbClr val="3498DB"/>
                </a:solidFill>
                <a:hlinkClick r:id="rId4">
                  <a:extLst>
                    <a:ext uri="{A12FA001-AC4F-418D-AE19-62706E023703}">
                      <ahyp:hlinkClr xmlns:ahyp="http://schemas.microsoft.com/office/drawing/2018/hyperlinkcolor" val="tx"/>
                    </a:ext>
                  </a:extLst>
                </a:hlinkClick>
              </a:rPr>
              <a:t>http://bio2rdf.org/ | https://github.com/bio2rdf/bio2rdf-scripts</a:t>
            </a:r>
            <a:endParaRPr lang="en-US" sz="900" dirty="0"/>
          </a:p>
        </p:txBody>
      </p:sp>
      <p:sp>
        <p:nvSpPr>
          <p:cNvPr id="14" name="TextBox 13">
            <a:extLst>
              <a:ext uri="{FF2B5EF4-FFF2-40B4-BE49-F238E27FC236}">
                <a16:creationId xmlns:a16="http://schemas.microsoft.com/office/drawing/2014/main" id="{F43ACB6F-4406-43CD-B195-3EB3D698D238}"/>
              </a:ext>
            </a:extLst>
          </p:cNvPr>
          <p:cNvSpPr txBox="1"/>
          <p:nvPr/>
        </p:nvSpPr>
        <p:spPr>
          <a:xfrm>
            <a:off x="4216875" y="646938"/>
            <a:ext cx="4410182" cy="1477328"/>
          </a:xfrm>
          <a:prstGeom prst="rect">
            <a:avLst/>
          </a:prstGeom>
          <a:noFill/>
        </p:spPr>
        <p:txBody>
          <a:bodyPr wrap="none" rtlCol="0">
            <a:spAutoFit/>
          </a:bodyPr>
          <a:lstStyle/>
          <a:p>
            <a:pPr marL="285750" indent="-285750">
              <a:buFont typeface="Arial" panose="020B0604020202020204" pitchFamily="34" charset="0"/>
              <a:buChar char="•"/>
            </a:pPr>
            <a:r>
              <a:rPr lang="en-IN" sz="1000" dirty="0" err="1"/>
              <a:t>interacts_with</a:t>
            </a:r>
            <a:r>
              <a:rPr lang="en-IN" sz="1000" dirty="0"/>
              <a:t> (Protein interacts with protein)</a:t>
            </a:r>
          </a:p>
          <a:p>
            <a:pPr marL="285750" indent="-285750">
              <a:buFont typeface="Arial" panose="020B0604020202020204" pitchFamily="34" charset="0"/>
              <a:buChar char="•"/>
            </a:pPr>
            <a:r>
              <a:rPr lang="en-IN" sz="1000" dirty="0" err="1"/>
              <a:t>participates_in</a:t>
            </a:r>
            <a:r>
              <a:rPr lang="en-IN" sz="1000" dirty="0"/>
              <a:t> (Gene participates in pathway)</a:t>
            </a:r>
          </a:p>
          <a:p>
            <a:pPr marL="285750" indent="-285750">
              <a:buFont typeface="Arial" panose="020B0604020202020204" pitchFamily="34" charset="0"/>
              <a:buChar char="•"/>
            </a:pPr>
            <a:r>
              <a:rPr lang="en-IN" sz="1000" dirty="0" err="1"/>
              <a:t>associated_with</a:t>
            </a:r>
            <a:r>
              <a:rPr lang="en-IN" sz="1000" dirty="0"/>
              <a:t> (Gene associated with disease)</a:t>
            </a:r>
          </a:p>
          <a:p>
            <a:pPr marL="285750" indent="-285750">
              <a:buFont typeface="Arial" panose="020B0604020202020204" pitchFamily="34" charset="0"/>
              <a:buChar char="•"/>
            </a:pPr>
            <a:r>
              <a:rPr lang="en-IN" sz="1000" dirty="0" err="1"/>
              <a:t>encoded_by</a:t>
            </a:r>
            <a:r>
              <a:rPr lang="en-IN" sz="1000" dirty="0"/>
              <a:t> (Protein encoded by gene)</a:t>
            </a:r>
          </a:p>
          <a:p>
            <a:pPr marL="285750" indent="-285750">
              <a:buFont typeface="Arial" panose="020B0604020202020204" pitchFamily="34" charset="0"/>
              <a:buChar char="•"/>
            </a:pPr>
            <a:r>
              <a:rPr lang="en-IN" sz="1000" dirty="0" err="1"/>
              <a:t>treated_by</a:t>
            </a:r>
            <a:r>
              <a:rPr lang="en-IN" sz="1000" dirty="0"/>
              <a:t> (Disease treated by drug</a:t>
            </a:r>
            <a:r>
              <a:rPr lang="en-US" sz="1000" dirty="0"/>
              <a:t>)</a:t>
            </a:r>
          </a:p>
          <a:p>
            <a:pPr marL="285750" indent="-285750">
              <a:buFont typeface="Arial" panose="020B0604020202020204" pitchFamily="34" charset="0"/>
              <a:buChar char="•"/>
            </a:pPr>
            <a:r>
              <a:rPr lang="en-IN" sz="1000" dirty="0" err="1"/>
              <a:t>referenced_in</a:t>
            </a:r>
            <a:r>
              <a:rPr lang="en-IN" sz="1000" dirty="0"/>
              <a:t> (Knowledge supported by publication)</a:t>
            </a:r>
          </a:p>
          <a:p>
            <a:pPr marL="285750" indent="-285750">
              <a:buFont typeface="Arial" panose="020B0604020202020204" pitchFamily="34" charset="0"/>
              <a:buChar char="•"/>
            </a:pPr>
            <a:r>
              <a:rPr lang="en-IN" sz="1000" dirty="0" err="1"/>
              <a:t>derived_from</a:t>
            </a:r>
            <a:r>
              <a:rPr lang="en-IN" sz="1000" dirty="0"/>
              <a:t> (Data derived from dataset)</a:t>
            </a:r>
          </a:p>
          <a:p>
            <a:r>
              <a:rPr lang="en-US" sz="1000" dirty="0"/>
              <a:t>In Bio2RDF, each relation is stored as an RDF </a:t>
            </a:r>
            <a:r>
              <a:rPr lang="en-US" sz="1000" dirty="0" err="1"/>
              <a:t>triple:Subject</a:t>
            </a:r>
            <a:r>
              <a:rPr lang="en-US" sz="1000" dirty="0"/>
              <a:t> → Predicate → Object</a:t>
            </a:r>
          </a:p>
          <a:p>
            <a:r>
              <a:rPr lang="en-US" sz="1000" dirty="0"/>
              <a:t>Ex. Drug → treats → Disease</a:t>
            </a:r>
            <a:endParaRPr lang="en-IN"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320040"/>
          </a:xfrm>
          <a:prstGeom prst="rect">
            <a:avLst/>
          </a:prstGeom>
          <a:noFill/>
          <a:ln/>
        </p:spPr>
        <p:txBody>
          <a:bodyPr wrap="square" rtlCol="0" anchor="ctr"/>
          <a:lstStyle/>
          <a:p>
            <a:pPr marL="0" indent="0">
              <a:buNone/>
            </a:pPr>
            <a:r>
              <a:rPr lang="en-US" sz="2200" b="1" dirty="0">
                <a:solidFill>
                  <a:srgbClr val="2C3E50"/>
                </a:solidFill>
              </a:rPr>
              <a:t>10. Bio2RDF - Visual Example</a:t>
            </a:r>
            <a:endParaRPr lang="en-US" sz="2200" dirty="0"/>
          </a:p>
        </p:txBody>
      </p:sp>
      <p:sp>
        <p:nvSpPr>
          <p:cNvPr id="28" name="TextBox 27">
            <a:extLst>
              <a:ext uri="{FF2B5EF4-FFF2-40B4-BE49-F238E27FC236}">
                <a16:creationId xmlns:a16="http://schemas.microsoft.com/office/drawing/2014/main" id="{00701F86-D540-4C1F-8250-93896ABA7B66}"/>
              </a:ext>
            </a:extLst>
          </p:cNvPr>
          <p:cNvSpPr txBox="1"/>
          <p:nvPr/>
        </p:nvSpPr>
        <p:spPr>
          <a:xfrm>
            <a:off x="552450" y="977900"/>
            <a:ext cx="3613150" cy="2862322"/>
          </a:xfrm>
          <a:prstGeom prst="rect">
            <a:avLst/>
          </a:prstGeom>
          <a:noFill/>
        </p:spPr>
        <p:txBody>
          <a:bodyPr wrap="square" rtlCol="0">
            <a:spAutoFit/>
          </a:bodyPr>
          <a:lstStyle/>
          <a:p>
            <a:r>
              <a:rPr lang="en-IN" sz="1000" dirty="0"/>
              <a:t>Gene</a:t>
            </a:r>
            <a:br>
              <a:rPr lang="en-IN" sz="1000" dirty="0"/>
            </a:br>
            <a:r>
              <a:rPr lang="en-IN" sz="1000" dirty="0"/>
              <a:t>→ encodes → Protein</a:t>
            </a:r>
          </a:p>
          <a:p>
            <a:r>
              <a:rPr lang="en-IN" sz="1000" dirty="0"/>
              <a:t>Protein</a:t>
            </a:r>
            <a:br>
              <a:rPr lang="en-IN" sz="1000" dirty="0"/>
            </a:br>
            <a:r>
              <a:rPr lang="en-IN" sz="1000" dirty="0"/>
              <a:t>→ </a:t>
            </a:r>
            <a:r>
              <a:rPr lang="en-IN" sz="1000" dirty="0" err="1"/>
              <a:t>participates_in</a:t>
            </a:r>
            <a:r>
              <a:rPr lang="en-IN" sz="1000" dirty="0"/>
              <a:t> → </a:t>
            </a:r>
            <a:r>
              <a:rPr lang="en-IN" sz="1000" dirty="0" err="1"/>
              <a:t>Biological_Pathway</a:t>
            </a:r>
            <a:endParaRPr lang="en-IN" sz="1000" dirty="0"/>
          </a:p>
          <a:p>
            <a:r>
              <a:rPr lang="en-IN" sz="1000" dirty="0" err="1"/>
              <a:t>Biological_Pathway</a:t>
            </a:r>
            <a:br>
              <a:rPr lang="en-IN" sz="1000" dirty="0"/>
            </a:br>
            <a:r>
              <a:rPr lang="en-IN" sz="1000" dirty="0"/>
              <a:t>→ </a:t>
            </a:r>
            <a:r>
              <a:rPr lang="en-IN" sz="1000" dirty="0" err="1"/>
              <a:t>associated_with</a:t>
            </a:r>
            <a:r>
              <a:rPr lang="en-IN" sz="1000" dirty="0"/>
              <a:t> → Disease</a:t>
            </a:r>
          </a:p>
          <a:p>
            <a:r>
              <a:rPr lang="en-IN" sz="1000" dirty="0"/>
              <a:t>Disease</a:t>
            </a:r>
            <a:br>
              <a:rPr lang="en-IN" sz="1000" dirty="0"/>
            </a:br>
            <a:r>
              <a:rPr lang="en-IN" sz="1000" dirty="0"/>
              <a:t>→ </a:t>
            </a:r>
            <a:r>
              <a:rPr lang="en-IN" sz="1000" dirty="0" err="1"/>
              <a:t>treated_by</a:t>
            </a:r>
            <a:r>
              <a:rPr lang="en-IN" sz="1000" dirty="0"/>
              <a:t> → Drug</a:t>
            </a:r>
          </a:p>
          <a:p>
            <a:r>
              <a:rPr lang="en-IN" sz="1000" dirty="0"/>
              <a:t>Drug</a:t>
            </a:r>
            <a:br>
              <a:rPr lang="en-IN" sz="1000" dirty="0"/>
            </a:br>
            <a:r>
              <a:rPr lang="en-IN" sz="1000" dirty="0"/>
              <a:t>→ </a:t>
            </a:r>
            <a:r>
              <a:rPr lang="en-IN" sz="1000" dirty="0" err="1"/>
              <a:t>interacts_with</a:t>
            </a:r>
            <a:r>
              <a:rPr lang="en-IN" sz="1000" dirty="0"/>
              <a:t> → Protein</a:t>
            </a:r>
          </a:p>
          <a:p>
            <a:r>
              <a:rPr lang="en-IN" sz="1000" dirty="0"/>
              <a:t>Gene</a:t>
            </a:r>
            <a:br>
              <a:rPr lang="en-IN" sz="1000" dirty="0"/>
            </a:br>
            <a:r>
              <a:rPr lang="en-IN" sz="1000" dirty="0"/>
              <a:t>→ </a:t>
            </a:r>
            <a:r>
              <a:rPr lang="en-IN" sz="1000" dirty="0" err="1"/>
              <a:t>associated_with</a:t>
            </a:r>
            <a:r>
              <a:rPr lang="en-IN" sz="1000" dirty="0"/>
              <a:t> → Disease</a:t>
            </a:r>
          </a:p>
          <a:p>
            <a:r>
              <a:rPr lang="en-IN" sz="1000" dirty="0"/>
              <a:t>Protein</a:t>
            </a:r>
            <a:br>
              <a:rPr lang="en-IN" sz="1000" dirty="0"/>
            </a:br>
            <a:r>
              <a:rPr lang="en-IN" sz="1000" dirty="0"/>
              <a:t>→ </a:t>
            </a:r>
            <a:r>
              <a:rPr lang="en-IN" sz="1000" dirty="0" err="1"/>
              <a:t>referenced_in</a:t>
            </a:r>
            <a:r>
              <a:rPr lang="en-IN" sz="1000" dirty="0"/>
              <a:t> → </a:t>
            </a:r>
            <a:r>
              <a:rPr lang="en-IN" sz="1000" dirty="0" err="1"/>
              <a:t>Scientific_Publication</a:t>
            </a:r>
            <a:endParaRPr lang="en-IN" sz="1000" dirty="0"/>
          </a:p>
          <a:p>
            <a:r>
              <a:rPr lang="en-IN" sz="1000" dirty="0" err="1"/>
              <a:t>Scientific_Publication</a:t>
            </a:r>
            <a:br>
              <a:rPr lang="en-IN" sz="1000" dirty="0"/>
            </a:br>
            <a:r>
              <a:rPr lang="en-IN" sz="1000" dirty="0"/>
              <a:t>→ </a:t>
            </a:r>
            <a:r>
              <a:rPr lang="en-IN" sz="1000" dirty="0" err="1"/>
              <a:t>indexed_in</a:t>
            </a:r>
            <a:r>
              <a:rPr lang="en-IN" sz="1000" dirty="0"/>
              <a:t> → </a:t>
            </a:r>
            <a:r>
              <a:rPr lang="en-IN" sz="1000" dirty="0" err="1"/>
              <a:t>Biomedical_Database</a:t>
            </a:r>
            <a:endParaRPr lang="en-IN" sz="1000" dirty="0"/>
          </a:p>
          <a:p>
            <a:r>
              <a:rPr lang="en-IN" sz="1000" dirty="0" err="1"/>
              <a:t>Biomedical_Database</a:t>
            </a:r>
            <a:br>
              <a:rPr lang="en-IN" sz="1000" dirty="0"/>
            </a:br>
            <a:r>
              <a:rPr lang="en-IN" sz="1000" dirty="0"/>
              <a:t>→ </a:t>
            </a:r>
            <a:r>
              <a:rPr lang="en-IN" sz="1000" dirty="0" err="1"/>
              <a:t>integrated_into</a:t>
            </a:r>
            <a:r>
              <a:rPr lang="en-IN" sz="1000" dirty="0"/>
              <a:t> → Bio2RDF_Knowledge_Graph</a:t>
            </a:r>
          </a:p>
        </p:txBody>
      </p:sp>
      <p:sp>
        <p:nvSpPr>
          <p:cNvPr id="29" name="TextBox 28">
            <a:extLst>
              <a:ext uri="{FF2B5EF4-FFF2-40B4-BE49-F238E27FC236}">
                <a16:creationId xmlns:a16="http://schemas.microsoft.com/office/drawing/2014/main" id="{8EC29256-2625-4913-8CB5-E4D87083A582}"/>
              </a:ext>
            </a:extLst>
          </p:cNvPr>
          <p:cNvSpPr txBox="1"/>
          <p:nvPr/>
        </p:nvSpPr>
        <p:spPr>
          <a:xfrm>
            <a:off x="5315583" y="977900"/>
            <a:ext cx="3613150" cy="1938992"/>
          </a:xfrm>
          <a:prstGeom prst="rect">
            <a:avLst/>
          </a:prstGeom>
          <a:noFill/>
        </p:spPr>
        <p:txBody>
          <a:bodyPr wrap="square" rtlCol="0">
            <a:spAutoFit/>
          </a:bodyPr>
          <a:lstStyle/>
          <a:p>
            <a:r>
              <a:rPr lang="en-IN" sz="1000" dirty="0"/>
              <a:t>BRCA1</a:t>
            </a:r>
            <a:br>
              <a:rPr lang="en-IN" sz="1000" dirty="0"/>
            </a:br>
            <a:r>
              <a:rPr lang="en-IN" sz="1000" dirty="0"/>
              <a:t>→ encodes → BRCA1_Protein</a:t>
            </a:r>
          </a:p>
          <a:p>
            <a:r>
              <a:rPr lang="en-IN" sz="1000" dirty="0"/>
              <a:t>BRCA1_Protein</a:t>
            </a:r>
            <a:br>
              <a:rPr lang="en-IN" sz="1000" dirty="0"/>
            </a:br>
            <a:r>
              <a:rPr lang="en-IN" sz="1000" dirty="0"/>
              <a:t>→ </a:t>
            </a:r>
            <a:r>
              <a:rPr lang="en-IN" sz="1000" dirty="0" err="1"/>
              <a:t>participates_in</a:t>
            </a:r>
            <a:r>
              <a:rPr lang="en-IN" sz="1000" dirty="0"/>
              <a:t> → </a:t>
            </a:r>
            <a:r>
              <a:rPr lang="en-IN" sz="1000" dirty="0" err="1"/>
              <a:t>DNA_Repair_Pathway</a:t>
            </a:r>
            <a:endParaRPr lang="en-IN" sz="1000" dirty="0"/>
          </a:p>
          <a:p>
            <a:r>
              <a:rPr lang="en-IN" sz="1000" dirty="0" err="1"/>
              <a:t>DNA_Repair_Pathway</a:t>
            </a:r>
            <a:br>
              <a:rPr lang="en-IN" sz="1000" dirty="0"/>
            </a:br>
            <a:r>
              <a:rPr lang="en-IN" sz="1000" dirty="0"/>
              <a:t>→ </a:t>
            </a:r>
            <a:r>
              <a:rPr lang="en-IN" sz="1000" dirty="0" err="1"/>
              <a:t>associated_with</a:t>
            </a:r>
            <a:r>
              <a:rPr lang="en-IN" sz="1000" dirty="0"/>
              <a:t> → </a:t>
            </a:r>
            <a:r>
              <a:rPr lang="en-IN" sz="1000" dirty="0" err="1"/>
              <a:t>Breast_Cancer</a:t>
            </a:r>
            <a:endParaRPr lang="en-IN" sz="1000" dirty="0"/>
          </a:p>
          <a:p>
            <a:r>
              <a:rPr lang="en-IN" sz="1000" dirty="0" err="1"/>
              <a:t>Breast_Cancer</a:t>
            </a:r>
            <a:br>
              <a:rPr lang="en-IN" sz="1000" dirty="0"/>
            </a:br>
            <a:r>
              <a:rPr lang="en-IN" sz="1000" dirty="0"/>
              <a:t>→ </a:t>
            </a:r>
            <a:r>
              <a:rPr lang="en-IN" sz="1000" dirty="0" err="1"/>
              <a:t>treated_by</a:t>
            </a:r>
            <a:r>
              <a:rPr lang="en-IN" sz="1000" dirty="0"/>
              <a:t> → Tamoxifen</a:t>
            </a:r>
          </a:p>
          <a:p>
            <a:r>
              <a:rPr lang="en-IN" sz="1000" dirty="0"/>
              <a:t>Tamoxifen</a:t>
            </a:r>
            <a:br>
              <a:rPr lang="en-IN" sz="1000" dirty="0"/>
            </a:br>
            <a:r>
              <a:rPr lang="en-IN" sz="1000" dirty="0"/>
              <a:t>→ </a:t>
            </a:r>
            <a:r>
              <a:rPr lang="en-IN" sz="1000" dirty="0" err="1"/>
              <a:t>interacts_with</a:t>
            </a:r>
            <a:r>
              <a:rPr lang="en-IN" sz="1000" dirty="0"/>
              <a:t> → </a:t>
            </a:r>
            <a:r>
              <a:rPr lang="en-IN" sz="1000" dirty="0" err="1"/>
              <a:t>Estrogen_Receptor</a:t>
            </a:r>
            <a:endParaRPr lang="en-IN" sz="1000" dirty="0"/>
          </a:p>
          <a:p>
            <a:r>
              <a:rPr lang="en-IN" sz="1000" dirty="0"/>
              <a:t>BRCA1</a:t>
            </a:r>
            <a:br>
              <a:rPr lang="en-IN" sz="1000" dirty="0"/>
            </a:br>
            <a:r>
              <a:rPr lang="en-IN" sz="1000" dirty="0"/>
              <a:t>→ </a:t>
            </a:r>
            <a:r>
              <a:rPr lang="en-IN" sz="1000" dirty="0" err="1"/>
              <a:t>referenced_in</a:t>
            </a:r>
            <a:r>
              <a:rPr lang="en-IN" sz="1000" dirty="0"/>
              <a:t> → </a:t>
            </a:r>
            <a:r>
              <a:rPr lang="en-IN" sz="1000" dirty="0" err="1"/>
              <a:t>PubMed_Publication</a:t>
            </a:r>
            <a:endParaRPr lang="en-IN" sz="1000" dirty="0"/>
          </a:p>
        </p:txBody>
      </p:sp>
      <p:sp>
        <p:nvSpPr>
          <p:cNvPr id="30" name="TextBox 29">
            <a:extLst>
              <a:ext uri="{FF2B5EF4-FFF2-40B4-BE49-F238E27FC236}">
                <a16:creationId xmlns:a16="http://schemas.microsoft.com/office/drawing/2014/main" id="{1D7D6B2D-E5EB-49A6-9236-98F9BFED901C}"/>
              </a:ext>
            </a:extLst>
          </p:cNvPr>
          <p:cNvSpPr txBox="1"/>
          <p:nvPr/>
        </p:nvSpPr>
        <p:spPr>
          <a:xfrm>
            <a:off x="5315583" y="670123"/>
            <a:ext cx="1390648" cy="307777"/>
          </a:xfrm>
          <a:prstGeom prst="rect">
            <a:avLst/>
          </a:prstGeom>
          <a:noFill/>
        </p:spPr>
        <p:txBody>
          <a:bodyPr wrap="square" rtlCol="0">
            <a:spAutoFit/>
          </a:bodyPr>
          <a:lstStyle/>
          <a:p>
            <a:r>
              <a:rPr lang="en-US" sz="1400" u="sng" dirty="0"/>
              <a:t>Example</a:t>
            </a:r>
            <a:endParaRPr lang="en-IN" sz="1400" u="sng" dirty="0"/>
          </a:p>
        </p:txBody>
      </p:sp>
      <p:sp>
        <p:nvSpPr>
          <p:cNvPr id="31" name="TextBox 30">
            <a:extLst>
              <a:ext uri="{FF2B5EF4-FFF2-40B4-BE49-F238E27FC236}">
                <a16:creationId xmlns:a16="http://schemas.microsoft.com/office/drawing/2014/main" id="{0E3B9CBB-C6C3-43DC-8DE0-7EFE8FB1BE4A}"/>
              </a:ext>
            </a:extLst>
          </p:cNvPr>
          <p:cNvSpPr txBox="1"/>
          <p:nvPr/>
        </p:nvSpPr>
        <p:spPr>
          <a:xfrm>
            <a:off x="3537583" y="2332861"/>
            <a:ext cx="3467100" cy="2708434"/>
          </a:xfrm>
          <a:prstGeom prst="rect">
            <a:avLst/>
          </a:prstGeom>
          <a:noFill/>
        </p:spPr>
        <p:txBody>
          <a:bodyPr wrap="square" rtlCol="0">
            <a:spAutoFit/>
          </a:bodyPr>
          <a:lstStyle/>
          <a:p>
            <a:r>
              <a:rPr lang="en-IN" sz="1000" dirty="0"/>
              <a:t>  Gene</a:t>
            </a:r>
          </a:p>
          <a:p>
            <a:r>
              <a:rPr lang="en-IN" sz="1000" dirty="0"/>
              <a:t>         │</a:t>
            </a:r>
          </a:p>
          <a:p>
            <a:r>
              <a:rPr lang="en-IN" sz="1000" dirty="0"/>
              <a:t>         │ encodes</a:t>
            </a:r>
          </a:p>
          <a:p>
            <a:r>
              <a:rPr lang="en-IN" sz="1000" dirty="0"/>
              <a:t>         ▼</a:t>
            </a:r>
          </a:p>
          <a:p>
            <a:r>
              <a:rPr lang="en-IN" sz="1000" dirty="0"/>
              <a:t>       Protein</a:t>
            </a:r>
          </a:p>
          <a:p>
            <a:r>
              <a:rPr lang="en-IN" sz="1000" dirty="0"/>
              <a:t>         │</a:t>
            </a:r>
          </a:p>
          <a:p>
            <a:r>
              <a:rPr lang="en-IN" sz="1000" dirty="0"/>
              <a:t>         │ </a:t>
            </a:r>
            <a:r>
              <a:rPr lang="en-IN" sz="1000" dirty="0" err="1"/>
              <a:t>participates_in</a:t>
            </a:r>
            <a:endParaRPr lang="en-IN" sz="1000" dirty="0"/>
          </a:p>
          <a:p>
            <a:r>
              <a:rPr lang="en-IN" sz="1000" dirty="0"/>
              <a:t>         ▼</a:t>
            </a:r>
          </a:p>
          <a:p>
            <a:r>
              <a:rPr lang="en-IN" sz="1000" dirty="0"/>
              <a:t>   </a:t>
            </a:r>
            <a:r>
              <a:rPr lang="en-IN" sz="1000" dirty="0" err="1"/>
              <a:t>Biological_Pathway</a:t>
            </a:r>
            <a:endParaRPr lang="en-IN" sz="1000" dirty="0"/>
          </a:p>
          <a:p>
            <a:r>
              <a:rPr lang="en-IN" sz="1000" dirty="0"/>
              <a:t>         │</a:t>
            </a:r>
          </a:p>
          <a:p>
            <a:r>
              <a:rPr lang="en-IN" sz="1000" dirty="0"/>
              <a:t>         │ </a:t>
            </a:r>
            <a:r>
              <a:rPr lang="en-IN" sz="1000" dirty="0" err="1"/>
              <a:t>associated_with</a:t>
            </a:r>
            <a:endParaRPr lang="en-IN" sz="1000" dirty="0"/>
          </a:p>
          <a:p>
            <a:r>
              <a:rPr lang="en-IN" sz="1000" dirty="0"/>
              <a:t>         ▼</a:t>
            </a:r>
          </a:p>
          <a:p>
            <a:r>
              <a:rPr lang="en-IN" sz="1000" dirty="0"/>
              <a:t>       Disease</a:t>
            </a:r>
          </a:p>
          <a:p>
            <a:r>
              <a:rPr lang="en-IN" sz="1000" dirty="0"/>
              <a:t>         │</a:t>
            </a:r>
          </a:p>
          <a:p>
            <a:r>
              <a:rPr lang="en-IN" sz="1000" dirty="0"/>
              <a:t>         │ </a:t>
            </a:r>
            <a:r>
              <a:rPr lang="en-IN" sz="1000" dirty="0" err="1"/>
              <a:t>treated_by</a:t>
            </a:r>
            <a:endParaRPr lang="en-IN" sz="1000" dirty="0"/>
          </a:p>
          <a:p>
            <a:r>
              <a:rPr lang="en-IN" sz="1000" dirty="0"/>
              <a:t>         ▼</a:t>
            </a:r>
          </a:p>
          <a:p>
            <a:r>
              <a:rPr lang="en-IN" sz="1000" dirty="0"/>
              <a:t>        Drug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4599</TotalTime>
  <Words>4889</Words>
  <Application>Microsoft Office PowerPoint</Application>
  <PresentationFormat>On-screen Show (16:9)</PresentationFormat>
  <Paragraphs>813</Paragraphs>
  <Slides>31</Slides>
  <Notes>31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31</vt:i4>
      </vt:variant>
    </vt:vector>
  </HeadingPairs>
  <TitlesOfParts>
    <vt:vector size="3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Avik Pramanick</cp:lastModifiedBy>
  <cp:revision>31</cp:revision>
  <dcterms:created xsi:type="dcterms:W3CDTF">2026-02-26T01:59:24Z</dcterms:created>
  <dcterms:modified xsi:type="dcterms:W3CDTF">2026-03-05T14:25:21Z</dcterms:modified>
</cp:coreProperties>
</file>